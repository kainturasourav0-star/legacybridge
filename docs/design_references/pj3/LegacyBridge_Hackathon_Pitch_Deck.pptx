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LegacyBridge is about making legacy modernization understandable and controlled. We are not presenting another tool that simply rewrites code. The product first helps a team recover business rules and dependencies, then proposes a migration path, and finally checks whether important behavior has changed. The left-to-right visual shows that journey: a difficult-to-understand monolith, an intelligence layer, and proposed service boundaries that still require review. Everything on this slide is a product vision and proposed workflow, not a claim of customer traction or completed enterprise deployment. Next, we will look at why modernization becomes risky even for strong engineering teams.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Modernization is difficult because the problem is larger than old syntax or old frameworks. Teams need to understand what the system does, how its modules and data depend on one another, and which behaviors the business cannot afford to change. A service split can be technically neat but architecturally wrong if the boundaries ignore business ownership. Most importantly, a successful build does not prove that a pricing rule, an approval rule, or an inventory rule still behaves correctly. This is why our workflow starts with evidence and ends with validation. In the next slide, we will show the connected LegacyBridge capabilities designed around those four problems.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LegacyBridge combines four capabilities in one workspace. Legacy Intelligence helps recover candidate business rules with links back to source evidence. Dependency Intelligence shows how modules and data stores are connected. The Migration Engine turns that understanding into an editable plan and proposed scaffolds. Finally, the Business Logic Drift Detector checks whether the proposed implementation changes important decisions. The key is that these are connected stages, not unrelated AI features. Analysis informs the plan, the plan informs generated code, and generated code returns to validation. AI assists with explanation and reasoning, while deterministic parsers and executable tests are used wherever the environment supports them. Next, we will walk through that workflow from repository import to human review.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workflow has five stages. Discover is limited to repositories or files that the user is authorized to import. Understand builds the source and dependency evidence. Plan proposes service boundaries, data ownership, contracts, phases, and rollback considerations, but a developer can edit that plan. Migrate creates reviewable starter artifacts rather than promising a finished migration. Validate compares behavior and runs supported regression tests. There are two important approval checkpoints: before generation and before applying changes. A failed or unverified result should stop approval, not be hidden by a successful-looking interface. In the next slide, we will focus on the validation stage, because that is where LegacyBridge has its clearest differentiator.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example shows why the Business Logic Drift Detector matters. The original rule rejects an order when inventory is insufficient. The proposed service builds successfully, but the guard has disappeared, so the same input can produce a different business outcome. LegacyBridge links the two source locations when available, proposes a targeted regression test, and presents the evidence for review. A red confirmed failure should only be shown after a real test execution. In this deck, the result is explicitly simulated because the current repository does not contain an isolated execution engine. AI-inferred differences remain unverified until tested. Even a passing suite cannot prove complete equivalence. Next, we will show how the migration engine creates reviewable boundaries before this validation step.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migration engine starts with a hypothetical application containing customer, order, inventory, and payment modules. LegacyBridge can propose services with clearer business and data ownership, but these are only candidate boundaries. Shared database coupling, transaction patterns, and operational cost may make a modular monolith the safer intermediate step. The useful output is an editable sequence: which boundary to extract first, which contracts and data ownership to define, which starter artifacts to generate, and how to roll back. Human approval remains part of every consequential phase. The goal is not to maximize the number of services. It is to make architecture decisions explicit and reviewable. Next, we will see how TinyFish can ground those decisions in current external documentation.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TinyFish has a specific and limited role. According to its official documentation, the Research API searches and evaluates sources and synthesizes a cited report. LegacyBridge can use that capability to find official migration guides, documented breaking changes, and compatibility references. It does not mean TinyFish automatically converts our codebase or proves that a recommendation applies to the uploaded project. LegacyBridge remains responsible for source analysis, architecture proposals, and supported tests. The example on this slide is illustrative, not a live research result. Credentials must remain server-side, and confidential source or secrets must never be sent to the external research agent. Next, we will place all components into the proposed technical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proposed architecture, not a claim that every integration already exists. The experience layer presents analysis and review workflows. Application services handle validation, permissions, orchestration, and background jobs. The intelligence layer combines language-aware parsers, dependency analysis, AI providers, the drift detector, research, and test execution. Data and identity services keep projects private and evidence traceable. Delivery tools support CI/CD, deployment, monitoring, and testing. Untrusted code belongs in an isolated worker with controlled resources, not in an ordinary web-server request. Pinecone is optional for retrieval, and Stripe is irrelevant unless payments are introduced. The next slide turns these architectural safeguards into a realistic hackathon demonstration plan.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demonstration strategy is deliberately honest about project status. The current repository provides a responsive front-end prototype and Clerk-ready authentication. The dependency graph, migration plan, drift result, research card, and report export are simulated product states unless a real implementation is added. Real source parsing, service generation, isolated execution, and external integrations are not verified in this repository. During a live demo, we would walk through the sample monolith, introduce a deliberate business-rule change, and only claim an actual test failure if the test really ran in an isolated environment. Security and governance are part of the workflow, not a slide added afterward. The final slide summarizes the intended value and a phased path from this prototype to a working MVP.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LegacyBridge is intended for modernization teams, enterprise developers, consultants, and organizations maintaining older business-critical systems. The value is better understanding, more structured decisions, and earlier visibility into unintended behavior changes—not an unsupported promise of cost savings or accuracy. The roadmap starts with a working MVP for code ingestion, analysis, dependency visualization, and evidence-backed explanations. Migration generation and validation follow, then broader language and governance support. The current repository is still a UI prototype, so Phase 1 is the current focus rather than a completed claim. Our closing idea is simple: understand what exists, plan deliberately, and verify behavior before trusting the migration. LegacyBridge — Understand Legacy. Build What’s Next.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9090B"/>
        </a:solidFill>
        <a:effectLst/>
      </p:bgPr>
    </p:bg>
    <p:spTree>
      <p:nvGrpSpPr>
        <p:cNvPr id="1" name=""/>
        <p:cNvGrpSpPr/>
        <p:nvPr/>
      </p:nvGrpSpPr>
      <p:grpSpPr/>
      <p:cxnSp>
        <p:nvCxnSpPr>
          <p:cNvPr id="2" name="Connector 1"/>
          <p:cNvCxnSpPr/>
          <p:nvPr/>
        </p:nvCxnSpPr>
        <p:spPr>
          <a:xfrm>
            <a:off x="3044952" y="0"/>
            <a:ext cx="0" cy="6858000"/>
          </a:xfrm>
          <a:prstGeom prst="line">
            <a:avLst/>
          </a:prstGeom>
          <a:ln w="4445">
            <a:solidFill>
              <a:srgbClr val="111114"/>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6089904" y="0"/>
            <a:ext cx="0" cy="6858000"/>
          </a:xfrm>
          <a:prstGeom prst="line">
            <a:avLst/>
          </a:prstGeom>
          <a:ln w="4445">
            <a:solidFill>
              <a:srgbClr val="111114"/>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9134856" y="0"/>
            <a:ext cx="0" cy="6858000"/>
          </a:xfrm>
          <a:prstGeom prst="line">
            <a:avLst/>
          </a:prstGeom>
          <a:ln w="4445">
            <a:solidFill>
              <a:srgbClr val="111114"/>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502920" y="246888"/>
            <a:ext cx="228600" cy="228600"/>
          </a:xfrm>
          <a:prstGeom prst="roundRect">
            <a:avLst>
              <a:gd name="adj" fmla="val 8000"/>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46888"/>
            <a:ext cx="228600" cy="228600"/>
          </a:xfrm>
          <a:prstGeom prst="rect">
            <a:avLst/>
          </a:prstGeom>
          <a:noFill/>
        </p:spPr>
        <p:txBody>
          <a:bodyPr wrap="square" lIns="0" rIns="0" tIns="0" bIns="0" anchor="ctr">
            <a:spAutoFit/>
          </a:bodyPr>
          <a:lstStyle/>
          <a:p>
            <a:pPr algn="ctr">
              <a:lnSpc>
                <a:spcPct val="100000"/>
              </a:lnSpc>
              <a:defRPr sz="650" b="1">
                <a:solidFill>
                  <a:srgbClr val="09090B"/>
                </a:solidFill>
                <a:latin typeface="Inter"/>
              </a:defRPr>
            </a:pPr>
            <a:r>
              <a:t>LB</a:t>
            </a:r>
          </a:p>
        </p:txBody>
      </p:sp>
      <p:sp>
        <p:nvSpPr>
          <p:cNvPr id="7" name="TextBox 6"/>
          <p:cNvSpPr txBox="1"/>
          <p:nvPr/>
        </p:nvSpPr>
        <p:spPr>
          <a:xfrm>
            <a:off x="804672" y="269748"/>
            <a:ext cx="2011680" cy="201168"/>
          </a:xfrm>
          <a:prstGeom prst="rect">
            <a:avLst/>
          </a:prstGeom>
          <a:noFill/>
        </p:spPr>
        <p:txBody>
          <a:bodyPr wrap="square" lIns="0" rIns="0" tIns="0" bIns="0" anchor="t">
            <a:spAutoFit/>
          </a:bodyPr>
          <a:lstStyle/>
          <a:p>
            <a:pPr algn="l">
              <a:lnSpc>
                <a:spcPct val="100000"/>
              </a:lnSpc>
              <a:defRPr sz="850" b="1">
                <a:solidFill>
                  <a:srgbClr val="E4E4E7"/>
                </a:solidFill>
                <a:latin typeface="Inter"/>
              </a:defRPr>
            </a:pPr>
            <a:r>
              <a:t>LEGACYBRIDGE</a:t>
            </a:r>
          </a:p>
        </p:txBody>
      </p:sp>
      <p:sp>
        <p:nvSpPr>
          <p:cNvPr id="8" name="Rounded Rectangle 7"/>
          <p:cNvSpPr/>
          <p:nvPr/>
        </p:nvSpPr>
        <p:spPr>
          <a:xfrm>
            <a:off x="11045952" y="237744"/>
            <a:ext cx="640080" cy="256032"/>
          </a:xfrm>
          <a:prstGeom prst="roundRect">
            <a:avLst>
              <a:gd name="adj" fmla="val 8000"/>
            </a:avLst>
          </a:prstGeom>
          <a:solidFill>
            <a:srgbClr val="111114"/>
          </a:solidFill>
          <a:ln w="7620">
            <a:solidFill>
              <a:srgbClr val="2B2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82528" y="246888"/>
            <a:ext cx="566928" cy="237744"/>
          </a:xfrm>
          <a:prstGeom prst="rect">
            <a:avLst/>
          </a:prstGeom>
          <a:noFill/>
        </p:spPr>
        <p:txBody>
          <a:bodyPr wrap="square" lIns="0" rIns="0" tIns="0" bIns="0" anchor="ctr">
            <a:spAutoFit/>
          </a:bodyPr>
          <a:lstStyle/>
          <a:p>
            <a:pPr algn="ctr">
              <a:lnSpc>
                <a:spcPct val="100000"/>
              </a:lnSpc>
              <a:defRPr sz="700" b="1">
                <a:solidFill>
                  <a:srgbClr val="A1A1AA"/>
                </a:solidFill>
                <a:latin typeface="Inter"/>
              </a:defRPr>
            </a:pPr>
            <a:r>
              <a:t>01 / 10</a:t>
            </a:r>
          </a:p>
        </p:txBody>
      </p:sp>
      <p:sp>
        <p:nvSpPr>
          <p:cNvPr id="10" name="Rounded Rectangle 9"/>
          <p:cNvSpPr/>
          <p:nvPr/>
        </p:nvSpPr>
        <p:spPr>
          <a:xfrm>
            <a:off x="594360" y="914400"/>
            <a:ext cx="2606040" cy="274320"/>
          </a:xfrm>
          <a:prstGeom prst="roundRect">
            <a:avLst>
              <a:gd name="adj" fmla="val 8000"/>
            </a:avLst>
          </a:prstGeom>
          <a:solidFill>
            <a:srgbClr val="211B35"/>
          </a:solidFill>
          <a:ln w="7620">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 y="923544"/>
            <a:ext cx="2532888" cy="256031"/>
          </a:xfrm>
          <a:prstGeom prst="rect">
            <a:avLst/>
          </a:prstGeom>
          <a:noFill/>
        </p:spPr>
        <p:txBody>
          <a:bodyPr wrap="square" lIns="0" rIns="0" tIns="0" bIns="0" anchor="ctr">
            <a:spAutoFit/>
          </a:bodyPr>
          <a:lstStyle/>
          <a:p>
            <a:pPr algn="ctr">
              <a:lnSpc>
                <a:spcPct val="100000"/>
              </a:lnSpc>
              <a:defRPr sz="730" b="1">
                <a:solidFill>
                  <a:srgbClr val="A78BFA"/>
                </a:solidFill>
                <a:latin typeface="Inter"/>
              </a:defRPr>
            </a:pPr>
            <a:r>
              <a:t>AI-POWERED SOFTWARE MODERNIZATION</a:t>
            </a:r>
          </a:p>
        </p:txBody>
      </p:sp>
      <p:sp>
        <p:nvSpPr>
          <p:cNvPr id="12" name="TextBox 11"/>
          <p:cNvSpPr txBox="1"/>
          <p:nvPr/>
        </p:nvSpPr>
        <p:spPr>
          <a:xfrm>
            <a:off x="594360" y="1389888"/>
            <a:ext cx="5303520" cy="411480"/>
          </a:xfrm>
          <a:prstGeom prst="rect">
            <a:avLst/>
          </a:prstGeom>
          <a:noFill/>
        </p:spPr>
        <p:txBody>
          <a:bodyPr wrap="square" lIns="0" rIns="0" tIns="0" bIns="0" anchor="t">
            <a:spAutoFit/>
          </a:bodyPr>
          <a:lstStyle/>
          <a:p>
            <a:pPr algn="l">
              <a:lnSpc>
                <a:spcPct val="100000"/>
              </a:lnSpc>
              <a:defRPr sz="1600" b="1">
                <a:solidFill>
                  <a:srgbClr val="E4E4E7"/>
                </a:solidFill>
                <a:latin typeface="Inter"/>
              </a:defRPr>
            </a:pPr>
            <a:r>
              <a:t>LEGACYBRIDGE</a:t>
            </a:r>
          </a:p>
        </p:txBody>
      </p:sp>
      <p:sp>
        <p:nvSpPr>
          <p:cNvPr id="13" name="TextBox 12"/>
          <p:cNvSpPr txBox="1"/>
          <p:nvPr/>
        </p:nvSpPr>
        <p:spPr>
          <a:xfrm>
            <a:off x="594360" y="1828800"/>
            <a:ext cx="5852160" cy="1234440"/>
          </a:xfrm>
          <a:prstGeom prst="rect">
            <a:avLst/>
          </a:prstGeom>
          <a:noFill/>
        </p:spPr>
        <p:txBody>
          <a:bodyPr wrap="square" lIns="0" rIns="0" tIns="0" bIns="0" anchor="t">
            <a:spAutoFit/>
          </a:bodyPr>
          <a:lstStyle/>
          <a:p>
            <a:pPr algn="l">
              <a:lnSpc>
                <a:spcPct val="88000"/>
              </a:lnSpc>
              <a:defRPr sz="3800" b="1">
                <a:solidFill>
                  <a:srgbClr val="FAFAFA"/>
                </a:solidFill>
                <a:latin typeface="Inter"/>
              </a:defRPr>
            </a:pPr>
            <a:r>
              <a:t>Understand Legacy.</a:t>
            </a:r>
            <a:br/>
            <a:r>
              <a:t>Build What's Next.</a:t>
            </a:r>
          </a:p>
        </p:txBody>
      </p:sp>
      <p:sp>
        <p:nvSpPr>
          <p:cNvPr id="14" name="TextBox 13"/>
          <p:cNvSpPr txBox="1"/>
          <p:nvPr/>
        </p:nvSpPr>
        <p:spPr>
          <a:xfrm>
            <a:off x="594360" y="3172968"/>
            <a:ext cx="5029200" cy="658368"/>
          </a:xfrm>
          <a:prstGeom prst="rect">
            <a:avLst/>
          </a:prstGeom>
          <a:noFill/>
        </p:spPr>
        <p:txBody>
          <a:bodyPr wrap="square" lIns="0" rIns="0" tIns="0" bIns="0" anchor="t">
            <a:spAutoFit/>
          </a:bodyPr>
          <a:lstStyle/>
          <a:p>
            <a:pPr algn="l">
              <a:lnSpc>
                <a:spcPct val="108000"/>
              </a:lnSpc>
              <a:defRPr sz="1300" b="0">
                <a:solidFill>
                  <a:srgbClr val="A1A1AA"/>
                </a:solidFill>
                <a:latin typeface="Inter"/>
              </a:defRPr>
            </a:pPr>
            <a:r>
              <a:t>AI-powered legacy code intelligence, microservices migration planning, and business-logic validation.</a:t>
            </a:r>
          </a:p>
        </p:txBody>
      </p:sp>
      <p:sp>
        <p:nvSpPr>
          <p:cNvPr id="15" name="Rounded Rectangle 14"/>
          <p:cNvSpPr/>
          <p:nvPr/>
        </p:nvSpPr>
        <p:spPr>
          <a:xfrm>
            <a:off x="6629400" y="932688"/>
            <a:ext cx="4965192" cy="2697480"/>
          </a:xfrm>
          <a:prstGeom prst="roundRect">
            <a:avLst>
              <a:gd name="adj" fmla="val 8000"/>
            </a:avLst>
          </a:prstGeom>
          <a:solidFill>
            <a:srgbClr val="111114"/>
          </a:solidFill>
          <a:ln w="9525">
            <a:solidFill>
              <a:srgbClr val="2B2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6629400" y="1280160"/>
            <a:ext cx="4965192" cy="0"/>
          </a:xfrm>
          <a:prstGeom prst="line">
            <a:avLst/>
          </a:prstGeom>
          <a:ln w="7620">
            <a:solidFill>
              <a:srgbClr val="2B2B33"/>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6784848" y="1069848"/>
            <a:ext cx="64008" cy="64008"/>
          </a:xfrm>
          <a:prstGeom prst="ellipse">
            <a:avLst/>
          </a:prstGeom>
          <a:solidFill>
            <a:srgbClr val="FB71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931152" y="1069848"/>
            <a:ext cx="64008" cy="64008"/>
          </a:xfrm>
          <a:prstGeom prst="ellipse">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077456" y="1069848"/>
            <a:ext cx="64008" cy="64008"/>
          </a:xfrm>
          <a:prstGeom prst="ellipse">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51192" y="1033272"/>
            <a:ext cx="3136391" cy="164592"/>
          </a:xfrm>
          <a:prstGeom prst="rect">
            <a:avLst/>
          </a:prstGeom>
          <a:noFill/>
        </p:spPr>
        <p:txBody>
          <a:bodyPr wrap="square" lIns="0" rIns="0" tIns="0" bIns="0" anchor="t">
            <a:spAutoFit/>
          </a:bodyPr>
          <a:lstStyle/>
          <a:p>
            <a:pPr algn="l">
              <a:lnSpc>
                <a:spcPct val="100000"/>
              </a:lnSpc>
              <a:defRPr sz="720" b="0">
                <a:solidFill>
                  <a:srgbClr val="71717A"/>
                </a:solidFill>
                <a:latin typeface="Liberation Mono"/>
              </a:defRPr>
            </a:pPr>
            <a:r>
              <a:t>workspace / modernization-brief</a:t>
            </a:r>
          </a:p>
        </p:txBody>
      </p:sp>
      <p:sp>
        <p:nvSpPr>
          <p:cNvPr id="21" name="Rounded Rectangle 20"/>
          <p:cNvSpPr/>
          <p:nvPr/>
        </p:nvSpPr>
        <p:spPr>
          <a:xfrm>
            <a:off x="10268712" y="1001268"/>
            <a:ext cx="1143000" cy="210312"/>
          </a:xfrm>
          <a:prstGeom prst="roundRect">
            <a:avLst>
              <a:gd name="adj" fmla="val 8000"/>
            </a:avLst>
          </a:prstGeom>
          <a:solidFill>
            <a:srgbClr val="211B35"/>
          </a:solidFill>
          <a:ln w="7620">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305288" y="1010412"/>
            <a:ext cx="1069848" cy="192024"/>
          </a:xfrm>
          <a:prstGeom prst="rect">
            <a:avLst/>
          </a:prstGeom>
          <a:noFill/>
        </p:spPr>
        <p:txBody>
          <a:bodyPr wrap="square" lIns="0" rIns="0" tIns="0" bIns="0" anchor="ctr">
            <a:spAutoFit/>
          </a:bodyPr>
          <a:lstStyle/>
          <a:p>
            <a:pPr algn="ctr">
              <a:lnSpc>
                <a:spcPct val="100000"/>
              </a:lnSpc>
              <a:defRPr sz="620" b="1">
                <a:solidFill>
                  <a:srgbClr val="A78BFA"/>
                </a:solidFill>
                <a:latin typeface="Inter"/>
              </a:defRPr>
            </a:pPr>
            <a:r>
              <a:t>PROPOSED</a:t>
            </a:r>
          </a:p>
        </p:txBody>
      </p:sp>
      <p:sp>
        <p:nvSpPr>
          <p:cNvPr id="23" name="TextBox 22"/>
          <p:cNvSpPr txBox="1"/>
          <p:nvPr/>
        </p:nvSpPr>
        <p:spPr>
          <a:xfrm>
            <a:off x="6931152" y="1481328"/>
            <a:ext cx="2194560" cy="201168"/>
          </a:xfrm>
          <a:prstGeom prst="rect">
            <a:avLst/>
          </a:prstGeom>
          <a:noFill/>
        </p:spPr>
        <p:txBody>
          <a:bodyPr wrap="square" lIns="0" rIns="0" tIns="0" bIns="0" anchor="t">
            <a:spAutoFit/>
          </a:bodyPr>
          <a:lstStyle/>
          <a:p>
            <a:pPr algn="l">
              <a:lnSpc>
                <a:spcPct val="100000"/>
              </a:lnSpc>
              <a:defRPr sz="750" b="1">
                <a:solidFill>
                  <a:srgbClr val="A78BFA"/>
                </a:solidFill>
                <a:latin typeface="Inter"/>
              </a:defRPr>
            </a:pPr>
            <a:r>
              <a:t>TRANSFORMATION BRIEF</a:t>
            </a:r>
          </a:p>
        </p:txBody>
      </p:sp>
      <p:sp>
        <p:nvSpPr>
          <p:cNvPr id="24" name="TextBox 23"/>
          <p:cNvSpPr txBox="1"/>
          <p:nvPr/>
        </p:nvSpPr>
        <p:spPr>
          <a:xfrm>
            <a:off x="6931152" y="1783080"/>
            <a:ext cx="4023360" cy="1078992"/>
          </a:xfrm>
          <a:prstGeom prst="rect">
            <a:avLst/>
          </a:prstGeom>
          <a:noFill/>
        </p:spPr>
        <p:txBody>
          <a:bodyPr wrap="square" lIns="0" rIns="0" tIns="0" bIns="0" anchor="t">
            <a:spAutoFit/>
          </a:bodyPr>
          <a:lstStyle/>
          <a:p>
            <a:pPr algn="l">
              <a:lnSpc>
                <a:spcPct val="105000"/>
              </a:lnSpc>
              <a:defRPr sz="1900" b="1">
                <a:solidFill>
                  <a:srgbClr val="FAFAFA"/>
                </a:solidFill>
                <a:latin typeface="Inter"/>
              </a:defRPr>
            </a:pPr>
            <a:r>
              <a:t>Recover the rules.</a:t>
            </a:r>
            <a:br/>
            <a:r>
              <a:t>Map the dependencies.</a:t>
            </a:r>
            <a:br/>
            <a:r>
              <a:t>Validate the behavior.</a:t>
            </a:r>
          </a:p>
        </p:txBody>
      </p:sp>
      <p:sp>
        <p:nvSpPr>
          <p:cNvPr id="25" name="Rounded Rectangle 24"/>
          <p:cNvSpPr/>
          <p:nvPr/>
        </p:nvSpPr>
        <p:spPr>
          <a:xfrm>
            <a:off x="6931152" y="3063240"/>
            <a:ext cx="1115568" cy="256032"/>
          </a:xfrm>
          <a:prstGeom prst="roundRect">
            <a:avLst>
              <a:gd name="adj" fmla="val 8000"/>
            </a:avLst>
          </a:prstGeom>
          <a:solidFill>
            <a:srgbClr val="202024"/>
          </a:solidFill>
          <a:ln w="7620">
            <a:solidFill>
              <a:srgbClr val="3838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67728" y="3072384"/>
            <a:ext cx="1042415" cy="237744"/>
          </a:xfrm>
          <a:prstGeom prst="rect">
            <a:avLst/>
          </a:prstGeom>
          <a:noFill/>
        </p:spPr>
        <p:txBody>
          <a:bodyPr wrap="square" lIns="0" rIns="0" tIns="0" bIns="0" anchor="ctr">
            <a:spAutoFit/>
          </a:bodyPr>
          <a:lstStyle/>
          <a:p>
            <a:pPr algn="ctr">
              <a:lnSpc>
                <a:spcPct val="100000"/>
              </a:lnSpc>
              <a:defRPr sz="680" b="1">
                <a:solidFill>
                  <a:srgbClr val="A78BFA"/>
                </a:solidFill>
                <a:latin typeface="Inter"/>
              </a:defRPr>
            </a:pPr>
            <a:r>
              <a:t>DISCOVER</a:t>
            </a:r>
          </a:p>
        </p:txBody>
      </p:sp>
      <p:sp>
        <p:nvSpPr>
          <p:cNvPr id="27" name="Rounded Rectangle 26"/>
          <p:cNvSpPr/>
          <p:nvPr/>
        </p:nvSpPr>
        <p:spPr>
          <a:xfrm>
            <a:off x="8229600" y="3063240"/>
            <a:ext cx="1115568" cy="256032"/>
          </a:xfrm>
          <a:prstGeom prst="roundRect">
            <a:avLst>
              <a:gd name="adj" fmla="val 8000"/>
            </a:avLst>
          </a:prstGeom>
          <a:solidFill>
            <a:srgbClr val="202024"/>
          </a:solidFill>
          <a:ln w="7620">
            <a:solidFill>
              <a:srgbClr val="3838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66175" y="3072384"/>
            <a:ext cx="1042415" cy="237744"/>
          </a:xfrm>
          <a:prstGeom prst="rect">
            <a:avLst/>
          </a:prstGeom>
          <a:noFill/>
        </p:spPr>
        <p:txBody>
          <a:bodyPr wrap="square" lIns="0" rIns="0" tIns="0" bIns="0" anchor="ctr">
            <a:spAutoFit/>
          </a:bodyPr>
          <a:lstStyle/>
          <a:p>
            <a:pPr algn="ctr">
              <a:lnSpc>
                <a:spcPct val="100000"/>
              </a:lnSpc>
              <a:defRPr sz="680" b="1">
                <a:solidFill>
                  <a:srgbClr val="60A5FA"/>
                </a:solidFill>
                <a:latin typeface="Inter"/>
              </a:defRPr>
            </a:pPr>
            <a:r>
              <a:t>PLAN</a:t>
            </a:r>
          </a:p>
        </p:txBody>
      </p:sp>
      <p:sp>
        <p:nvSpPr>
          <p:cNvPr id="29" name="Rounded Rectangle 28"/>
          <p:cNvSpPr/>
          <p:nvPr/>
        </p:nvSpPr>
        <p:spPr>
          <a:xfrm>
            <a:off x="9528048" y="3063240"/>
            <a:ext cx="1115568" cy="256032"/>
          </a:xfrm>
          <a:prstGeom prst="roundRect">
            <a:avLst>
              <a:gd name="adj" fmla="val 8000"/>
            </a:avLst>
          </a:prstGeom>
          <a:solidFill>
            <a:srgbClr val="202024"/>
          </a:solidFill>
          <a:ln w="7620">
            <a:solidFill>
              <a:srgbClr val="3838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564624" y="3072384"/>
            <a:ext cx="1042415" cy="237744"/>
          </a:xfrm>
          <a:prstGeom prst="rect">
            <a:avLst/>
          </a:prstGeom>
          <a:noFill/>
        </p:spPr>
        <p:txBody>
          <a:bodyPr wrap="square" lIns="0" rIns="0" tIns="0" bIns="0" anchor="ctr">
            <a:spAutoFit/>
          </a:bodyPr>
          <a:lstStyle/>
          <a:p>
            <a:pPr algn="ctr">
              <a:lnSpc>
                <a:spcPct val="100000"/>
              </a:lnSpc>
              <a:defRPr sz="680" b="1">
                <a:solidFill>
                  <a:srgbClr val="34D399"/>
                </a:solidFill>
                <a:latin typeface="Inter"/>
              </a:defRPr>
            </a:pPr>
            <a:r>
              <a:t>VALIDATE</a:t>
            </a:r>
          </a:p>
        </p:txBody>
      </p:sp>
      <p:sp>
        <p:nvSpPr>
          <p:cNvPr id="31" name="TextBox 30"/>
          <p:cNvSpPr txBox="1"/>
          <p:nvPr/>
        </p:nvSpPr>
        <p:spPr>
          <a:xfrm>
            <a:off x="594360" y="3977639"/>
            <a:ext cx="3657600" cy="201168"/>
          </a:xfrm>
          <a:prstGeom prst="rect">
            <a:avLst/>
          </a:prstGeom>
          <a:noFill/>
        </p:spPr>
        <p:txBody>
          <a:bodyPr wrap="square" lIns="0" rIns="0" tIns="0" bIns="0" anchor="t">
            <a:spAutoFit/>
          </a:bodyPr>
          <a:lstStyle/>
          <a:p>
            <a:pPr algn="l">
              <a:lnSpc>
                <a:spcPct val="100000"/>
              </a:lnSpc>
              <a:defRPr sz="740" b="1">
                <a:solidFill>
                  <a:srgbClr val="71717A"/>
                </a:solidFill>
                <a:latin typeface="Inter"/>
              </a:defRPr>
            </a:pPr>
            <a:r>
              <a:t>A CONNECTED MODERNIZATION SYSTEM</a:t>
            </a:r>
          </a:p>
        </p:txBody>
      </p:sp>
      <p:sp>
        <p:nvSpPr>
          <p:cNvPr id="32" name="Rounded Rectangle 31"/>
          <p:cNvSpPr/>
          <p:nvPr/>
        </p:nvSpPr>
        <p:spPr>
          <a:xfrm>
            <a:off x="594360" y="4261104"/>
            <a:ext cx="3154680" cy="1508760"/>
          </a:xfrm>
          <a:prstGeom prst="roundRect">
            <a:avLst>
              <a:gd name="adj" fmla="val 8000"/>
            </a:avLst>
          </a:prstGeom>
          <a:solidFill>
            <a:srgbClr val="111114"/>
          </a:solidFill>
          <a:ln w="9525">
            <a:solidFill>
              <a:srgbClr val="2B2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3" name="Connector 32"/>
          <p:cNvCxnSpPr/>
          <p:nvPr/>
        </p:nvCxnSpPr>
        <p:spPr>
          <a:xfrm>
            <a:off x="594360" y="4608576"/>
            <a:ext cx="3154680" cy="0"/>
          </a:xfrm>
          <a:prstGeom prst="line">
            <a:avLst/>
          </a:prstGeom>
          <a:ln w="7620">
            <a:solidFill>
              <a:srgbClr val="2B2B33"/>
            </a:solidFill>
          </a:ln>
        </p:spPr>
        <p:style>
          <a:lnRef idx="2">
            <a:schemeClr val="accent1"/>
          </a:lnRef>
          <a:fillRef idx="0">
            <a:schemeClr val="accent1"/>
          </a:fillRef>
          <a:effectRef idx="1">
            <a:schemeClr val="accent1"/>
          </a:effectRef>
          <a:fontRef idx="minor">
            <a:schemeClr val="tx1"/>
          </a:fontRef>
        </p:style>
      </p:cxnSp>
      <p:sp>
        <p:nvSpPr>
          <p:cNvPr id="34" name="Oval 33"/>
          <p:cNvSpPr/>
          <p:nvPr/>
        </p:nvSpPr>
        <p:spPr>
          <a:xfrm>
            <a:off x="749808" y="4398264"/>
            <a:ext cx="64008" cy="64008"/>
          </a:xfrm>
          <a:prstGeom prst="ellipse">
            <a:avLst/>
          </a:prstGeom>
          <a:solidFill>
            <a:srgbClr val="FB71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896112" y="4398264"/>
            <a:ext cx="64008" cy="64008"/>
          </a:xfrm>
          <a:prstGeom prst="ellipse">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42416" y="4398264"/>
            <a:ext cx="64008" cy="64008"/>
          </a:xfrm>
          <a:prstGeom prst="ellipse">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216152" y="4361688"/>
            <a:ext cx="1325880" cy="164592"/>
          </a:xfrm>
          <a:prstGeom prst="rect">
            <a:avLst/>
          </a:prstGeom>
          <a:noFill/>
        </p:spPr>
        <p:txBody>
          <a:bodyPr wrap="square" lIns="0" rIns="0" tIns="0" bIns="0" anchor="t">
            <a:spAutoFit/>
          </a:bodyPr>
          <a:lstStyle/>
          <a:p>
            <a:pPr algn="l">
              <a:lnSpc>
                <a:spcPct val="100000"/>
              </a:lnSpc>
              <a:defRPr sz="720" b="0">
                <a:solidFill>
                  <a:srgbClr val="71717A"/>
                </a:solidFill>
                <a:latin typeface="Liberation Mono"/>
              </a:defRPr>
            </a:pPr>
            <a:r>
              <a:t>legacy / monolith</a:t>
            </a:r>
          </a:p>
        </p:txBody>
      </p:sp>
      <p:sp>
        <p:nvSpPr>
          <p:cNvPr id="38" name="Rounded Rectangle 37"/>
          <p:cNvSpPr/>
          <p:nvPr/>
        </p:nvSpPr>
        <p:spPr>
          <a:xfrm>
            <a:off x="2423160" y="4329684"/>
            <a:ext cx="1143000" cy="210312"/>
          </a:xfrm>
          <a:prstGeom prst="roundRect">
            <a:avLst>
              <a:gd name="adj" fmla="val 8000"/>
            </a:avLst>
          </a:prstGeom>
          <a:solidFill>
            <a:srgbClr val="211B35"/>
          </a:solidFill>
          <a:ln w="7620">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459736" y="4338828"/>
            <a:ext cx="1069848" cy="192024"/>
          </a:xfrm>
          <a:prstGeom prst="rect">
            <a:avLst/>
          </a:prstGeom>
          <a:noFill/>
        </p:spPr>
        <p:txBody>
          <a:bodyPr wrap="square" lIns="0" rIns="0" tIns="0" bIns="0" anchor="ctr">
            <a:spAutoFit/>
          </a:bodyPr>
          <a:lstStyle/>
          <a:p>
            <a:pPr algn="ctr">
              <a:lnSpc>
                <a:spcPct val="100000"/>
              </a:lnSpc>
              <a:defRPr sz="620" b="1">
                <a:solidFill>
                  <a:srgbClr val="A78BFA"/>
                </a:solidFill>
                <a:latin typeface="Inter"/>
              </a:defRPr>
            </a:pPr>
            <a:r>
              <a:t>INPUT</a:t>
            </a:r>
          </a:p>
        </p:txBody>
      </p:sp>
      <p:sp>
        <p:nvSpPr>
          <p:cNvPr id="40" name="Rounded Rectangle 39"/>
          <p:cNvSpPr/>
          <p:nvPr/>
        </p:nvSpPr>
        <p:spPr>
          <a:xfrm>
            <a:off x="822960" y="4828032"/>
            <a:ext cx="731520" cy="438912"/>
          </a:xfrm>
          <a:prstGeom prst="roundRect">
            <a:avLst>
              <a:gd name="adj" fmla="val 8000"/>
            </a:avLst>
          </a:prstGeom>
          <a:solidFill>
            <a:srgbClr val="202024"/>
          </a:solidFill>
          <a:ln w="9525">
            <a:solidFill>
              <a:srgbClr val="3838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22960" y="4828032"/>
            <a:ext cx="731520" cy="438912"/>
          </a:xfrm>
          <a:prstGeom prst="rect">
            <a:avLst/>
          </a:prstGeom>
          <a:noFill/>
        </p:spPr>
        <p:txBody>
          <a:bodyPr wrap="square" lIns="0" rIns="0" tIns="0" bIns="0" anchor="ctr">
            <a:spAutoFit/>
          </a:bodyPr>
          <a:lstStyle/>
          <a:p>
            <a:pPr algn="ctr">
              <a:lnSpc>
                <a:spcPct val="100000"/>
              </a:lnSpc>
              <a:defRPr sz="620" b="1">
                <a:solidFill>
                  <a:srgbClr val="A1A1AA"/>
                </a:solidFill>
                <a:latin typeface="Inter"/>
              </a:defRPr>
            </a:pPr>
            <a:r>
              <a:t>ORDERS</a:t>
            </a:r>
          </a:p>
        </p:txBody>
      </p:sp>
      <p:sp>
        <p:nvSpPr>
          <p:cNvPr id="42" name="Rounded Rectangle 41"/>
          <p:cNvSpPr/>
          <p:nvPr/>
        </p:nvSpPr>
        <p:spPr>
          <a:xfrm>
            <a:off x="1673352" y="4828032"/>
            <a:ext cx="731520" cy="438912"/>
          </a:xfrm>
          <a:prstGeom prst="roundRect">
            <a:avLst>
              <a:gd name="adj" fmla="val 8000"/>
            </a:avLst>
          </a:prstGeom>
          <a:solidFill>
            <a:srgbClr val="202024"/>
          </a:solidFill>
          <a:ln w="9525">
            <a:solidFill>
              <a:srgbClr val="3838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673352" y="4828032"/>
            <a:ext cx="731520" cy="438912"/>
          </a:xfrm>
          <a:prstGeom prst="rect">
            <a:avLst/>
          </a:prstGeom>
          <a:noFill/>
        </p:spPr>
        <p:txBody>
          <a:bodyPr wrap="square" lIns="0" rIns="0" tIns="0" bIns="0" anchor="ctr">
            <a:spAutoFit/>
          </a:bodyPr>
          <a:lstStyle/>
          <a:p>
            <a:pPr algn="ctr">
              <a:lnSpc>
                <a:spcPct val="100000"/>
              </a:lnSpc>
              <a:defRPr sz="620" b="1">
                <a:solidFill>
                  <a:srgbClr val="A1A1AA"/>
                </a:solidFill>
                <a:latin typeface="Inter"/>
              </a:defRPr>
            </a:pPr>
            <a:r>
              <a:t>STOCK</a:t>
            </a:r>
          </a:p>
        </p:txBody>
      </p:sp>
      <p:sp>
        <p:nvSpPr>
          <p:cNvPr id="44" name="Rounded Rectangle 43"/>
          <p:cNvSpPr/>
          <p:nvPr/>
        </p:nvSpPr>
        <p:spPr>
          <a:xfrm>
            <a:off x="2523744" y="4828032"/>
            <a:ext cx="731520" cy="438912"/>
          </a:xfrm>
          <a:prstGeom prst="roundRect">
            <a:avLst>
              <a:gd name="adj" fmla="val 8000"/>
            </a:avLst>
          </a:prstGeom>
          <a:solidFill>
            <a:srgbClr val="202024"/>
          </a:solidFill>
          <a:ln w="9525">
            <a:solidFill>
              <a:srgbClr val="3838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523744" y="4828032"/>
            <a:ext cx="731520" cy="438912"/>
          </a:xfrm>
          <a:prstGeom prst="rect">
            <a:avLst/>
          </a:prstGeom>
          <a:noFill/>
        </p:spPr>
        <p:txBody>
          <a:bodyPr wrap="square" lIns="0" rIns="0" tIns="0" bIns="0" anchor="ctr">
            <a:spAutoFit/>
          </a:bodyPr>
          <a:lstStyle/>
          <a:p>
            <a:pPr algn="ctr">
              <a:lnSpc>
                <a:spcPct val="100000"/>
              </a:lnSpc>
              <a:defRPr sz="620" b="1">
                <a:solidFill>
                  <a:srgbClr val="A1A1AA"/>
                </a:solidFill>
                <a:latin typeface="Inter"/>
              </a:defRPr>
            </a:pPr>
            <a:r>
              <a:t>PAYMENT</a:t>
            </a:r>
          </a:p>
        </p:txBody>
      </p:sp>
      <p:cxnSp>
        <p:nvCxnSpPr>
          <p:cNvPr id="46" name="Connector 45"/>
          <p:cNvCxnSpPr/>
          <p:nvPr/>
        </p:nvCxnSpPr>
        <p:spPr>
          <a:xfrm>
            <a:off x="1188720" y="4828032"/>
            <a:ext cx="850392" cy="438912"/>
          </a:xfrm>
          <a:prstGeom prst="line">
            <a:avLst/>
          </a:prstGeom>
          <a:ln w="10160">
            <a:solidFill>
              <a:srgbClr val="FBBF24"/>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2039112" y="4828032"/>
            <a:ext cx="850392" cy="438912"/>
          </a:xfrm>
          <a:prstGeom prst="line">
            <a:avLst/>
          </a:prstGeom>
          <a:ln w="10160">
            <a:solidFill>
              <a:srgbClr val="FBBF24"/>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822960" y="5404104"/>
            <a:ext cx="2697480" cy="182880"/>
          </a:xfrm>
          <a:prstGeom prst="rect">
            <a:avLst/>
          </a:prstGeom>
          <a:noFill/>
        </p:spPr>
        <p:txBody>
          <a:bodyPr wrap="square" lIns="0" rIns="0" tIns="0" bIns="0" anchor="t">
            <a:spAutoFit/>
          </a:bodyPr>
          <a:lstStyle/>
          <a:p>
            <a:pPr algn="l">
              <a:lnSpc>
                <a:spcPct val="100000"/>
              </a:lnSpc>
              <a:defRPr sz="720" b="0">
                <a:solidFill>
                  <a:srgbClr val="71717A"/>
                </a:solidFill>
                <a:latin typeface="Inter"/>
              </a:defRPr>
            </a:pPr>
            <a:r>
              <a:t>Tightly coupled modules • missing documentation</a:t>
            </a:r>
          </a:p>
        </p:txBody>
      </p:sp>
      <p:cxnSp>
        <p:nvCxnSpPr>
          <p:cNvPr id="49" name="Connector 48"/>
          <p:cNvCxnSpPr/>
          <p:nvPr/>
        </p:nvCxnSpPr>
        <p:spPr>
          <a:xfrm>
            <a:off x="3822191" y="5001768"/>
            <a:ext cx="301753" cy="0"/>
          </a:xfrm>
          <a:prstGeom prst="line">
            <a:avLst/>
          </a:prstGeom>
          <a:ln w="15240">
            <a:solidFill>
              <a:srgbClr val="8B5CF6"/>
            </a:solidFill>
          </a:ln>
        </p:spPr>
        <p:style>
          <a:lnRef idx="2">
            <a:schemeClr val="accent1"/>
          </a:lnRef>
          <a:fillRef idx="0">
            <a:schemeClr val="accent1"/>
          </a:fillRef>
          <a:effectRef idx="1">
            <a:schemeClr val="accent1"/>
          </a:effectRef>
          <a:fontRef idx="minor">
            <a:schemeClr val="tx1"/>
          </a:fontRef>
        </p:style>
      </p:cxnSp>
      <p:sp>
        <p:nvSpPr>
          <p:cNvPr id="50" name="Chevron 49"/>
          <p:cNvSpPr/>
          <p:nvPr/>
        </p:nvSpPr>
        <p:spPr>
          <a:xfrm>
            <a:off x="4078224" y="4919472"/>
            <a:ext cx="164592" cy="164592"/>
          </a:xfrm>
          <a:prstGeom prst="chevron">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4315968" y="4261104"/>
            <a:ext cx="2926080" cy="1508760"/>
          </a:xfrm>
          <a:prstGeom prst="roundRect">
            <a:avLst>
              <a:gd name="adj" fmla="val 8000"/>
            </a:avLst>
          </a:prstGeom>
          <a:solidFill>
            <a:srgbClr val="111114"/>
          </a:solidFill>
          <a:ln w="9525">
            <a:solidFill>
              <a:srgbClr val="2B2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2" name="Connector 51"/>
          <p:cNvCxnSpPr/>
          <p:nvPr/>
        </p:nvCxnSpPr>
        <p:spPr>
          <a:xfrm>
            <a:off x="4315968" y="4608576"/>
            <a:ext cx="2926080" cy="0"/>
          </a:xfrm>
          <a:prstGeom prst="line">
            <a:avLst/>
          </a:prstGeom>
          <a:ln w="7620">
            <a:solidFill>
              <a:srgbClr val="2B2B33"/>
            </a:solidFill>
          </a:ln>
        </p:spPr>
        <p:style>
          <a:lnRef idx="2">
            <a:schemeClr val="accent1"/>
          </a:lnRef>
          <a:fillRef idx="0">
            <a:schemeClr val="accent1"/>
          </a:fillRef>
          <a:effectRef idx="1">
            <a:schemeClr val="accent1"/>
          </a:effectRef>
          <a:fontRef idx="minor">
            <a:schemeClr val="tx1"/>
          </a:fontRef>
        </p:style>
      </p:cxnSp>
      <p:sp>
        <p:nvSpPr>
          <p:cNvPr id="53" name="Oval 52"/>
          <p:cNvSpPr/>
          <p:nvPr/>
        </p:nvSpPr>
        <p:spPr>
          <a:xfrm>
            <a:off x="4471416" y="4398264"/>
            <a:ext cx="64008" cy="64008"/>
          </a:xfrm>
          <a:prstGeom prst="ellipse">
            <a:avLst/>
          </a:prstGeom>
          <a:solidFill>
            <a:srgbClr val="FB71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4617720" y="4398264"/>
            <a:ext cx="64008" cy="64008"/>
          </a:xfrm>
          <a:prstGeom prst="ellipse">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4764024" y="4398264"/>
            <a:ext cx="64008" cy="64008"/>
          </a:xfrm>
          <a:prstGeom prst="ellipse">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937759" y="4361688"/>
            <a:ext cx="1097280" cy="164592"/>
          </a:xfrm>
          <a:prstGeom prst="rect">
            <a:avLst/>
          </a:prstGeom>
          <a:noFill/>
        </p:spPr>
        <p:txBody>
          <a:bodyPr wrap="square" lIns="0" rIns="0" tIns="0" bIns="0" anchor="t">
            <a:spAutoFit/>
          </a:bodyPr>
          <a:lstStyle/>
          <a:p>
            <a:pPr algn="l">
              <a:lnSpc>
                <a:spcPct val="100000"/>
              </a:lnSpc>
              <a:defRPr sz="720" b="0">
                <a:solidFill>
                  <a:srgbClr val="71717A"/>
                </a:solidFill>
                <a:latin typeface="Liberation Mono"/>
              </a:defRPr>
            </a:pPr>
            <a:r>
              <a:t>legacybridge / intelligence</a:t>
            </a:r>
          </a:p>
        </p:txBody>
      </p:sp>
      <p:sp>
        <p:nvSpPr>
          <p:cNvPr id="57" name="Rounded Rectangle 56"/>
          <p:cNvSpPr/>
          <p:nvPr/>
        </p:nvSpPr>
        <p:spPr>
          <a:xfrm>
            <a:off x="5916168" y="4329684"/>
            <a:ext cx="1143000" cy="210312"/>
          </a:xfrm>
          <a:prstGeom prst="roundRect">
            <a:avLst>
              <a:gd name="adj" fmla="val 8000"/>
            </a:avLst>
          </a:prstGeom>
          <a:solidFill>
            <a:srgbClr val="211B35"/>
          </a:solidFill>
          <a:ln w="7620">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952744" y="4338828"/>
            <a:ext cx="1069848" cy="192024"/>
          </a:xfrm>
          <a:prstGeom prst="rect">
            <a:avLst/>
          </a:prstGeom>
          <a:noFill/>
        </p:spPr>
        <p:txBody>
          <a:bodyPr wrap="square" lIns="0" rIns="0" tIns="0" bIns="0" anchor="ctr">
            <a:spAutoFit/>
          </a:bodyPr>
          <a:lstStyle/>
          <a:p>
            <a:pPr algn="ctr">
              <a:lnSpc>
                <a:spcPct val="100000"/>
              </a:lnSpc>
              <a:defRPr sz="620" b="1">
                <a:solidFill>
                  <a:srgbClr val="A78BFA"/>
                </a:solidFill>
                <a:latin typeface="Inter"/>
              </a:defRPr>
            </a:pPr>
            <a:r>
              <a:t>ENGINE</a:t>
            </a:r>
          </a:p>
        </p:txBody>
      </p:sp>
      <p:sp>
        <p:nvSpPr>
          <p:cNvPr id="59" name="Rounded Rectangle 58"/>
          <p:cNvSpPr/>
          <p:nvPr/>
        </p:nvSpPr>
        <p:spPr>
          <a:xfrm>
            <a:off x="4553712" y="4745736"/>
            <a:ext cx="201168" cy="201168"/>
          </a:xfrm>
          <a:prstGeom prst="roundRect">
            <a:avLst>
              <a:gd name="adj" fmla="val 8000"/>
            </a:avLst>
          </a:prstGeom>
          <a:solidFill>
            <a:srgbClr val="211B35"/>
          </a:solidFill>
          <a:ln w="7620">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553712" y="4745736"/>
            <a:ext cx="201168" cy="201168"/>
          </a:xfrm>
          <a:prstGeom prst="rect">
            <a:avLst/>
          </a:prstGeom>
          <a:noFill/>
        </p:spPr>
        <p:txBody>
          <a:bodyPr wrap="square" lIns="0" rIns="0" tIns="0" bIns="0" anchor="ctr">
            <a:spAutoFit/>
          </a:bodyPr>
          <a:lstStyle/>
          <a:p>
            <a:pPr algn="ctr">
              <a:lnSpc>
                <a:spcPct val="100000"/>
              </a:lnSpc>
              <a:defRPr sz="600" b="1">
                <a:solidFill>
                  <a:srgbClr val="A78BFA"/>
                </a:solidFill>
                <a:latin typeface="Inter"/>
              </a:defRPr>
            </a:pPr>
            <a:r>
              <a:t>1</a:t>
            </a:r>
          </a:p>
        </p:txBody>
      </p:sp>
      <p:sp>
        <p:nvSpPr>
          <p:cNvPr id="61" name="TextBox 60"/>
          <p:cNvSpPr txBox="1"/>
          <p:nvPr/>
        </p:nvSpPr>
        <p:spPr>
          <a:xfrm>
            <a:off x="4864608" y="4764024"/>
            <a:ext cx="1508760" cy="182880"/>
          </a:xfrm>
          <a:prstGeom prst="rect">
            <a:avLst/>
          </a:prstGeom>
          <a:noFill/>
        </p:spPr>
        <p:txBody>
          <a:bodyPr wrap="square" lIns="0" rIns="0" tIns="0" bIns="0" anchor="t">
            <a:spAutoFit/>
          </a:bodyPr>
          <a:lstStyle/>
          <a:p>
            <a:pPr algn="l">
              <a:lnSpc>
                <a:spcPct val="100000"/>
              </a:lnSpc>
              <a:defRPr sz="720" b="1">
                <a:solidFill>
                  <a:srgbClr val="E4E4E7"/>
                </a:solidFill>
                <a:latin typeface="Inter"/>
              </a:defRPr>
            </a:pPr>
            <a:r>
              <a:t>RULES</a:t>
            </a:r>
          </a:p>
        </p:txBody>
      </p:sp>
      <p:sp>
        <p:nvSpPr>
          <p:cNvPr id="62" name="TextBox 61"/>
          <p:cNvSpPr txBox="1"/>
          <p:nvPr/>
        </p:nvSpPr>
        <p:spPr>
          <a:xfrm>
            <a:off x="6199632" y="4764024"/>
            <a:ext cx="731520" cy="182880"/>
          </a:xfrm>
          <a:prstGeom prst="rect">
            <a:avLst/>
          </a:prstGeom>
          <a:noFill/>
        </p:spPr>
        <p:txBody>
          <a:bodyPr wrap="square" lIns="0" rIns="0" tIns="0" bIns="0" anchor="t">
            <a:spAutoFit/>
          </a:bodyPr>
          <a:lstStyle/>
          <a:p>
            <a:pPr algn="r">
              <a:lnSpc>
                <a:spcPct val="100000"/>
              </a:lnSpc>
              <a:defRPr sz="710" b="0">
                <a:solidFill>
                  <a:srgbClr val="A1A1AA"/>
                </a:solidFill>
                <a:latin typeface="Inter"/>
              </a:defRPr>
            </a:pPr>
            <a:r>
              <a:t>Extract</a:t>
            </a:r>
          </a:p>
        </p:txBody>
      </p:sp>
      <p:sp>
        <p:nvSpPr>
          <p:cNvPr id="63" name="Rounded Rectangle 62"/>
          <p:cNvSpPr/>
          <p:nvPr/>
        </p:nvSpPr>
        <p:spPr>
          <a:xfrm>
            <a:off x="4553712" y="5038344"/>
            <a:ext cx="201168" cy="201168"/>
          </a:xfrm>
          <a:prstGeom prst="roundRect">
            <a:avLst>
              <a:gd name="adj" fmla="val 8000"/>
            </a:avLst>
          </a:prstGeom>
          <a:solidFill>
            <a:srgbClr val="211B35"/>
          </a:solidFill>
          <a:ln w="7620">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553712" y="5038344"/>
            <a:ext cx="201168" cy="201168"/>
          </a:xfrm>
          <a:prstGeom prst="rect">
            <a:avLst/>
          </a:prstGeom>
          <a:noFill/>
        </p:spPr>
        <p:txBody>
          <a:bodyPr wrap="square" lIns="0" rIns="0" tIns="0" bIns="0" anchor="ctr">
            <a:spAutoFit/>
          </a:bodyPr>
          <a:lstStyle/>
          <a:p>
            <a:pPr algn="ctr">
              <a:lnSpc>
                <a:spcPct val="100000"/>
              </a:lnSpc>
              <a:defRPr sz="600" b="1">
                <a:solidFill>
                  <a:srgbClr val="A78BFA"/>
                </a:solidFill>
                <a:latin typeface="Inter"/>
              </a:defRPr>
            </a:pPr>
            <a:r>
              <a:t>2</a:t>
            </a:r>
          </a:p>
        </p:txBody>
      </p:sp>
      <p:sp>
        <p:nvSpPr>
          <p:cNvPr id="65" name="TextBox 64"/>
          <p:cNvSpPr txBox="1"/>
          <p:nvPr/>
        </p:nvSpPr>
        <p:spPr>
          <a:xfrm>
            <a:off x="4864608" y="5056632"/>
            <a:ext cx="1508760" cy="182880"/>
          </a:xfrm>
          <a:prstGeom prst="rect">
            <a:avLst/>
          </a:prstGeom>
          <a:noFill/>
        </p:spPr>
        <p:txBody>
          <a:bodyPr wrap="square" lIns="0" rIns="0" tIns="0" bIns="0" anchor="t">
            <a:spAutoFit/>
          </a:bodyPr>
          <a:lstStyle/>
          <a:p>
            <a:pPr algn="l">
              <a:lnSpc>
                <a:spcPct val="100000"/>
              </a:lnSpc>
              <a:defRPr sz="720" b="1">
                <a:solidFill>
                  <a:srgbClr val="E4E4E7"/>
                </a:solidFill>
                <a:latin typeface="Inter"/>
              </a:defRPr>
            </a:pPr>
            <a:r>
              <a:t>DEPENDENCIES</a:t>
            </a:r>
          </a:p>
        </p:txBody>
      </p:sp>
      <p:sp>
        <p:nvSpPr>
          <p:cNvPr id="66" name="TextBox 65"/>
          <p:cNvSpPr txBox="1"/>
          <p:nvPr/>
        </p:nvSpPr>
        <p:spPr>
          <a:xfrm>
            <a:off x="6199632" y="5056632"/>
            <a:ext cx="731520" cy="182880"/>
          </a:xfrm>
          <a:prstGeom prst="rect">
            <a:avLst/>
          </a:prstGeom>
          <a:noFill/>
        </p:spPr>
        <p:txBody>
          <a:bodyPr wrap="square" lIns="0" rIns="0" tIns="0" bIns="0" anchor="t">
            <a:spAutoFit/>
          </a:bodyPr>
          <a:lstStyle/>
          <a:p>
            <a:pPr algn="r">
              <a:lnSpc>
                <a:spcPct val="100000"/>
              </a:lnSpc>
              <a:defRPr sz="710" b="0">
                <a:solidFill>
                  <a:srgbClr val="A1A1AA"/>
                </a:solidFill>
                <a:latin typeface="Inter"/>
              </a:defRPr>
            </a:pPr>
            <a:r>
              <a:t>Map</a:t>
            </a:r>
          </a:p>
        </p:txBody>
      </p:sp>
      <p:sp>
        <p:nvSpPr>
          <p:cNvPr id="67" name="Rounded Rectangle 66"/>
          <p:cNvSpPr/>
          <p:nvPr/>
        </p:nvSpPr>
        <p:spPr>
          <a:xfrm>
            <a:off x="4553712" y="5330952"/>
            <a:ext cx="201168" cy="201168"/>
          </a:xfrm>
          <a:prstGeom prst="roundRect">
            <a:avLst>
              <a:gd name="adj" fmla="val 8000"/>
            </a:avLst>
          </a:prstGeom>
          <a:solidFill>
            <a:srgbClr val="211B35"/>
          </a:solidFill>
          <a:ln w="7620">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553712" y="5330952"/>
            <a:ext cx="201168" cy="201168"/>
          </a:xfrm>
          <a:prstGeom prst="rect">
            <a:avLst/>
          </a:prstGeom>
          <a:noFill/>
        </p:spPr>
        <p:txBody>
          <a:bodyPr wrap="square" lIns="0" rIns="0" tIns="0" bIns="0" anchor="ctr">
            <a:spAutoFit/>
          </a:bodyPr>
          <a:lstStyle/>
          <a:p>
            <a:pPr algn="ctr">
              <a:lnSpc>
                <a:spcPct val="100000"/>
              </a:lnSpc>
              <a:defRPr sz="600" b="1">
                <a:solidFill>
                  <a:srgbClr val="A78BFA"/>
                </a:solidFill>
                <a:latin typeface="Inter"/>
              </a:defRPr>
            </a:pPr>
            <a:r>
              <a:t>3</a:t>
            </a:r>
          </a:p>
        </p:txBody>
      </p:sp>
      <p:sp>
        <p:nvSpPr>
          <p:cNvPr id="69" name="TextBox 68"/>
          <p:cNvSpPr txBox="1"/>
          <p:nvPr/>
        </p:nvSpPr>
        <p:spPr>
          <a:xfrm>
            <a:off x="4864608" y="5349240"/>
            <a:ext cx="1508760" cy="182880"/>
          </a:xfrm>
          <a:prstGeom prst="rect">
            <a:avLst/>
          </a:prstGeom>
          <a:noFill/>
        </p:spPr>
        <p:txBody>
          <a:bodyPr wrap="square" lIns="0" rIns="0" tIns="0" bIns="0" anchor="t">
            <a:spAutoFit/>
          </a:bodyPr>
          <a:lstStyle/>
          <a:p>
            <a:pPr algn="l">
              <a:lnSpc>
                <a:spcPct val="100000"/>
              </a:lnSpc>
              <a:defRPr sz="720" b="1">
                <a:solidFill>
                  <a:srgbClr val="E4E4E7"/>
                </a:solidFill>
                <a:latin typeface="Inter"/>
              </a:defRPr>
            </a:pPr>
            <a:r>
              <a:t>DRIFT</a:t>
            </a:r>
          </a:p>
        </p:txBody>
      </p:sp>
      <p:sp>
        <p:nvSpPr>
          <p:cNvPr id="70" name="TextBox 69"/>
          <p:cNvSpPr txBox="1"/>
          <p:nvPr/>
        </p:nvSpPr>
        <p:spPr>
          <a:xfrm>
            <a:off x="6199632" y="5349240"/>
            <a:ext cx="731520" cy="182880"/>
          </a:xfrm>
          <a:prstGeom prst="rect">
            <a:avLst/>
          </a:prstGeom>
          <a:noFill/>
        </p:spPr>
        <p:txBody>
          <a:bodyPr wrap="square" lIns="0" rIns="0" tIns="0" bIns="0" anchor="t">
            <a:spAutoFit/>
          </a:bodyPr>
          <a:lstStyle/>
          <a:p>
            <a:pPr algn="r">
              <a:lnSpc>
                <a:spcPct val="100000"/>
              </a:lnSpc>
              <a:defRPr sz="710" b="0">
                <a:solidFill>
                  <a:srgbClr val="A1A1AA"/>
                </a:solidFill>
                <a:latin typeface="Inter"/>
              </a:defRPr>
            </a:pPr>
            <a:r>
              <a:t>Compare</a:t>
            </a:r>
          </a:p>
        </p:txBody>
      </p:sp>
      <p:cxnSp>
        <p:nvCxnSpPr>
          <p:cNvPr id="71" name="Connector 70"/>
          <p:cNvCxnSpPr/>
          <p:nvPr/>
        </p:nvCxnSpPr>
        <p:spPr>
          <a:xfrm>
            <a:off x="7315200" y="5001768"/>
            <a:ext cx="301752" cy="0"/>
          </a:xfrm>
          <a:prstGeom prst="line">
            <a:avLst/>
          </a:prstGeom>
          <a:ln w="15240">
            <a:solidFill>
              <a:srgbClr val="8B5CF6"/>
            </a:solidFill>
          </a:ln>
        </p:spPr>
        <p:style>
          <a:lnRef idx="2">
            <a:schemeClr val="accent1"/>
          </a:lnRef>
          <a:fillRef idx="0">
            <a:schemeClr val="accent1"/>
          </a:fillRef>
          <a:effectRef idx="1">
            <a:schemeClr val="accent1"/>
          </a:effectRef>
          <a:fontRef idx="minor">
            <a:schemeClr val="tx1"/>
          </a:fontRef>
        </p:style>
      </p:cxnSp>
      <p:sp>
        <p:nvSpPr>
          <p:cNvPr id="72" name="Chevron 71"/>
          <p:cNvSpPr/>
          <p:nvPr/>
        </p:nvSpPr>
        <p:spPr>
          <a:xfrm>
            <a:off x="7571231" y="4919472"/>
            <a:ext cx="164592" cy="164592"/>
          </a:xfrm>
          <a:prstGeom prst="chevron">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ounded Rectangle 72"/>
          <p:cNvSpPr/>
          <p:nvPr/>
        </p:nvSpPr>
        <p:spPr>
          <a:xfrm>
            <a:off x="7818120" y="4261104"/>
            <a:ext cx="3776472" cy="1508760"/>
          </a:xfrm>
          <a:prstGeom prst="roundRect">
            <a:avLst>
              <a:gd name="adj" fmla="val 8000"/>
            </a:avLst>
          </a:prstGeom>
          <a:solidFill>
            <a:srgbClr val="111114"/>
          </a:solidFill>
          <a:ln w="9525">
            <a:solidFill>
              <a:srgbClr val="2B2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4" name="Connector 73"/>
          <p:cNvCxnSpPr/>
          <p:nvPr/>
        </p:nvCxnSpPr>
        <p:spPr>
          <a:xfrm>
            <a:off x="7818120" y="4608576"/>
            <a:ext cx="3776472" cy="0"/>
          </a:xfrm>
          <a:prstGeom prst="line">
            <a:avLst/>
          </a:prstGeom>
          <a:ln w="7620">
            <a:solidFill>
              <a:srgbClr val="2B2B33"/>
            </a:solidFill>
          </a:ln>
        </p:spPr>
        <p:style>
          <a:lnRef idx="2">
            <a:schemeClr val="accent1"/>
          </a:lnRef>
          <a:fillRef idx="0">
            <a:schemeClr val="accent1"/>
          </a:fillRef>
          <a:effectRef idx="1">
            <a:schemeClr val="accent1"/>
          </a:effectRef>
          <a:fontRef idx="minor">
            <a:schemeClr val="tx1"/>
          </a:fontRef>
        </p:style>
      </p:cxnSp>
      <p:sp>
        <p:nvSpPr>
          <p:cNvPr id="75" name="Oval 74"/>
          <p:cNvSpPr/>
          <p:nvPr/>
        </p:nvSpPr>
        <p:spPr>
          <a:xfrm>
            <a:off x="7973568" y="4398264"/>
            <a:ext cx="64008" cy="64008"/>
          </a:xfrm>
          <a:prstGeom prst="ellipse">
            <a:avLst/>
          </a:prstGeom>
          <a:solidFill>
            <a:srgbClr val="FB71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8119872" y="4398264"/>
            <a:ext cx="64008" cy="64008"/>
          </a:xfrm>
          <a:prstGeom prst="ellipse">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8266176" y="4398264"/>
            <a:ext cx="64008" cy="64008"/>
          </a:xfrm>
          <a:prstGeom prst="ellipse">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8439912" y="4361688"/>
            <a:ext cx="1947672" cy="164592"/>
          </a:xfrm>
          <a:prstGeom prst="rect">
            <a:avLst/>
          </a:prstGeom>
          <a:noFill/>
        </p:spPr>
        <p:txBody>
          <a:bodyPr wrap="square" lIns="0" rIns="0" tIns="0" bIns="0" anchor="t">
            <a:spAutoFit/>
          </a:bodyPr>
          <a:lstStyle/>
          <a:p>
            <a:pPr algn="l">
              <a:lnSpc>
                <a:spcPct val="100000"/>
              </a:lnSpc>
              <a:defRPr sz="720" b="0">
                <a:solidFill>
                  <a:srgbClr val="71717A"/>
                </a:solidFill>
                <a:latin typeface="Liberation Mono"/>
              </a:defRPr>
            </a:pPr>
            <a:r>
              <a:t>proposed / service-boundaries</a:t>
            </a:r>
          </a:p>
        </p:txBody>
      </p:sp>
      <p:sp>
        <p:nvSpPr>
          <p:cNvPr id="79" name="Rounded Rectangle 78"/>
          <p:cNvSpPr/>
          <p:nvPr/>
        </p:nvSpPr>
        <p:spPr>
          <a:xfrm>
            <a:off x="10268712" y="4329684"/>
            <a:ext cx="1143000" cy="210312"/>
          </a:xfrm>
          <a:prstGeom prst="roundRect">
            <a:avLst>
              <a:gd name="adj" fmla="val 8000"/>
            </a:avLst>
          </a:prstGeom>
          <a:solidFill>
            <a:srgbClr val="211B35"/>
          </a:solidFill>
          <a:ln w="7620">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10305288" y="4338828"/>
            <a:ext cx="1069848" cy="192024"/>
          </a:xfrm>
          <a:prstGeom prst="rect">
            <a:avLst/>
          </a:prstGeom>
          <a:noFill/>
        </p:spPr>
        <p:txBody>
          <a:bodyPr wrap="square" lIns="0" rIns="0" tIns="0" bIns="0" anchor="ctr">
            <a:spAutoFit/>
          </a:bodyPr>
          <a:lstStyle/>
          <a:p>
            <a:pPr algn="ctr">
              <a:lnSpc>
                <a:spcPct val="100000"/>
              </a:lnSpc>
              <a:defRPr sz="620" b="1">
                <a:solidFill>
                  <a:srgbClr val="A78BFA"/>
                </a:solidFill>
                <a:latin typeface="Inter"/>
              </a:defRPr>
            </a:pPr>
            <a:r>
              <a:t>REVIEW</a:t>
            </a:r>
          </a:p>
        </p:txBody>
      </p:sp>
      <p:sp>
        <p:nvSpPr>
          <p:cNvPr id="81" name="Rounded Rectangle 80"/>
          <p:cNvSpPr/>
          <p:nvPr/>
        </p:nvSpPr>
        <p:spPr>
          <a:xfrm>
            <a:off x="8065008" y="4736592"/>
            <a:ext cx="1399032" cy="338328"/>
          </a:xfrm>
          <a:prstGeom prst="roundRect">
            <a:avLst>
              <a:gd name="adj" fmla="val 8000"/>
            </a:avLst>
          </a:prstGeom>
          <a:solidFill>
            <a:srgbClr val="211B35"/>
          </a:solidFill>
          <a:ln w="9525">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8065008" y="4736592"/>
            <a:ext cx="1399032" cy="338328"/>
          </a:xfrm>
          <a:prstGeom prst="rect">
            <a:avLst/>
          </a:prstGeom>
          <a:noFill/>
        </p:spPr>
        <p:txBody>
          <a:bodyPr wrap="square" lIns="0" rIns="0" tIns="0" bIns="0" anchor="ctr">
            <a:spAutoFit/>
          </a:bodyPr>
          <a:lstStyle/>
          <a:p>
            <a:pPr algn="ctr">
              <a:lnSpc>
                <a:spcPct val="100000"/>
              </a:lnSpc>
              <a:defRPr sz="670" b="1">
                <a:solidFill>
                  <a:srgbClr val="A78BFA"/>
                </a:solidFill>
                <a:latin typeface="Inter"/>
              </a:defRPr>
            </a:pPr>
            <a:r>
              <a:t>CUSTOMER</a:t>
            </a:r>
          </a:p>
        </p:txBody>
      </p:sp>
      <p:sp>
        <p:nvSpPr>
          <p:cNvPr id="83" name="Rounded Rectangle 82"/>
          <p:cNvSpPr/>
          <p:nvPr/>
        </p:nvSpPr>
        <p:spPr>
          <a:xfrm>
            <a:off x="9646920" y="4736592"/>
            <a:ext cx="1399032" cy="338328"/>
          </a:xfrm>
          <a:prstGeom prst="roundRect">
            <a:avLst>
              <a:gd name="adj" fmla="val 8000"/>
            </a:avLst>
          </a:prstGeom>
          <a:solidFill>
            <a:srgbClr val="211B35"/>
          </a:solidFill>
          <a:ln w="9525">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9646920" y="4736592"/>
            <a:ext cx="1399032" cy="338328"/>
          </a:xfrm>
          <a:prstGeom prst="rect">
            <a:avLst/>
          </a:prstGeom>
          <a:noFill/>
        </p:spPr>
        <p:txBody>
          <a:bodyPr wrap="square" lIns="0" rIns="0" tIns="0" bIns="0" anchor="ctr">
            <a:spAutoFit/>
          </a:bodyPr>
          <a:lstStyle/>
          <a:p>
            <a:pPr algn="ctr">
              <a:lnSpc>
                <a:spcPct val="100000"/>
              </a:lnSpc>
              <a:defRPr sz="670" b="1">
                <a:solidFill>
                  <a:srgbClr val="A78BFA"/>
                </a:solidFill>
                <a:latin typeface="Inter"/>
              </a:defRPr>
            </a:pPr>
            <a:r>
              <a:t>ORDER</a:t>
            </a:r>
          </a:p>
        </p:txBody>
      </p:sp>
      <p:sp>
        <p:nvSpPr>
          <p:cNvPr id="85" name="Rounded Rectangle 84"/>
          <p:cNvSpPr/>
          <p:nvPr/>
        </p:nvSpPr>
        <p:spPr>
          <a:xfrm>
            <a:off x="8065008" y="5184648"/>
            <a:ext cx="1399032" cy="338328"/>
          </a:xfrm>
          <a:prstGeom prst="roundRect">
            <a:avLst>
              <a:gd name="adj" fmla="val 8000"/>
            </a:avLst>
          </a:prstGeom>
          <a:solidFill>
            <a:srgbClr val="211B35"/>
          </a:solidFill>
          <a:ln w="9525">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8065008" y="5184648"/>
            <a:ext cx="1399032" cy="338328"/>
          </a:xfrm>
          <a:prstGeom prst="rect">
            <a:avLst/>
          </a:prstGeom>
          <a:noFill/>
        </p:spPr>
        <p:txBody>
          <a:bodyPr wrap="square" lIns="0" rIns="0" tIns="0" bIns="0" anchor="ctr">
            <a:spAutoFit/>
          </a:bodyPr>
          <a:lstStyle/>
          <a:p>
            <a:pPr algn="ctr">
              <a:lnSpc>
                <a:spcPct val="100000"/>
              </a:lnSpc>
              <a:defRPr sz="670" b="1">
                <a:solidFill>
                  <a:srgbClr val="A78BFA"/>
                </a:solidFill>
                <a:latin typeface="Inter"/>
              </a:defRPr>
            </a:pPr>
            <a:r>
              <a:t>INVENTORY</a:t>
            </a:r>
          </a:p>
        </p:txBody>
      </p:sp>
      <p:sp>
        <p:nvSpPr>
          <p:cNvPr id="87" name="Rounded Rectangle 86"/>
          <p:cNvSpPr/>
          <p:nvPr/>
        </p:nvSpPr>
        <p:spPr>
          <a:xfrm>
            <a:off x="9646920" y="5184648"/>
            <a:ext cx="1399032" cy="338328"/>
          </a:xfrm>
          <a:prstGeom prst="roundRect">
            <a:avLst>
              <a:gd name="adj" fmla="val 8000"/>
            </a:avLst>
          </a:prstGeom>
          <a:solidFill>
            <a:srgbClr val="211B35"/>
          </a:solidFill>
          <a:ln w="9525">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9646920" y="5184648"/>
            <a:ext cx="1399032" cy="338328"/>
          </a:xfrm>
          <a:prstGeom prst="rect">
            <a:avLst/>
          </a:prstGeom>
          <a:noFill/>
        </p:spPr>
        <p:txBody>
          <a:bodyPr wrap="square" lIns="0" rIns="0" tIns="0" bIns="0" anchor="ctr">
            <a:spAutoFit/>
          </a:bodyPr>
          <a:lstStyle/>
          <a:p>
            <a:pPr algn="ctr">
              <a:lnSpc>
                <a:spcPct val="100000"/>
              </a:lnSpc>
              <a:defRPr sz="670" b="1">
                <a:solidFill>
                  <a:srgbClr val="A78BFA"/>
                </a:solidFill>
                <a:latin typeface="Inter"/>
              </a:defRPr>
            </a:pPr>
            <a:r>
              <a:t>PAYMENT</a:t>
            </a:r>
          </a:p>
        </p:txBody>
      </p:sp>
      <p:sp>
        <p:nvSpPr>
          <p:cNvPr id="89" name="TextBox 88"/>
          <p:cNvSpPr txBox="1"/>
          <p:nvPr/>
        </p:nvSpPr>
        <p:spPr>
          <a:xfrm>
            <a:off x="594360" y="6053328"/>
            <a:ext cx="2377440" cy="201168"/>
          </a:xfrm>
          <a:prstGeom prst="rect">
            <a:avLst/>
          </a:prstGeom>
          <a:noFill/>
        </p:spPr>
        <p:txBody>
          <a:bodyPr wrap="square" lIns="0" rIns="0" tIns="0" bIns="0" anchor="t">
            <a:spAutoFit/>
          </a:bodyPr>
          <a:lstStyle/>
          <a:p>
            <a:pPr algn="l">
              <a:lnSpc>
                <a:spcPct val="100000"/>
              </a:lnSpc>
              <a:defRPr sz="650" b="1">
                <a:solidFill>
                  <a:srgbClr val="71717A"/>
                </a:solidFill>
                <a:latin typeface="Inter"/>
              </a:defRPr>
            </a:pPr>
            <a:r>
              <a:t>TEAM</a:t>
            </a:r>
          </a:p>
        </p:txBody>
      </p:sp>
      <p:sp>
        <p:nvSpPr>
          <p:cNvPr id="90" name="TextBox 89"/>
          <p:cNvSpPr txBox="1"/>
          <p:nvPr/>
        </p:nvSpPr>
        <p:spPr>
          <a:xfrm>
            <a:off x="594360" y="6263640"/>
            <a:ext cx="2423160" cy="219456"/>
          </a:xfrm>
          <a:prstGeom prst="rect">
            <a:avLst/>
          </a:prstGeom>
          <a:noFill/>
        </p:spPr>
        <p:txBody>
          <a:bodyPr wrap="square" lIns="0" rIns="0" tIns="0" bIns="0" anchor="t">
            <a:spAutoFit/>
          </a:bodyPr>
          <a:lstStyle/>
          <a:p>
            <a:pPr algn="l">
              <a:lnSpc>
                <a:spcPct val="100000"/>
              </a:lnSpc>
              <a:defRPr sz="900" b="0">
                <a:solidFill>
                  <a:srgbClr val="A1A1AA"/>
                </a:solidFill>
                <a:latin typeface="Inter"/>
              </a:defRPr>
            </a:pPr>
            <a:r>
              <a:t>[Team name]</a:t>
            </a:r>
          </a:p>
        </p:txBody>
      </p:sp>
      <p:sp>
        <p:nvSpPr>
          <p:cNvPr id="91" name="TextBox 90"/>
          <p:cNvSpPr txBox="1"/>
          <p:nvPr/>
        </p:nvSpPr>
        <p:spPr>
          <a:xfrm>
            <a:off x="3374136" y="6053328"/>
            <a:ext cx="2377440" cy="201168"/>
          </a:xfrm>
          <a:prstGeom prst="rect">
            <a:avLst/>
          </a:prstGeom>
          <a:noFill/>
        </p:spPr>
        <p:txBody>
          <a:bodyPr wrap="square" lIns="0" rIns="0" tIns="0" bIns="0" anchor="t">
            <a:spAutoFit/>
          </a:bodyPr>
          <a:lstStyle/>
          <a:p>
            <a:pPr algn="l">
              <a:lnSpc>
                <a:spcPct val="100000"/>
              </a:lnSpc>
              <a:defRPr sz="650" b="1">
                <a:solidFill>
                  <a:srgbClr val="71717A"/>
                </a:solidFill>
                <a:latin typeface="Inter"/>
              </a:defRPr>
            </a:pPr>
            <a:r>
              <a:t>MEMBERS</a:t>
            </a:r>
          </a:p>
        </p:txBody>
      </p:sp>
      <p:sp>
        <p:nvSpPr>
          <p:cNvPr id="92" name="TextBox 91"/>
          <p:cNvSpPr txBox="1"/>
          <p:nvPr/>
        </p:nvSpPr>
        <p:spPr>
          <a:xfrm>
            <a:off x="3374136" y="6263640"/>
            <a:ext cx="2423160" cy="219456"/>
          </a:xfrm>
          <a:prstGeom prst="rect">
            <a:avLst/>
          </a:prstGeom>
          <a:noFill/>
        </p:spPr>
        <p:txBody>
          <a:bodyPr wrap="square" lIns="0" rIns="0" tIns="0" bIns="0" anchor="t">
            <a:spAutoFit/>
          </a:bodyPr>
          <a:lstStyle/>
          <a:p>
            <a:pPr algn="l">
              <a:lnSpc>
                <a:spcPct val="100000"/>
              </a:lnSpc>
              <a:defRPr sz="900" b="0">
                <a:solidFill>
                  <a:srgbClr val="A1A1AA"/>
                </a:solidFill>
                <a:latin typeface="Inter"/>
              </a:defRPr>
            </a:pPr>
            <a:r>
              <a:t>[Names]</a:t>
            </a:r>
          </a:p>
        </p:txBody>
      </p:sp>
      <p:sp>
        <p:nvSpPr>
          <p:cNvPr id="93" name="TextBox 92"/>
          <p:cNvSpPr txBox="1"/>
          <p:nvPr/>
        </p:nvSpPr>
        <p:spPr>
          <a:xfrm>
            <a:off x="6153912" y="6053328"/>
            <a:ext cx="2377440" cy="201168"/>
          </a:xfrm>
          <a:prstGeom prst="rect">
            <a:avLst/>
          </a:prstGeom>
          <a:noFill/>
        </p:spPr>
        <p:txBody>
          <a:bodyPr wrap="square" lIns="0" rIns="0" tIns="0" bIns="0" anchor="t">
            <a:spAutoFit/>
          </a:bodyPr>
          <a:lstStyle/>
          <a:p>
            <a:pPr algn="l">
              <a:lnSpc>
                <a:spcPct val="100000"/>
              </a:lnSpc>
              <a:defRPr sz="650" b="1">
                <a:solidFill>
                  <a:srgbClr val="71717A"/>
                </a:solidFill>
                <a:latin typeface="Inter"/>
              </a:defRPr>
            </a:pPr>
            <a:r>
              <a:t>HACKATHON</a:t>
            </a:r>
          </a:p>
        </p:txBody>
      </p:sp>
      <p:sp>
        <p:nvSpPr>
          <p:cNvPr id="94" name="TextBox 93"/>
          <p:cNvSpPr txBox="1"/>
          <p:nvPr/>
        </p:nvSpPr>
        <p:spPr>
          <a:xfrm>
            <a:off x="6153912" y="6263640"/>
            <a:ext cx="2423160" cy="219456"/>
          </a:xfrm>
          <a:prstGeom prst="rect">
            <a:avLst/>
          </a:prstGeom>
          <a:noFill/>
        </p:spPr>
        <p:txBody>
          <a:bodyPr wrap="square" lIns="0" rIns="0" tIns="0" bIns="0" anchor="t">
            <a:spAutoFit/>
          </a:bodyPr>
          <a:lstStyle/>
          <a:p>
            <a:pPr algn="l">
              <a:lnSpc>
                <a:spcPct val="100000"/>
              </a:lnSpc>
              <a:defRPr sz="900" b="0">
                <a:solidFill>
                  <a:srgbClr val="A1A1AA"/>
                </a:solidFill>
                <a:latin typeface="Inter"/>
              </a:defRPr>
            </a:pPr>
            <a:r>
              <a:t>[Event name]</a:t>
            </a:r>
          </a:p>
        </p:txBody>
      </p:sp>
      <p:sp>
        <p:nvSpPr>
          <p:cNvPr id="95" name="TextBox 94"/>
          <p:cNvSpPr txBox="1"/>
          <p:nvPr/>
        </p:nvSpPr>
        <p:spPr>
          <a:xfrm>
            <a:off x="8933688" y="6053328"/>
            <a:ext cx="2377440" cy="201168"/>
          </a:xfrm>
          <a:prstGeom prst="rect">
            <a:avLst/>
          </a:prstGeom>
          <a:noFill/>
        </p:spPr>
        <p:txBody>
          <a:bodyPr wrap="square" lIns="0" rIns="0" tIns="0" bIns="0" anchor="t">
            <a:spAutoFit/>
          </a:bodyPr>
          <a:lstStyle/>
          <a:p>
            <a:pPr algn="l">
              <a:lnSpc>
                <a:spcPct val="100000"/>
              </a:lnSpc>
              <a:defRPr sz="650" b="1">
                <a:solidFill>
                  <a:srgbClr val="71717A"/>
                </a:solidFill>
                <a:latin typeface="Inter"/>
              </a:defRPr>
            </a:pPr>
            <a:r>
              <a:t>INSTITUTION</a:t>
            </a:r>
          </a:p>
        </p:txBody>
      </p:sp>
      <p:sp>
        <p:nvSpPr>
          <p:cNvPr id="96" name="TextBox 95"/>
          <p:cNvSpPr txBox="1"/>
          <p:nvPr/>
        </p:nvSpPr>
        <p:spPr>
          <a:xfrm>
            <a:off x="8933688" y="6263640"/>
            <a:ext cx="2423160" cy="219456"/>
          </a:xfrm>
          <a:prstGeom prst="rect">
            <a:avLst/>
          </a:prstGeom>
          <a:noFill/>
        </p:spPr>
        <p:txBody>
          <a:bodyPr wrap="square" lIns="0" rIns="0" tIns="0" bIns="0" anchor="t">
            <a:spAutoFit/>
          </a:bodyPr>
          <a:lstStyle/>
          <a:p>
            <a:pPr algn="l">
              <a:lnSpc>
                <a:spcPct val="100000"/>
              </a:lnSpc>
              <a:defRPr sz="900" b="0">
                <a:solidFill>
                  <a:srgbClr val="A1A1AA"/>
                </a:solidFill>
                <a:latin typeface="Inter"/>
              </a:defRPr>
            </a:pPr>
            <a:r>
              <a:t>[Institution]</a:t>
            </a:r>
          </a:p>
        </p:txBody>
      </p:sp>
      <p:cxnSp>
        <p:nvCxnSpPr>
          <p:cNvPr id="97" name="Connector 96"/>
          <p:cNvCxnSpPr/>
          <p:nvPr/>
        </p:nvCxnSpPr>
        <p:spPr>
          <a:xfrm>
            <a:off x="502920" y="6574536"/>
            <a:ext cx="11183112" cy="0"/>
          </a:xfrm>
          <a:prstGeom prst="line">
            <a:avLst/>
          </a:prstGeom>
          <a:ln w="6985">
            <a:solidFill>
              <a:srgbClr val="202024"/>
            </a:solidFill>
          </a:ln>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594360" y="6656832"/>
            <a:ext cx="4572000" cy="146304"/>
          </a:xfrm>
          <a:prstGeom prst="rect">
            <a:avLst/>
          </a:prstGeom>
          <a:noFill/>
        </p:spPr>
        <p:txBody>
          <a:bodyPr wrap="square" lIns="0" rIns="0" tIns="0" bIns="0" anchor="t">
            <a:spAutoFit/>
          </a:bodyPr>
          <a:lstStyle/>
          <a:p>
            <a:pPr algn="l">
              <a:lnSpc>
                <a:spcPct val="100000"/>
              </a:lnSpc>
              <a:defRPr sz="620" b="0">
                <a:solidFill>
                  <a:srgbClr val="71717A"/>
                </a:solidFill>
                <a:latin typeface="Inter"/>
              </a:defRPr>
            </a:pPr>
            <a:r>
              <a:t>Editable vector graphics • illustrative product vision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9090B"/>
        </a:solidFill>
        <a:effectLst/>
      </p:bgPr>
    </p:bg>
    <p:spTree>
      <p:nvGrpSpPr>
        <p:cNvPr id="1" name=""/>
        <p:cNvGrpSpPr/>
        <p:nvPr/>
      </p:nvGrpSpPr>
      <p:grpSpPr/>
      <p:cxnSp>
        <p:nvCxnSpPr>
          <p:cNvPr id="2" name="Connector 1"/>
          <p:cNvCxnSpPr/>
          <p:nvPr/>
        </p:nvCxnSpPr>
        <p:spPr>
          <a:xfrm>
            <a:off x="3044952" y="0"/>
            <a:ext cx="0" cy="6858000"/>
          </a:xfrm>
          <a:prstGeom prst="line">
            <a:avLst/>
          </a:prstGeom>
          <a:ln w="4445">
            <a:solidFill>
              <a:srgbClr val="111114"/>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6089904" y="0"/>
            <a:ext cx="0" cy="6858000"/>
          </a:xfrm>
          <a:prstGeom prst="line">
            <a:avLst/>
          </a:prstGeom>
          <a:ln w="4445">
            <a:solidFill>
              <a:srgbClr val="111114"/>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9134856" y="0"/>
            <a:ext cx="0" cy="6858000"/>
          </a:xfrm>
          <a:prstGeom prst="line">
            <a:avLst/>
          </a:prstGeom>
          <a:ln w="4445">
            <a:solidFill>
              <a:srgbClr val="111114"/>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02920" y="612648"/>
            <a:ext cx="11183112" cy="0"/>
          </a:xfrm>
          <a:prstGeom prst="line">
            <a:avLst/>
          </a:prstGeom>
          <a:ln w="6985">
            <a:solidFill>
              <a:srgbClr val="202024"/>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246888"/>
            <a:ext cx="228600" cy="228600"/>
          </a:xfrm>
          <a:prstGeom prst="roundRect">
            <a:avLst>
              <a:gd name="adj" fmla="val 8000"/>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46888"/>
            <a:ext cx="228600" cy="228600"/>
          </a:xfrm>
          <a:prstGeom prst="rect">
            <a:avLst/>
          </a:prstGeom>
          <a:noFill/>
        </p:spPr>
        <p:txBody>
          <a:bodyPr wrap="square" lIns="0" rIns="0" tIns="0" bIns="0" anchor="ctr">
            <a:spAutoFit/>
          </a:bodyPr>
          <a:lstStyle/>
          <a:p>
            <a:pPr algn="ctr">
              <a:lnSpc>
                <a:spcPct val="100000"/>
              </a:lnSpc>
              <a:defRPr sz="650" b="1">
                <a:solidFill>
                  <a:srgbClr val="09090B"/>
                </a:solidFill>
                <a:latin typeface="Inter"/>
              </a:defRPr>
            </a:pPr>
            <a:r>
              <a:t>LB</a:t>
            </a:r>
          </a:p>
        </p:txBody>
      </p:sp>
      <p:sp>
        <p:nvSpPr>
          <p:cNvPr id="8" name="TextBox 7"/>
          <p:cNvSpPr txBox="1"/>
          <p:nvPr/>
        </p:nvSpPr>
        <p:spPr>
          <a:xfrm>
            <a:off x="804672" y="269748"/>
            <a:ext cx="2011680" cy="201168"/>
          </a:xfrm>
          <a:prstGeom prst="rect">
            <a:avLst/>
          </a:prstGeom>
          <a:noFill/>
        </p:spPr>
        <p:txBody>
          <a:bodyPr wrap="square" lIns="0" rIns="0" tIns="0" bIns="0" anchor="t">
            <a:spAutoFit/>
          </a:bodyPr>
          <a:lstStyle/>
          <a:p>
            <a:pPr algn="l">
              <a:lnSpc>
                <a:spcPct val="100000"/>
              </a:lnSpc>
              <a:defRPr sz="850" b="1">
                <a:solidFill>
                  <a:srgbClr val="E4E4E7"/>
                </a:solidFill>
                <a:latin typeface="Inter"/>
              </a:defRPr>
            </a:pPr>
            <a:r>
              <a:t>LEGACYBRIDGE</a:t>
            </a:r>
          </a:p>
        </p:txBody>
      </p:sp>
      <p:sp>
        <p:nvSpPr>
          <p:cNvPr id="9" name="Rounded Rectangle 8"/>
          <p:cNvSpPr/>
          <p:nvPr/>
        </p:nvSpPr>
        <p:spPr>
          <a:xfrm>
            <a:off x="11045952" y="237744"/>
            <a:ext cx="640080" cy="256032"/>
          </a:xfrm>
          <a:prstGeom prst="roundRect">
            <a:avLst>
              <a:gd name="adj" fmla="val 8000"/>
            </a:avLst>
          </a:prstGeom>
          <a:solidFill>
            <a:srgbClr val="111114"/>
          </a:solidFill>
          <a:ln w="7620">
            <a:solidFill>
              <a:srgbClr val="2B2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082528" y="246888"/>
            <a:ext cx="566928" cy="237744"/>
          </a:xfrm>
          <a:prstGeom prst="rect">
            <a:avLst/>
          </a:prstGeom>
          <a:noFill/>
        </p:spPr>
        <p:txBody>
          <a:bodyPr wrap="square" lIns="0" rIns="0" tIns="0" bIns="0" anchor="ctr">
            <a:spAutoFit/>
          </a:bodyPr>
          <a:lstStyle/>
          <a:p>
            <a:pPr algn="ctr">
              <a:lnSpc>
                <a:spcPct val="100000"/>
              </a:lnSpc>
              <a:defRPr sz="700" b="1">
                <a:solidFill>
                  <a:srgbClr val="A1A1AA"/>
                </a:solidFill>
                <a:latin typeface="Inter"/>
              </a:defRPr>
            </a:pPr>
            <a:r>
              <a:t>02 / 10</a:t>
            </a:r>
          </a:p>
        </p:txBody>
      </p:sp>
      <p:sp>
        <p:nvSpPr>
          <p:cNvPr id="11" name="TextBox 10"/>
          <p:cNvSpPr txBox="1"/>
          <p:nvPr/>
        </p:nvSpPr>
        <p:spPr>
          <a:xfrm>
            <a:off x="548640" y="768096"/>
            <a:ext cx="6858000" cy="219456"/>
          </a:xfrm>
          <a:prstGeom prst="rect">
            <a:avLst/>
          </a:prstGeom>
          <a:noFill/>
        </p:spPr>
        <p:txBody>
          <a:bodyPr wrap="square" lIns="0" rIns="0" tIns="0" bIns="0" anchor="t">
            <a:spAutoFit/>
          </a:bodyPr>
          <a:lstStyle/>
          <a:p>
            <a:pPr algn="l">
              <a:lnSpc>
                <a:spcPct val="100000"/>
              </a:lnSpc>
              <a:defRPr sz="800" b="1">
                <a:solidFill>
                  <a:srgbClr val="A78BFA"/>
                </a:solidFill>
                <a:latin typeface="Inter"/>
              </a:defRPr>
            </a:pPr>
            <a:r>
              <a:t>THE PROBLEM</a:t>
            </a:r>
          </a:p>
        </p:txBody>
      </p:sp>
      <p:sp>
        <p:nvSpPr>
          <p:cNvPr id="12" name="TextBox 11"/>
          <p:cNvSpPr txBox="1"/>
          <p:nvPr/>
        </p:nvSpPr>
        <p:spPr>
          <a:xfrm>
            <a:off x="548640" y="996696"/>
            <a:ext cx="11064240" cy="585216"/>
          </a:xfrm>
          <a:prstGeom prst="rect">
            <a:avLst/>
          </a:prstGeom>
          <a:noFill/>
        </p:spPr>
        <p:txBody>
          <a:bodyPr wrap="square" lIns="0" rIns="0" tIns="0" bIns="0" anchor="t">
            <a:spAutoFit/>
          </a:bodyPr>
          <a:lstStyle/>
          <a:p>
            <a:pPr algn="l">
              <a:lnSpc>
                <a:spcPct val="95000"/>
              </a:lnSpc>
              <a:defRPr sz="2700" b="1">
                <a:solidFill>
                  <a:srgbClr val="FAFAFA"/>
                </a:solidFill>
                <a:latin typeface="Inter"/>
              </a:defRPr>
            </a:pPr>
            <a:r>
              <a:t>Modernizing Legacy Software Shouldn't Require Guesswork.</a:t>
            </a:r>
          </a:p>
        </p:txBody>
      </p:sp>
      <p:sp>
        <p:nvSpPr>
          <p:cNvPr id="13" name="TextBox 12"/>
          <p:cNvSpPr txBox="1"/>
          <p:nvPr/>
        </p:nvSpPr>
        <p:spPr>
          <a:xfrm>
            <a:off x="548640" y="1545336"/>
            <a:ext cx="10972800" cy="347472"/>
          </a:xfrm>
          <a:prstGeom prst="rect">
            <a:avLst/>
          </a:prstGeom>
          <a:noFill/>
        </p:spPr>
        <p:txBody>
          <a:bodyPr wrap="square" lIns="0" rIns="0" tIns="0" bIns="0" anchor="t">
            <a:spAutoFit/>
          </a:bodyPr>
          <a:lstStyle/>
          <a:p>
            <a:pPr algn="l">
              <a:lnSpc>
                <a:spcPct val="100000"/>
              </a:lnSpc>
              <a:defRPr sz="1050" b="0">
                <a:solidFill>
                  <a:srgbClr val="A1A1AA"/>
                </a:solidFill>
                <a:latin typeface="Inter"/>
              </a:defRPr>
            </a:pPr>
            <a:r>
              <a:t>The hardest risks are often invisible before the first code change.</a:t>
            </a:r>
          </a:p>
        </p:txBody>
      </p:sp>
      <p:cxnSp>
        <p:nvCxnSpPr>
          <p:cNvPr id="14" name="Connector 13"/>
          <p:cNvCxnSpPr/>
          <p:nvPr/>
        </p:nvCxnSpPr>
        <p:spPr>
          <a:xfrm>
            <a:off x="502920" y="6473952"/>
            <a:ext cx="11183112" cy="0"/>
          </a:xfrm>
          <a:prstGeom prst="line">
            <a:avLst/>
          </a:prstGeom>
          <a:ln w="6985">
            <a:solidFill>
              <a:srgbClr val="202024"/>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48640" y="6565392"/>
            <a:ext cx="7909560" cy="164592"/>
          </a:xfrm>
          <a:prstGeom prst="rect">
            <a:avLst/>
          </a:prstGeom>
          <a:noFill/>
        </p:spPr>
        <p:txBody>
          <a:bodyPr wrap="square" lIns="0" rIns="0" tIns="0" bIns="0" anchor="t">
            <a:spAutoFit/>
          </a:bodyPr>
          <a:lstStyle/>
          <a:p>
            <a:pPr algn="l">
              <a:lnSpc>
                <a:spcPct val="100000"/>
              </a:lnSpc>
              <a:defRPr sz="630" b="0">
                <a:solidFill>
                  <a:srgbClr val="71717A"/>
                </a:solidFill>
                <a:latin typeface="Inter"/>
              </a:defRPr>
            </a:pPr>
            <a:r>
              <a:t>Qualitative problem framing • no measured statistics claimed</a:t>
            </a:r>
          </a:p>
        </p:txBody>
      </p:sp>
      <p:sp>
        <p:nvSpPr>
          <p:cNvPr id="16" name="TextBox 15"/>
          <p:cNvSpPr txBox="1"/>
          <p:nvPr/>
        </p:nvSpPr>
        <p:spPr>
          <a:xfrm>
            <a:off x="8732520" y="6565392"/>
            <a:ext cx="2926080" cy="164592"/>
          </a:xfrm>
          <a:prstGeom prst="rect">
            <a:avLst/>
          </a:prstGeom>
          <a:noFill/>
        </p:spPr>
        <p:txBody>
          <a:bodyPr wrap="square" lIns="0" rIns="0" tIns="0" bIns="0" anchor="t">
            <a:spAutoFit/>
          </a:bodyPr>
          <a:lstStyle/>
          <a:p>
            <a:pPr algn="r">
              <a:lnSpc>
                <a:spcPct val="100000"/>
              </a:lnSpc>
              <a:defRPr sz="610" b="0">
                <a:solidFill>
                  <a:srgbClr val="71717A"/>
                </a:solidFill>
                <a:latin typeface="Inter"/>
              </a:defRPr>
            </a:pPr>
            <a:r>
              <a:t>PROPOSED PRODUCT • HACKATHON PRESENTATION</a:t>
            </a:r>
          </a:p>
        </p:txBody>
      </p:sp>
      <p:sp>
        <p:nvSpPr>
          <p:cNvPr id="17" name="Rounded Rectangle 16"/>
          <p:cNvSpPr/>
          <p:nvPr/>
        </p:nvSpPr>
        <p:spPr>
          <a:xfrm>
            <a:off x="548640" y="1947672"/>
            <a:ext cx="5669280" cy="3502152"/>
          </a:xfrm>
          <a:prstGeom prst="roundRect">
            <a:avLst>
              <a:gd name="adj" fmla="val 8000"/>
            </a:avLst>
          </a:prstGeom>
          <a:solidFill>
            <a:srgbClr val="111114"/>
          </a:solidFill>
          <a:ln w="9525">
            <a:solidFill>
              <a:srgbClr val="2B2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a:off x="548640" y="2295144"/>
            <a:ext cx="5669280" cy="0"/>
          </a:xfrm>
          <a:prstGeom prst="line">
            <a:avLst/>
          </a:prstGeom>
          <a:ln w="7620">
            <a:solidFill>
              <a:srgbClr val="2B2B33"/>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704088" y="2084831"/>
            <a:ext cx="64008" cy="64008"/>
          </a:xfrm>
          <a:prstGeom prst="ellipse">
            <a:avLst/>
          </a:prstGeom>
          <a:solidFill>
            <a:srgbClr val="FB71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50392" y="2084831"/>
            <a:ext cx="64008" cy="64008"/>
          </a:xfrm>
          <a:prstGeom prst="ellipse">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96696" y="2084831"/>
            <a:ext cx="64008" cy="64008"/>
          </a:xfrm>
          <a:prstGeom prst="ellipse">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70432" y="2048255"/>
            <a:ext cx="3840480" cy="164592"/>
          </a:xfrm>
          <a:prstGeom prst="rect">
            <a:avLst/>
          </a:prstGeom>
          <a:noFill/>
        </p:spPr>
        <p:txBody>
          <a:bodyPr wrap="square" lIns="0" rIns="0" tIns="0" bIns="0" anchor="t">
            <a:spAutoFit/>
          </a:bodyPr>
          <a:lstStyle/>
          <a:p>
            <a:pPr algn="l">
              <a:lnSpc>
                <a:spcPct val="100000"/>
              </a:lnSpc>
              <a:defRPr sz="720" b="0">
                <a:solidFill>
                  <a:srgbClr val="71717A"/>
                </a:solidFill>
                <a:latin typeface="Liberation Mono"/>
              </a:defRPr>
            </a:pPr>
            <a:r>
              <a:t>legacy-order-platform / system-map</a:t>
            </a:r>
          </a:p>
        </p:txBody>
      </p:sp>
      <p:sp>
        <p:nvSpPr>
          <p:cNvPr id="23" name="Rounded Rectangle 22"/>
          <p:cNvSpPr/>
          <p:nvPr/>
        </p:nvSpPr>
        <p:spPr>
          <a:xfrm>
            <a:off x="4892040" y="2016252"/>
            <a:ext cx="1143000" cy="210312"/>
          </a:xfrm>
          <a:prstGeom prst="roundRect">
            <a:avLst>
              <a:gd name="adj" fmla="val 8000"/>
            </a:avLst>
          </a:prstGeom>
          <a:solidFill>
            <a:srgbClr val="211B35"/>
          </a:solidFill>
          <a:ln w="7620">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928616" y="2025395"/>
            <a:ext cx="1069848" cy="192024"/>
          </a:xfrm>
          <a:prstGeom prst="rect">
            <a:avLst/>
          </a:prstGeom>
          <a:noFill/>
        </p:spPr>
        <p:txBody>
          <a:bodyPr wrap="square" lIns="0" rIns="0" tIns="0" bIns="0" anchor="ctr">
            <a:spAutoFit/>
          </a:bodyPr>
          <a:lstStyle/>
          <a:p>
            <a:pPr algn="ctr">
              <a:lnSpc>
                <a:spcPct val="100000"/>
              </a:lnSpc>
              <a:defRPr sz="620" b="1">
                <a:solidFill>
                  <a:srgbClr val="A78BFA"/>
                </a:solidFill>
                <a:latin typeface="Inter"/>
              </a:defRPr>
            </a:pPr>
            <a:r>
              <a:t>ILLUSTRATIVE</a:t>
            </a:r>
          </a:p>
        </p:txBody>
      </p:sp>
      <p:sp>
        <p:nvSpPr>
          <p:cNvPr id="25" name="Rounded Rectangle 24"/>
          <p:cNvSpPr/>
          <p:nvPr/>
        </p:nvSpPr>
        <p:spPr>
          <a:xfrm>
            <a:off x="868680" y="2651760"/>
            <a:ext cx="1234440" cy="621792"/>
          </a:xfrm>
          <a:prstGeom prst="roundRect">
            <a:avLst>
              <a:gd name="adj" fmla="val 8000"/>
            </a:avLst>
          </a:prstGeom>
          <a:solidFill>
            <a:srgbClr val="202024"/>
          </a:solidFill>
          <a:ln w="9525">
            <a:solidFill>
              <a:srgbClr val="3838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8680" y="2651760"/>
            <a:ext cx="1234440" cy="621792"/>
          </a:xfrm>
          <a:prstGeom prst="rect">
            <a:avLst/>
          </a:prstGeom>
          <a:noFill/>
        </p:spPr>
        <p:txBody>
          <a:bodyPr wrap="square" lIns="0" rIns="0" tIns="0" bIns="0" anchor="ctr">
            <a:spAutoFit/>
          </a:bodyPr>
          <a:lstStyle/>
          <a:p>
            <a:pPr algn="ctr">
              <a:lnSpc>
                <a:spcPct val="100000"/>
              </a:lnSpc>
              <a:defRPr sz="800" b="1">
                <a:solidFill>
                  <a:srgbClr val="E4E4E7"/>
                </a:solidFill>
                <a:latin typeface="Inter"/>
              </a:defRPr>
            </a:pPr>
            <a:r>
              <a:t>WEB UI</a:t>
            </a:r>
          </a:p>
        </p:txBody>
      </p:sp>
      <p:sp>
        <p:nvSpPr>
          <p:cNvPr id="27" name="Rounded Rectangle 26"/>
          <p:cNvSpPr/>
          <p:nvPr/>
        </p:nvSpPr>
        <p:spPr>
          <a:xfrm>
            <a:off x="2743200" y="2487168"/>
            <a:ext cx="1234440" cy="621792"/>
          </a:xfrm>
          <a:prstGeom prst="roundRect">
            <a:avLst>
              <a:gd name="adj" fmla="val 8000"/>
            </a:avLst>
          </a:prstGeom>
          <a:solidFill>
            <a:srgbClr val="202024"/>
          </a:solidFill>
          <a:ln w="9525">
            <a:solidFill>
              <a:srgbClr val="3838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743200" y="2487168"/>
            <a:ext cx="1234440" cy="621792"/>
          </a:xfrm>
          <a:prstGeom prst="rect">
            <a:avLst/>
          </a:prstGeom>
          <a:noFill/>
        </p:spPr>
        <p:txBody>
          <a:bodyPr wrap="square" lIns="0" rIns="0" tIns="0" bIns="0" anchor="ctr">
            <a:spAutoFit/>
          </a:bodyPr>
          <a:lstStyle/>
          <a:p>
            <a:pPr algn="ctr">
              <a:lnSpc>
                <a:spcPct val="100000"/>
              </a:lnSpc>
              <a:defRPr sz="800" b="1">
                <a:solidFill>
                  <a:srgbClr val="E4E4E7"/>
                </a:solidFill>
                <a:latin typeface="Inter"/>
              </a:defRPr>
            </a:pPr>
            <a:r>
              <a:t>ORDER API</a:t>
            </a:r>
          </a:p>
        </p:txBody>
      </p:sp>
      <p:sp>
        <p:nvSpPr>
          <p:cNvPr id="29" name="Rounded Rectangle 28"/>
          <p:cNvSpPr/>
          <p:nvPr/>
        </p:nvSpPr>
        <p:spPr>
          <a:xfrm>
            <a:off x="4480560" y="2834640"/>
            <a:ext cx="1234440" cy="621792"/>
          </a:xfrm>
          <a:prstGeom prst="roundRect">
            <a:avLst>
              <a:gd name="adj" fmla="val 8000"/>
            </a:avLst>
          </a:prstGeom>
          <a:solidFill>
            <a:srgbClr val="202024"/>
          </a:solidFill>
          <a:ln w="9525">
            <a:solidFill>
              <a:srgbClr val="3838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480560" y="2834640"/>
            <a:ext cx="1234440" cy="621792"/>
          </a:xfrm>
          <a:prstGeom prst="rect">
            <a:avLst/>
          </a:prstGeom>
          <a:noFill/>
        </p:spPr>
        <p:txBody>
          <a:bodyPr wrap="square" lIns="0" rIns="0" tIns="0" bIns="0" anchor="ctr">
            <a:spAutoFit/>
          </a:bodyPr>
          <a:lstStyle/>
          <a:p>
            <a:pPr algn="ctr">
              <a:lnSpc>
                <a:spcPct val="100000"/>
              </a:lnSpc>
              <a:defRPr sz="800" b="1">
                <a:solidFill>
                  <a:srgbClr val="E4E4E7"/>
                </a:solidFill>
                <a:latin typeface="Inter"/>
              </a:defRPr>
            </a:pPr>
            <a:r>
              <a:t>INVENTORY</a:t>
            </a:r>
          </a:p>
        </p:txBody>
      </p:sp>
      <p:sp>
        <p:nvSpPr>
          <p:cNvPr id="31" name="Rounded Rectangle 30"/>
          <p:cNvSpPr/>
          <p:nvPr/>
        </p:nvSpPr>
        <p:spPr>
          <a:xfrm>
            <a:off x="1170432" y="3977639"/>
            <a:ext cx="1234440" cy="621792"/>
          </a:xfrm>
          <a:prstGeom prst="roundRect">
            <a:avLst>
              <a:gd name="adj" fmla="val 8000"/>
            </a:avLst>
          </a:prstGeom>
          <a:solidFill>
            <a:srgbClr val="202024"/>
          </a:solidFill>
          <a:ln w="9525">
            <a:solidFill>
              <a:srgbClr val="3838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170432" y="3977639"/>
            <a:ext cx="1234440" cy="621792"/>
          </a:xfrm>
          <a:prstGeom prst="rect">
            <a:avLst/>
          </a:prstGeom>
          <a:noFill/>
        </p:spPr>
        <p:txBody>
          <a:bodyPr wrap="square" lIns="0" rIns="0" tIns="0" bIns="0" anchor="ctr">
            <a:spAutoFit/>
          </a:bodyPr>
          <a:lstStyle/>
          <a:p>
            <a:pPr algn="ctr">
              <a:lnSpc>
                <a:spcPct val="100000"/>
              </a:lnSpc>
              <a:defRPr sz="800" b="1">
                <a:solidFill>
                  <a:srgbClr val="E4E4E7"/>
                </a:solidFill>
                <a:latin typeface="Inter"/>
              </a:defRPr>
            </a:pPr>
            <a:r>
              <a:t>BILLING</a:t>
            </a:r>
          </a:p>
        </p:txBody>
      </p:sp>
      <p:sp>
        <p:nvSpPr>
          <p:cNvPr id="33" name="Rounded Rectangle 32"/>
          <p:cNvSpPr/>
          <p:nvPr/>
        </p:nvSpPr>
        <p:spPr>
          <a:xfrm>
            <a:off x="3072384" y="3749039"/>
            <a:ext cx="1234440" cy="621792"/>
          </a:xfrm>
          <a:prstGeom prst="roundRect">
            <a:avLst>
              <a:gd name="adj" fmla="val 8000"/>
            </a:avLst>
          </a:prstGeom>
          <a:solidFill>
            <a:srgbClr val="202024"/>
          </a:solidFill>
          <a:ln w="9525">
            <a:solidFill>
              <a:srgbClr val="3838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072384" y="3749039"/>
            <a:ext cx="1234440" cy="621792"/>
          </a:xfrm>
          <a:prstGeom prst="rect">
            <a:avLst/>
          </a:prstGeom>
          <a:noFill/>
        </p:spPr>
        <p:txBody>
          <a:bodyPr wrap="square" lIns="0" rIns="0" tIns="0" bIns="0" anchor="ctr">
            <a:spAutoFit/>
          </a:bodyPr>
          <a:lstStyle/>
          <a:p>
            <a:pPr algn="ctr">
              <a:lnSpc>
                <a:spcPct val="100000"/>
              </a:lnSpc>
              <a:defRPr sz="800" b="1">
                <a:solidFill>
                  <a:srgbClr val="E4E4E7"/>
                </a:solidFill>
                <a:latin typeface="Inter"/>
              </a:defRPr>
            </a:pPr>
            <a:r>
              <a:t>CUSTOMER</a:t>
            </a:r>
          </a:p>
        </p:txBody>
      </p:sp>
      <p:sp>
        <p:nvSpPr>
          <p:cNvPr id="35" name="Rounded Rectangle 34"/>
          <p:cNvSpPr/>
          <p:nvPr/>
        </p:nvSpPr>
        <p:spPr>
          <a:xfrm>
            <a:off x="4572000" y="4160520"/>
            <a:ext cx="1234440" cy="621792"/>
          </a:xfrm>
          <a:prstGeom prst="roundRect">
            <a:avLst>
              <a:gd name="adj" fmla="val 8000"/>
            </a:avLst>
          </a:prstGeom>
          <a:solidFill>
            <a:srgbClr val="202024"/>
          </a:solidFill>
          <a:ln w="9525">
            <a:solidFill>
              <a:srgbClr val="3838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72000" y="4160520"/>
            <a:ext cx="1234440" cy="621792"/>
          </a:xfrm>
          <a:prstGeom prst="rect">
            <a:avLst/>
          </a:prstGeom>
          <a:noFill/>
        </p:spPr>
        <p:txBody>
          <a:bodyPr wrap="square" lIns="0" rIns="0" tIns="0" bIns="0" anchor="ctr">
            <a:spAutoFit/>
          </a:bodyPr>
          <a:lstStyle/>
          <a:p>
            <a:pPr algn="ctr">
              <a:lnSpc>
                <a:spcPct val="100000"/>
              </a:lnSpc>
              <a:defRPr sz="800" b="1">
                <a:solidFill>
                  <a:srgbClr val="E4E4E7"/>
                </a:solidFill>
                <a:latin typeface="Inter"/>
              </a:defRPr>
            </a:pPr>
            <a:r>
              <a:t>SHARED DB</a:t>
            </a:r>
          </a:p>
        </p:txBody>
      </p:sp>
      <p:cxnSp>
        <p:nvCxnSpPr>
          <p:cNvPr id="37" name="Connector 36"/>
          <p:cNvCxnSpPr/>
          <p:nvPr/>
        </p:nvCxnSpPr>
        <p:spPr>
          <a:xfrm flipV="1">
            <a:off x="1481328" y="2798064"/>
            <a:ext cx="1874520" cy="164592"/>
          </a:xfrm>
          <a:prstGeom prst="line">
            <a:avLst/>
          </a:prstGeom>
          <a:ln w="11430">
            <a:solidFill>
              <a:srgbClr val="383842"/>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3355848" y="2798064"/>
            <a:ext cx="1737360" cy="347472"/>
          </a:xfrm>
          <a:prstGeom prst="line">
            <a:avLst/>
          </a:prstGeom>
          <a:ln w="11430">
            <a:solidFill>
              <a:srgbClr val="FBBF24"/>
            </a:solidFill>
            <a:prstDash val="dash"/>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1481328" y="2962656"/>
            <a:ext cx="301752" cy="1325880"/>
          </a:xfrm>
          <a:prstGeom prst="line">
            <a:avLst/>
          </a:prstGeom>
          <a:ln w="11430">
            <a:solidFill>
              <a:srgbClr val="FBBF24"/>
            </a:solidFill>
            <a:prstDash val="dash"/>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3355848" y="2798064"/>
            <a:ext cx="329184" cy="1261871"/>
          </a:xfrm>
          <a:prstGeom prst="line">
            <a:avLst/>
          </a:prstGeom>
          <a:ln w="11430">
            <a:solidFill>
              <a:srgbClr val="383842"/>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a:off x="3685032" y="3145536"/>
            <a:ext cx="1408176" cy="914399"/>
          </a:xfrm>
          <a:prstGeom prst="line">
            <a:avLst/>
          </a:prstGeom>
          <a:ln w="11430">
            <a:solidFill>
              <a:srgbClr val="FBBF24"/>
            </a:solidFill>
            <a:prstDash val="dash"/>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1783080" y="4059935"/>
            <a:ext cx="1901952" cy="228601"/>
          </a:xfrm>
          <a:prstGeom prst="line">
            <a:avLst/>
          </a:prstGeom>
          <a:ln w="11430">
            <a:solidFill>
              <a:srgbClr val="383842"/>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3685032" y="4059935"/>
            <a:ext cx="1499616" cy="411481"/>
          </a:xfrm>
          <a:prstGeom prst="line">
            <a:avLst/>
          </a:prstGeom>
          <a:ln w="11430">
            <a:solidFill>
              <a:srgbClr val="FBBF24"/>
            </a:solidFill>
            <a:prstDash val="dash"/>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a:off x="1783080" y="2798064"/>
            <a:ext cx="1572768" cy="1490472"/>
          </a:xfrm>
          <a:prstGeom prst="line">
            <a:avLst/>
          </a:prstGeom>
          <a:ln w="11430">
            <a:solidFill>
              <a:srgbClr val="383842"/>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5093208" y="3145536"/>
            <a:ext cx="91440" cy="1325880"/>
          </a:xfrm>
          <a:prstGeom prst="line">
            <a:avLst/>
          </a:prstGeom>
          <a:ln w="11430">
            <a:solidFill>
              <a:srgbClr val="383842"/>
            </a:solidFill>
          </a:ln>
        </p:spPr>
        <p:style>
          <a:lnRef idx="2">
            <a:schemeClr val="accent1"/>
          </a:lnRef>
          <a:fillRef idx="0">
            <a:schemeClr val="accent1"/>
          </a:fillRef>
          <a:effectRef idx="1">
            <a:schemeClr val="accent1"/>
          </a:effectRef>
          <a:fontRef idx="minor">
            <a:schemeClr val="tx1"/>
          </a:fontRef>
        </p:style>
      </p:cxnSp>
      <p:sp>
        <p:nvSpPr>
          <p:cNvPr id="46" name="Rounded Rectangle 45"/>
          <p:cNvSpPr/>
          <p:nvPr/>
        </p:nvSpPr>
        <p:spPr>
          <a:xfrm>
            <a:off x="914400" y="4983480"/>
            <a:ext cx="1417320" cy="237744"/>
          </a:xfrm>
          <a:prstGeom prst="roundRect">
            <a:avLst>
              <a:gd name="adj" fmla="val 8000"/>
            </a:avLst>
          </a:prstGeom>
          <a:solidFill>
            <a:srgbClr val="2B2210"/>
          </a:solidFill>
          <a:ln w="7620">
            <a:solidFill>
              <a:srgbClr val="2B221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50976" y="4992624"/>
            <a:ext cx="1344168" cy="219456"/>
          </a:xfrm>
          <a:prstGeom prst="rect">
            <a:avLst/>
          </a:prstGeom>
          <a:noFill/>
        </p:spPr>
        <p:txBody>
          <a:bodyPr wrap="square" lIns="0" rIns="0" tIns="0" bIns="0" anchor="ctr">
            <a:spAutoFit/>
          </a:bodyPr>
          <a:lstStyle/>
          <a:p>
            <a:pPr algn="ctr">
              <a:lnSpc>
                <a:spcPct val="100000"/>
              </a:lnSpc>
              <a:defRPr sz="630" b="1">
                <a:solidFill>
                  <a:srgbClr val="FBBF24"/>
                </a:solidFill>
                <a:latin typeface="Inter"/>
              </a:defRPr>
            </a:pPr>
            <a:r>
              <a:t>UNDOCUMENTED RULE</a:t>
            </a:r>
          </a:p>
        </p:txBody>
      </p:sp>
      <p:sp>
        <p:nvSpPr>
          <p:cNvPr id="48" name="Rounded Rectangle 47"/>
          <p:cNvSpPr/>
          <p:nvPr/>
        </p:nvSpPr>
        <p:spPr>
          <a:xfrm>
            <a:off x="2560320" y="4983480"/>
            <a:ext cx="1325880" cy="237744"/>
          </a:xfrm>
          <a:prstGeom prst="roundRect">
            <a:avLst>
              <a:gd name="adj" fmla="val 8000"/>
            </a:avLst>
          </a:prstGeom>
          <a:solidFill>
            <a:srgbClr val="30151C"/>
          </a:solidFill>
          <a:ln w="7620">
            <a:solidFill>
              <a:srgbClr val="3015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596896" y="4992624"/>
            <a:ext cx="1252728" cy="219456"/>
          </a:xfrm>
          <a:prstGeom prst="rect">
            <a:avLst/>
          </a:prstGeom>
          <a:noFill/>
        </p:spPr>
        <p:txBody>
          <a:bodyPr wrap="square" lIns="0" rIns="0" tIns="0" bIns="0" anchor="ctr">
            <a:spAutoFit/>
          </a:bodyPr>
          <a:lstStyle/>
          <a:p>
            <a:pPr algn="ctr">
              <a:lnSpc>
                <a:spcPct val="100000"/>
              </a:lnSpc>
              <a:defRPr sz="630" b="1">
                <a:solidFill>
                  <a:srgbClr val="FB7185"/>
                </a:solidFill>
                <a:latin typeface="Inter"/>
              </a:defRPr>
            </a:pPr>
            <a:r>
              <a:t>HIDDEN COUPLING</a:t>
            </a:r>
          </a:p>
        </p:txBody>
      </p:sp>
      <p:sp>
        <p:nvSpPr>
          <p:cNvPr id="50" name="Rounded Rectangle 49"/>
          <p:cNvSpPr/>
          <p:nvPr/>
        </p:nvSpPr>
        <p:spPr>
          <a:xfrm>
            <a:off x="4133087" y="4983480"/>
            <a:ext cx="1143000" cy="237744"/>
          </a:xfrm>
          <a:prstGeom prst="roundRect">
            <a:avLst>
              <a:gd name="adj" fmla="val 8000"/>
            </a:avLst>
          </a:prstGeom>
          <a:solidFill>
            <a:srgbClr val="202024"/>
          </a:solidFill>
          <a:ln w="7620">
            <a:solidFill>
              <a:srgbClr val="3838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169663" y="4992624"/>
            <a:ext cx="1069848" cy="219456"/>
          </a:xfrm>
          <a:prstGeom prst="rect">
            <a:avLst/>
          </a:prstGeom>
          <a:noFill/>
        </p:spPr>
        <p:txBody>
          <a:bodyPr wrap="square" lIns="0" rIns="0" tIns="0" bIns="0" anchor="ctr">
            <a:spAutoFit/>
          </a:bodyPr>
          <a:lstStyle/>
          <a:p>
            <a:pPr algn="ctr">
              <a:lnSpc>
                <a:spcPct val="100000"/>
              </a:lnSpc>
              <a:defRPr sz="630" b="1">
                <a:solidFill>
                  <a:srgbClr val="A1A1AA"/>
                </a:solidFill>
                <a:latin typeface="Inter"/>
              </a:defRPr>
            </a:pPr>
            <a:r>
              <a:t>SHARED DATA</a:t>
            </a:r>
          </a:p>
        </p:txBody>
      </p:sp>
      <p:sp>
        <p:nvSpPr>
          <p:cNvPr id="52" name="TextBox 51"/>
          <p:cNvSpPr txBox="1"/>
          <p:nvPr/>
        </p:nvSpPr>
        <p:spPr>
          <a:xfrm>
            <a:off x="868680" y="5285232"/>
            <a:ext cx="4937760" cy="201168"/>
          </a:xfrm>
          <a:prstGeom prst="rect">
            <a:avLst/>
          </a:prstGeom>
          <a:noFill/>
        </p:spPr>
        <p:txBody>
          <a:bodyPr wrap="square" lIns="0" rIns="0" tIns="0" bIns="0" anchor="t">
            <a:spAutoFit/>
          </a:bodyPr>
          <a:lstStyle/>
          <a:p>
            <a:pPr algn="l">
              <a:lnSpc>
                <a:spcPct val="100000"/>
              </a:lnSpc>
              <a:defRPr sz="800" b="0">
                <a:solidFill>
                  <a:srgbClr val="A1A1AA"/>
                </a:solidFill>
                <a:latin typeface="Inter"/>
              </a:defRPr>
            </a:pPr>
            <a:r>
              <a:t>A change can compile successfully and still alter a business outcome.</a:t>
            </a:r>
          </a:p>
        </p:txBody>
      </p:sp>
      <p:sp>
        <p:nvSpPr>
          <p:cNvPr id="53" name="Rounded Rectangle 52"/>
          <p:cNvSpPr/>
          <p:nvPr/>
        </p:nvSpPr>
        <p:spPr>
          <a:xfrm>
            <a:off x="6492240" y="1947672"/>
            <a:ext cx="5148072" cy="758952"/>
          </a:xfrm>
          <a:prstGeom prst="roundRect">
            <a:avLst>
              <a:gd name="adj" fmla="val 8000"/>
            </a:avLst>
          </a:prstGeom>
          <a:solidFill>
            <a:srgbClr val="111114"/>
          </a:solidFill>
          <a:ln w="9525">
            <a:solidFill>
              <a:srgbClr val="2B2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6675120" y="2139696"/>
            <a:ext cx="347472" cy="347472"/>
          </a:xfrm>
          <a:prstGeom prst="roundRect">
            <a:avLst>
              <a:gd name="adj" fmla="val 8000"/>
            </a:avLst>
          </a:prstGeom>
          <a:solidFill>
            <a:srgbClr val="211B35"/>
          </a:solidFill>
          <a:ln w="7620">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675120" y="2139696"/>
            <a:ext cx="347472" cy="347472"/>
          </a:xfrm>
          <a:prstGeom prst="rect">
            <a:avLst/>
          </a:prstGeom>
          <a:noFill/>
        </p:spPr>
        <p:txBody>
          <a:bodyPr wrap="square" lIns="0" rIns="0" tIns="0" bIns="0" anchor="ctr">
            <a:spAutoFit/>
          </a:bodyPr>
          <a:lstStyle/>
          <a:p>
            <a:pPr algn="ctr">
              <a:lnSpc>
                <a:spcPct val="100000"/>
              </a:lnSpc>
              <a:defRPr sz="700" b="1">
                <a:solidFill>
                  <a:srgbClr val="A78BFA"/>
                </a:solidFill>
                <a:latin typeface="Inter"/>
              </a:defRPr>
            </a:pPr>
            <a:r>
              <a:t>01</a:t>
            </a:r>
          </a:p>
        </p:txBody>
      </p:sp>
      <p:sp>
        <p:nvSpPr>
          <p:cNvPr id="56" name="TextBox 55"/>
          <p:cNvSpPr txBox="1"/>
          <p:nvPr/>
        </p:nvSpPr>
        <p:spPr>
          <a:xfrm>
            <a:off x="7178040" y="2066543"/>
            <a:ext cx="4114800" cy="219456"/>
          </a:xfrm>
          <a:prstGeom prst="rect">
            <a:avLst/>
          </a:prstGeom>
          <a:noFill/>
        </p:spPr>
        <p:txBody>
          <a:bodyPr wrap="square" lIns="0" rIns="0" tIns="0" bIns="0" anchor="t">
            <a:spAutoFit/>
          </a:bodyPr>
          <a:lstStyle/>
          <a:p>
            <a:pPr algn="l">
              <a:lnSpc>
                <a:spcPct val="100000"/>
              </a:lnSpc>
              <a:defRPr sz="1100" b="1">
                <a:solidFill>
                  <a:srgbClr val="E4E4E7"/>
                </a:solidFill>
                <a:latin typeface="Inter"/>
              </a:defRPr>
            </a:pPr>
            <a:r>
              <a:t>Undocumented business logic</a:t>
            </a:r>
          </a:p>
        </p:txBody>
      </p:sp>
      <p:sp>
        <p:nvSpPr>
          <p:cNvPr id="57" name="TextBox 56"/>
          <p:cNvSpPr txBox="1"/>
          <p:nvPr/>
        </p:nvSpPr>
        <p:spPr>
          <a:xfrm>
            <a:off x="7178040" y="2322576"/>
            <a:ext cx="4160520" cy="301752"/>
          </a:xfrm>
          <a:prstGeom prst="rect">
            <a:avLst/>
          </a:prstGeom>
          <a:noFill/>
        </p:spPr>
        <p:txBody>
          <a:bodyPr wrap="square" lIns="0" rIns="0" tIns="0" bIns="0" anchor="t">
            <a:spAutoFit/>
          </a:bodyPr>
          <a:lstStyle/>
          <a:p>
            <a:pPr algn="l">
              <a:lnSpc>
                <a:spcPct val="100000"/>
              </a:lnSpc>
              <a:defRPr sz="850" b="0">
                <a:solidFill>
                  <a:srgbClr val="A1A1AA"/>
                </a:solidFill>
                <a:latin typeface="Inter"/>
              </a:defRPr>
            </a:pPr>
            <a:r>
              <a:t>Rules live in code and institutional memory, not in usable documentation.</a:t>
            </a:r>
          </a:p>
        </p:txBody>
      </p:sp>
      <p:sp>
        <p:nvSpPr>
          <p:cNvPr id="58" name="Rounded Rectangle 57"/>
          <p:cNvSpPr/>
          <p:nvPr/>
        </p:nvSpPr>
        <p:spPr>
          <a:xfrm>
            <a:off x="6492240" y="2825496"/>
            <a:ext cx="5148072" cy="758952"/>
          </a:xfrm>
          <a:prstGeom prst="roundRect">
            <a:avLst>
              <a:gd name="adj" fmla="val 8000"/>
            </a:avLst>
          </a:prstGeom>
          <a:solidFill>
            <a:srgbClr val="111114"/>
          </a:solidFill>
          <a:ln w="9525">
            <a:solidFill>
              <a:srgbClr val="2B2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6675120" y="3017520"/>
            <a:ext cx="347472" cy="347472"/>
          </a:xfrm>
          <a:prstGeom prst="roundRect">
            <a:avLst>
              <a:gd name="adj" fmla="val 8000"/>
            </a:avLst>
          </a:prstGeom>
          <a:solidFill>
            <a:srgbClr val="211B35"/>
          </a:solidFill>
          <a:ln w="7620">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675120" y="3017520"/>
            <a:ext cx="347472" cy="347472"/>
          </a:xfrm>
          <a:prstGeom prst="rect">
            <a:avLst/>
          </a:prstGeom>
          <a:noFill/>
        </p:spPr>
        <p:txBody>
          <a:bodyPr wrap="square" lIns="0" rIns="0" tIns="0" bIns="0" anchor="ctr">
            <a:spAutoFit/>
          </a:bodyPr>
          <a:lstStyle/>
          <a:p>
            <a:pPr algn="ctr">
              <a:lnSpc>
                <a:spcPct val="100000"/>
              </a:lnSpc>
              <a:defRPr sz="700" b="1">
                <a:solidFill>
                  <a:srgbClr val="A78BFA"/>
                </a:solidFill>
                <a:latin typeface="Inter"/>
              </a:defRPr>
            </a:pPr>
            <a:r>
              <a:t>02</a:t>
            </a:r>
          </a:p>
        </p:txBody>
      </p:sp>
      <p:sp>
        <p:nvSpPr>
          <p:cNvPr id="61" name="TextBox 60"/>
          <p:cNvSpPr txBox="1"/>
          <p:nvPr/>
        </p:nvSpPr>
        <p:spPr>
          <a:xfrm>
            <a:off x="7178040" y="2944368"/>
            <a:ext cx="4114800" cy="219456"/>
          </a:xfrm>
          <a:prstGeom prst="rect">
            <a:avLst/>
          </a:prstGeom>
          <a:noFill/>
        </p:spPr>
        <p:txBody>
          <a:bodyPr wrap="square" lIns="0" rIns="0" tIns="0" bIns="0" anchor="t">
            <a:spAutoFit/>
          </a:bodyPr>
          <a:lstStyle/>
          <a:p>
            <a:pPr algn="l">
              <a:lnSpc>
                <a:spcPct val="100000"/>
              </a:lnSpc>
              <a:defRPr sz="1100" b="1">
                <a:solidFill>
                  <a:srgbClr val="E4E4E7"/>
                </a:solidFill>
                <a:latin typeface="Inter"/>
              </a:defRPr>
            </a:pPr>
            <a:r>
              <a:t>Hidden dependencies</a:t>
            </a:r>
          </a:p>
        </p:txBody>
      </p:sp>
      <p:sp>
        <p:nvSpPr>
          <p:cNvPr id="62" name="TextBox 61"/>
          <p:cNvSpPr txBox="1"/>
          <p:nvPr/>
        </p:nvSpPr>
        <p:spPr>
          <a:xfrm>
            <a:off x="7178040" y="3200400"/>
            <a:ext cx="4160520" cy="301752"/>
          </a:xfrm>
          <a:prstGeom prst="rect">
            <a:avLst/>
          </a:prstGeom>
          <a:noFill/>
        </p:spPr>
        <p:txBody>
          <a:bodyPr wrap="square" lIns="0" rIns="0" tIns="0" bIns="0" anchor="t">
            <a:spAutoFit/>
          </a:bodyPr>
          <a:lstStyle/>
          <a:p>
            <a:pPr algn="l">
              <a:lnSpc>
                <a:spcPct val="100000"/>
              </a:lnSpc>
              <a:defRPr sz="850" b="0">
                <a:solidFill>
                  <a:srgbClr val="A1A1AA"/>
                </a:solidFill>
                <a:latin typeface="Inter"/>
              </a:defRPr>
            </a:pPr>
            <a:r>
              <a:t>Unclear module and data relationships make every change harder to reason about.</a:t>
            </a:r>
          </a:p>
        </p:txBody>
      </p:sp>
      <p:sp>
        <p:nvSpPr>
          <p:cNvPr id="63" name="Rounded Rectangle 62"/>
          <p:cNvSpPr/>
          <p:nvPr/>
        </p:nvSpPr>
        <p:spPr>
          <a:xfrm>
            <a:off x="6492240" y="3703320"/>
            <a:ext cx="5148072" cy="758952"/>
          </a:xfrm>
          <a:prstGeom prst="roundRect">
            <a:avLst>
              <a:gd name="adj" fmla="val 8000"/>
            </a:avLst>
          </a:prstGeom>
          <a:solidFill>
            <a:srgbClr val="111114"/>
          </a:solidFill>
          <a:ln w="9525">
            <a:solidFill>
              <a:srgbClr val="2B2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6675120" y="3895344"/>
            <a:ext cx="347472" cy="347472"/>
          </a:xfrm>
          <a:prstGeom prst="roundRect">
            <a:avLst>
              <a:gd name="adj" fmla="val 8000"/>
            </a:avLst>
          </a:prstGeom>
          <a:solidFill>
            <a:srgbClr val="211B35"/>
          </a:solidFill>
          <a:ln w="7620">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675120" y="3895344"/>
            <a:ext cx="347472" cy="347472"/>
          </a:xfrm>
          <a:prstGeom prst="rect">
            <a:avLst/>
          </a:prstGeom>
          <a:noFill/>
        </p:spPr>
        <p:txBody>
          <a:bodyPr wrap="square" lIns="0" rIns="0" tIns="0" bIns="0" anchor="ctr">
            <a:spAutoFit/>
          </a:bodyPr>
          <a:lstStyle/>
          <a:p>
            <a:pPr algn="ctr">
              <a:lnSpc>
                <a:spcPct val="100000"/>
              </a:lnSpc>
              <a:defRPr sz="700" b="1">
                <a:solidFill>
                  <a:srgbClr val="A78BFA"/>
                </a:solidFill>
                <a:latin typeface="Inter"/>
              </a:defRPr>
            </a:pPr>
            <a:r>
              <a:t>03</a:t>
            </a:r>
          </a:p>
        </p:txBody>
      </p:sp>
      <p:sp>
        <p:nvSpPr>
          <p:cNvPr id="66" name="TextBox 65"/>
          <p:cNvSpPr txBox="1"/>
          <p:nvPr/>
        </p:nvSpPr>
        <p:spPr>
          <a:xfrm>
            <a:off x="7178040" y="3822191"/>
            <a:ext cx="4114800" cy="219456"/>
          </a:xfrm>
          <a:prstGeom prst="rect">
            <a:avLst/>
          </a:prstGeom>
          <a:noFill/>
        </p:spPr>
        <p:txBody>
          <a:bodyPr wrap="square" lIns="0" rIns="0" tIns="0" bIns="0" anchor="t">
            <a:spAutoFit/>
          </a:bodyPr>
          <a:lstStyle/>
          <a:p>
            <a:pPr algn="l">
              <a:lnSpc>
                <a:spcPct val="100000"/>
              </a:lnSpc>
              <a:defRPr sz="1100" b="1">
                <a:solidFill>
                  <a:srgbClr val="E4E4E7"/>
                </a:solidFill>
                <a:latin typeface="Inter"/>
              </a:defRPr>
            </a:pPr>
            <a:r>
              <a:t>Unclear service boundaries</a:t>
            </a:r>
          </a:p>
        </p:txBody>
      </p:sp>
      <p:sp>
        <p:nvSpPr>
          <p:cNvPr id="67" name="TextBox 66"/>
          <p:cNvSpPr txBox="1"/>
          <p:nvPr/>
        </p:nvSpPr>
        <p:spPr>
          <a:xfrm>
            <a:off x="7178040" y="4078224"/>
            <a:ext cx="4160520" cy="301752"/>
          </a:xfrm>
          <a:prstGeom prst="rect">
            <a:avLst/>
          </a:prstGeom>
          <a:noFill/>
        </p:spPr>
        <p:txBody>
          <a:bodyPr wrap="square" lIns="0" rIns="0" tIns="0" bIns="0" anchor="t">
            <a:spAutoFit/>
          </a:bodyPr>
          <a:lstStyle/>
          <a:p>
            <a:pPr algn="l">
              <a:lnSpc>
                <a:spcPct val="100000"/>
              </a:lnSpc>
              <a:defRPr sz="850" b="0">
                <a:solidFill>
                  <a:srgbClr val="A1A1AA"/>
                </a:solidFill>
                <a:latin typeface="Inter"/>
              </a:defRPr>
            </a:pPr>
            <a:r>
              <a:t>Splitting a monolith without business and data ownership creates new coupling.</a:t>
            </a:r>
          </a:p>
        </p:txBody>
      </p:sp>
      <p:sp>
        <p:nvSpPr>
          <p:cNvPr id="68" name="Rounded Rectangle 67"/>
          <p:cNvSpPr/>
          <p:nvPr/>
        </p:nvSpPr>
        <p:spPr>
          <a:xfrm>
            <a:off x="6492240" y="4581144"/>
            <a:ext cx="5148072" cy="758952"/>
          </a:xfrm>
          <a:prstGeom prst="roundRect">
            <a:avLst>
              <a:gd name="adj" fmla="val 8000"/>
            </a:avLst>
          </a:prstGeom>
          <a:solidFill>
            <a:srgbClr val="111114"/>
          </a:solidFill>
          <a:ln w="9525">
            <a:solidFill>
              <a:srgbClr val="2B2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ounded Rectangle 68"/>
          <p:cNvSpPr/>
          <p:nvPr/>
        </p:nvSpPr>
        <p:spPr>
          <a:xfrm>
            <a:off x="6675120" y="4773168"/>
            <a:ext cx="347472" cy="347472"/>
          </a:xfrm>
          <a:prstGeom prst="roundRect">
            <a:avLst>
              <a:gd name="adj" fmla="val 8000"/>
            </a:avLst>
          </a:prstGeom>
          <a:solidFill>
            <a:srgbClr val="211B35"/>
          </a:solidFill>
          <a:ln w="7620">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675120" y="4773168"/>
            <a:ext cx="347472" cy="347472"/>
          </a:xfrm>
          <a:prstGeom prst="rect">
            <a:avLst/>
          </a:prstGeom>
          <a:noFill/>
        </p:spPr>
        <p:txBody>
          <a:bodyPr wrap="square" lIns="0" rIns="0" tIns="0" bIns="0" anchor="ctr">
            <a:spAutoFit/>
          </a:bodyPr>
          <a:lstStyle/>
          <a:p>
            <a:pPr algn="ctr">
              <a:lnSpc>
                <a:spcPct val="100000"/>
              </a:lnSpc>
              <a:defRPr sz="700" b="1">
                <a:solidFill>
                  <a:srgbClr val="A78BFA"/>
                </a:solidFill>
                <a:latin typeface="Inter"/>
              </a:defRPr>
            </a:pPr>
            <a:r>
              <a:t>04</a:t>
            </a:r>
          </a:p>
        </p:txBody>
      </p:sp>
      <p:sp>
        <p:nvSpPr>
          <p:cNvPr id="71" name="TextBox 70"/>
          <p:cNvSpPr txBox="1"/>
          <p:nvPr/>
        </p:nvSpPr>
        <p:spPr>
          <a:xfrm>
            <a:off x="7178040" y="4700016"/>
            <a:ext cx="4114800" cy="219456"/>
          </a:xfrm>
          <a:prstGeom prst="rect">
            <a:avLst/>
          </a:prstGeom>
          <a:noFill/>
        </p:spPr>
        <p:txBody>
          <a:bodyPr wrap="square" lIns="0" rIns="0" tIns="0" bIns="0" anchor="t">
            <a:spAutoFit/>
          </a:bodyPr>
          <a:lstStyle/>
          <a:p>
            <a:pPr algn="l">
              <a:lnSpc>
                <a:spcPct val="100000"/>
              </a:lnSpc>
              <a:defRPr sz="1100" b="1">
                <a:solidFill>
                  <a:srgbClr val="E4E4E7"/>
                </a:solidFill>
                <a:latin typeface="Inter"/>
              </a:defRPr>
            </a:pPr>
            <a:r>
              <a:t>Behavioral regression risk</a:t>
            </a:r>
          </a:p>
        </p:txBody>
      </p:sp>
      <p:sp>
        <p:nvSpPr>
          <p:cNvPr id="72" name="TextBox 71"/>
          <p:cNvSpPr txBox="1"/>
          <p:nvPr/>
        </p:nvSpPr>
        <p:spPr>
          <a:xfrm>
            <a:off x="7178040" y="4956048"/>
            <a:ext cx="4160520" cy="301752"/>
          </a:xfrm>
          <a:prstGeom prst="rect">
            <a:avLst/>
          </a:prstGeom>
          <a:noFill/>
        </p:spPr>
        <p:txBody>
          <a:bodyPr wrap="square" lIns="0" rIns="0" tIns="0" bIns="0" anchor="t">
            <a:spAutoFit/>
          </a:bodyPr>
          <a:lstStyle/>
          <a:p>
            <a:pPr algn="l">
              <a:lnSpc>
                <a:spcPct val="100000"/>
              </a:lnSpc>
              <a:defRPr sz="850" b="0">
                <a:solidFill>
                  <a:srgbClr val="A1A1AA"/>
                </a:solidFill>
                <a:latin typeface="Inter"/>
              </a:defRPr>
            </a:pPr>
            <a:r>
              <a:t>A migrated implementation can build and deploy while changing important decisions.</a:t>
            </a:r>
          </a:p>
        </p:txBody>
      </p:sp>
      <p:sp>
        <p:nvSpPr>
          <p:cNvPr id="73" name="TextBox 72"/>
          <p:cNvSpPr txBox="1"/>
          <p:nvPr/>
        </p:nvSpPr>
        <p:spPr>
          <a:xfrm>
            <a:off x="594360" y="5641848"/>
            <a:ext cx="2377440" cy="201168"/>
          </a:xfrm>
          <a:prstGeom prst="rect">
            <a:avLst/>
          </a:prstGeom>
          <a:noFill/>
        </p:spPr>
        <p:txBody>
          <a:bodyPr wrap="square" lIns="0" rIns="0" tIns="0" bIns="0" anchor="t">
            <a:spAutoFit/>
          </a:bodyPr>
          <a:lstStyle/>
          <a:p>
            <a:pPr algn="l">
              <a:lnSpc>
                <a:spcPct val="100000"/>
              </a:lnSpc>
              <a:defRPr sz="700" b="1">
                <a:solidFill>
                  <a:srgbClr val="71717A"/>
                </a:solidFill>
                <a:latin typeface="Inter"/>
              </a:defRPr>
            </a:pPr>
            <a:r>
              <a:t>CONNECTED CONSEQUENCES</a:t>
            </a:r>
          </a:p>
        </p:txBody>
      </p:sp>
      <p:sp>
        <p:nvSpPr>
          <p:cNvPr id="74" name="Rounded Rectangle 73"/>
          <p:cNvSpPr/>
          <p:nvPr/>
        </p:nvSpPr>
        <p:spPr>
          <a:xfrm>
            <a:off x="594360" y="5897880"/>
            <a:ext cx="2578608" cy="393192"/>
          </a:xfrm>
          <a:prstGeom prst="roundRect">
            <a:avLst>
              <a:gd name="adj" fmla="val 8000"/>
            </a:avLst>
          </a:prstGeom>
          <a:solidFill>
            <a:srgbClr val="111114"/>
          </a:solidFill>
          <a:ln w="9525">
            <a:solidFill>
              <a:srgbClr val="2B2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704088" y="5971032"/>
            <a:ext cx="1783080" cy="164592"/>
          </a:xfrm>
          <a:prstGeom prst="rect">
            <a:avLst/>
          </a:prstGeom>
          <a:noFill/>
        </p:spPr>
        <p:txBody>
          <a:bodyPr wrap="square" lIns="0" rIns="0" tIns="0" bIns="0" anchor="t">
            <a:spAutoFit/>
          </a:bodyPr>
          <a:lstStyle/>
          <a:p>
            <a:pPr algn="l">
              <a:lnSpc>
                <a:spcPct val="100000"/>
              </a:lnSpc>
              <a:defRPr sz="680" b="1">
                <a:solidFill>
                  <a:srgbClr val="A1A1AA"/>
                </a:solidFill>
                <a:latin typeface="Inter"/>
              </a:defRPr>
            </a:pPr>
            <a:r>
              <a:t>MANUAL INVESTIGATION</a:t>
            </a:r>
          </a:p>
        </p:txBody>
      </p:sp>
      <p:sp>
        <p:nvSpPr>
          <p:cNvPr id="76" name="TextBox 75"/>
          <p:cNvSpPr txBox="1"/>
          <p:nvPr/>
        </p:nvSpPr>
        <p:spPr>
          <a:xfrm>
            <a:off x="2423160" y="5971032"/>
            <a:ext cx="594360" cy="164592"/>
          </a:xfrm>
          <a:prstGeom prst="rect">
            <a:avLst/>
          </a:prstGeom>
          <a:noFill/>
        </p:spPr>
        <p:txBody>
          <a:bodyPr wrap="square" lIns="0" rIns="0" tIns="0" bIns="0" anchor="t">
            <a:spAutoFit/>
          </a:bodyPr>
          <a:lstStyle/>
          <a:p>
            <a:pPr algn="r">
              <a:lnSpc>
                <a:spcPct val="100000"/>
              </a:lnSpc>
              <a:defRPr sz="680" b="0">
                <a:solidFill>
                  <a:srgbClr val="71717A"/>
                </a:solidFill>
                <a:latin typeface="Inter"/>
              </a:defRPr>
            </a:pPr>
            <a:r>
              <a:t>expensive</a:t>
            </a:r>
          </a:p>
        </p:txBody>
      </p:sp>
      <p:sp>
        <p:nvSpPr>
          <p:cNvPr id="77" name="Rounded Rectangle 76"/>
          <p:cNvSpPr/>
          <p:nvPr/>
        </p:nvSpPr>
        <p:spPr>
          <a:xfrm>
            <a:off x="3374136" y="5897880"/>
            <a:ext cx="2578608" cy="393192"/>
          </a:xfrm>
          <a:prstGeom prst="roundRect">
            <a:avLst>
              <a:gd name="adj" fmla="val 8000"/>
            </a:avLst>
          </a:prstGeom>
          <a:solidFill>
            <a:srgbClr val="111114"/>
          </a:solidFill>
          <a:ln w="9525">
            <a:solidFill>
              <a:srgbClr val="2B2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3483864" y="5971032"/>
            <a:ext cx="1783080" cy="164592"/>
          </a:xfrm>
          <a:prstGeom prst="rect">
            <a:avLst/>
          </a:prstGeom>
          <a:noFill/>
        </p:spPr>
        <p:txBody>
          <a:bodyPr wrap="square" lIns="0" rIns="0" tIns="0" bIns="0" anchor="t">
            <a:spAutoFit/>
          </a:bodyPr>
          <a:lstStyle/>
          <a:p>
            <a:pPr algn="l">
              <a:lnSpc>
                <a:spcPct val="100000"/>
              </a:lnSpc>
              <a:defRPr sz="680" b="1">
                <a:solidFill>
                  <a:srgbClr val="A1A1AA"/>
                </a:solidFill>
                <a:latin typeface="Inter"/>
              </a:defRPr>
            </a:pPr>
            <a:r>
              <a:t>SLOW MODERNIZATION</a:t>
            </a:r>
          </a:p>
        </p:txBody>
      </p:sp>
      <p:sp>
        <p:nvSpPr>
          <p:cNvPr id="79" name="TextBox 78"/>
          <p:cNvSpPr txBox="1"/>
          <p:nvPr/>
        </p:nvSpPr>
        <p:spPr>
          <a:xfrm>
            <a:off x="5202936" y="5971032"/>
            <a:ext cx="594360" cy="164592"/>
          </a:xfrm>
          <a:prstGeom prst="rect">
            <a:avLst/>
          </a:prstGeom>
          <a:noFill/>
        </p:spPr>
        <p:txBody>
          <a:bodyPr wrap="square" lIns="0" rIns="0" tIns="0" bIns="0" anchor="t">
            <a:spAutoFit/>
          </a:bodyPr>
          <a:lstStyle/>
          <a:p>
            <a:pPr algn="r">
              <a:lnSpc>
                <a:spcPct val="100000"/>
              </a:lnSpc>
              <a:defRPr sz="680" b="0">
                <a:solidFill>
                  <a:srgbClr val="71717A"/>
                </a:solidFill>
                <a:latin typeface="Inter"/>
              </a:defRPr>
            </a:pPr>
            <a:r>
              <a:t>delayed</a:t>
            </a:r>
          </a:p>
        </p:txBody>
      </p:sp>
      <p:sp>
        <p:nvSpPr>
          <p:cNvPr id="80" name="Rounded Rectangle 79"/>
          <p:cNvSpPr/>
          <p:nvPr/>
        </p:nvSpPr>
        <p:spPr>
          <a:xfrm>
            <a:off x="6153912" y="5897880"/>
            <a:ext cx="2578608" cy="393192"/>
          </a:xfrm>
          <a:prstGeom prst="roundRect">
            <a:avLst>
              <a:gd name="adj" fmla="val 8000"/>
            </a:avLst>
          </a:prstGeom>
          <a:solidFill>
            <a:srgbClr val="111114"/>
          </a:solidFill>
          <a:ln w="9525">
            <a:solidFill>
              <a:srgbClr val="2B2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6263640" y="5971032"/>
            <a:ext cx="1783080" cy="164592"/>
          </a:xfrm>
          <a:prstGeom prst="rect">
            <a:avLst/>
          </a:prstGeom>
          <a:noFill/>
        </p:spPr>
        <p:txBody>
          <a:bodyPr wrap="square" lIns="0" rIns="0" tIns="0" bIns="0" anchor="t">
            <a:spAutoFit/>
          </a:bodyPr>
          <a:lstStyle/>
          <a:p>
            <a:pPr algn="l">
              <a:lnSpc>
                <a:spcPct val="100000"/>
              </a:lnSpc>
              <a:defRPr sz="680" b="1">
                <a:solidFill>
                  <a:srgbClr val="A1A1AA"/>
                </a:solidFill>
                <a:latin typeface="Inter"/>
              </a:defRPr>
            </a:pPr>
            <a:r>
              <a:t>REGRESSION RISK</a:t>
            </a:r>
          </a:p>
        </p:txBody>
      </p:sp>
      <p:sp>
        <p:nvSpPr>
          <p:cNvPr id="82" name="TextBox 81"/>
          <p:cNvSpPr txBox="1"/>
          <p:nvPr/>
        </p:nvSpPr>
        <p:spPr>
          <a:xfrm>
            <a:off x="7982712" y="5971032"/>
            <a:ext cx="594360" cy="164592"/>
          </a:xfrm>
          <a:prstGeom prst="rect">
            <a:avLst/>
          </a:prstGeom>
          <a:noFill/>
        </p:spPr>
        <p:txBody>
          <a:bodyPr wrap="square" lIns="0" rIns="0" tIns="0" bIns="0" anchor="t">
            <a:spAutoFit/>
          </a:bodyPr>
          <a:lstStyle/>
          <a:p>
            <a:pPr algn="r">
              <a:lnSpc>
                <a:spcPct val="100000"/>
              </a:lnSpc>
              <a:defRPr sz="680" b="0">
                <a:solidFill>
                  <a:srgbClr val="71717A"/>
                </a:solidFill>
                <a:latin typeface="Inter"/>
              </a:defRPr>
            </a:pPr>
            <a:r>
              <a:t>behavioral</a:t>
            </a:r>
          </a:p>
        </p:txBody>
      </p:sp>
      <p:sp>
        <p:nvSpPr>
          <p:cNvPr id="83" name="Rounded Rectangle 82"/>
          <p:cNvSpPr/>
          <p:nvPr/>
        </p:nvSpPr>
        <p:spPr>
          <a:xfrm>
            <a:off x="8933688" y="5897880"/>
            <a:ext cx="2578608" cy="393192"/>
          </a:xfrm>
          <a:prstGeom prst="roundRect">
            <a:avLst>
              <a:gd name="adj" fmla="val 8000"/>
            </a:avLst>
          </a:prstGeom>
          <a:solidFill>
            <a:srgbClr val="111114"/>
          </a:solidFill>
          <a:ln w="9525">
            <a:solidFill>
              <a:srgbClr val="2B2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9043416" y="5971032"/>
            <a:ext cx="1783080" cy="164592"/>
          </a:xfrm>
          <a:prstGeom prst="rect">
            <a:avLst/>
          </a:prstGeom>
          <a:noFill/>
        </p:spPr>
        <p:txBody>
          <a:bodyPr wrap="square" lIns="0" rIns="0" tIns="0" bIns="0" anchor="t">
            <a:spAutoFit/>
          </a:bodyPr>
          <a:lstStyle/>
          <a:p>
            <a:pPr algn="l">
              <a:lnSpc>
                <a:spcPct val="100000"/>
              </a:lnSpc>
              <a:defRPr sz="680" b="1">
                <a:solidFill>
                  <a:srgbClr val="A1A1AA"/>
                </a:solidFill>
                <a:latin typeface="Inter"/>
              </a:defRPr>
            </a:pPr>
            <a:r>
              <a:t>KNOWLEDGE TRANSFER</a:t>
            </a:r>
          </a:p>
        </p:txBody>
      </p:sp>
      <p:sp>
        <p:nvSpPr>
          <p:cNvPr id="85" name="TextBox 84"/>
          <p:cNvSpPr txBox="1"/>
          <p:nvPr/>
        </p:nvSpPr>
        <p:spPr>
          <a:xfrm>
            <a:off x="10762488" y="5971032"/>
            <a:ext cx="594360" cy="164592"/>
          </a:xfrm>
          <a:prstGeom prst="rect">
            <a:avLst/>
          </a:prstGeom>
          <a:noFill/>
        </p:spPr>
        <p:txBody>
          <a:bodyPr wrap="square" lIns="0" rIns="0" tIns="0" bIns="0" anchor="t">
            <a:spAutoFit/>
          </a:bodyPr>
          <a:lstStyle/>
          <a:p>
            <a:pPr algn="r">
              <a:lnSpc>
                <a:spcPct val="100000"/>
              </a:lnSpc>
              <a:defRPr sz="680" b="0">
                <a:solidFill>
                  <a:srgbClr val="71717A"/>
                </a:solidFill>
                <a:latin typeface="Inter"/>
              </a:defRPr>
            </a:pPr>
            <a:r>
              <a:t>difficult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9090B"/>
        </a:solidFill>
        <a:effectLst/>
      </p:bgPr>
    </p:bg>
    <p:spTree>
      <p:nvGrpSpPr>
        <p:cNvPr id="1" name=""/>
        <p:cNvGrpSpPr/>
        <p:nvPr/>
      </p:nvGrpSpPr>
      <p:grpSpPr/>
      <p:cxnSp>
        <p:nvCxnSpPr>
          <p:cNvPr id="2" name="Connector 1"/>
          <p:cNvCxnSpPr/>
          <p:nvPr/>
        </p:nvCxnSpPr>
        <p:spPr>
          <a:xfrm>
            <a:off x="3044952" y="0"/>
            <a:ext cx="0" cy="6858000"/>
          </a:xfrm>
          <a:prstGeom prst="line">
            <a:avLst/>
          </a:prstGeom>
          <a:ln w="4445">
            <a:solidFill>
              <a:srgbClr val="111114"/>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6089904" y="0"/>
            <a:ext cx="0" cy="6858000"/>
          </a:xfrm>
          <a:prstGeom prst="line">
            <a:avLst/>
          </a:prstGeom>
          <a:ln w="4445">
            <a:solidFill>
              <a:srgbClr val="111114"/>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9134856" y="0"/>
            <a:ext cx="0" cy="6858000"/>
          </a:xfrm>
          <a:prstGeom prst="line">
            <a:avLst/>
          </a:prstGeom>
          <a:ln w="4445">
            <a:solidFill>
              <a:srgbClr val="111114"/>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02920" y="612648"/>
            <a:ext cx="11183112" cy="0"/>
          </a:xfrm>
          <a:prstGeom prst="line">
            <a:avLst/>
          </a:prstGeom>
          <a:ln w="6985">
            <a:solidFill>
              <a:srgbClr val="202024"/>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246888"/>
            <a:ext cx="228600" cy="228600"/>
          </a:xfrm>
          <a:prstGeom prst="roundRect">
            <a:avLst>
              <a:gd name="adj" fmla="val 8000"/>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46888"/>
            <a:ext cx="228600" cy="228600"/>
          </a:xfrm>
          <a:prstGeom prst="rect">
            <a:avLst/>
          </a:prstGeom>
          <a:noFill/>
        </p:spPr>
        <p:txBody>
          <a:bodyPr wrap="square" lIns="0" rIns="0" tIns="0" bIns="0" anchor="ctr">
            <a:spAutoFit/>
          </a:bodyPr>
          <a:lstStyle/>
          <a:p>
            <a:pPr algn="ctr">
              <a:lnSpc>
                <a:spcPct val="100000"/>
              </a:lnSpc>
              <a:defRPr sz="650" b="1">
                <a:solidFill>
                  <a:srgbClr val="09090B"/>
                </a:solidFill>
                <a:latin typeface="Inter"/>
              </a:defRPr>
            </a:pPr>
            <a:r>
              <a:t>LB</a:t>
            </a:r>
          </a:p>
        </p:txBody>
      </p:sp>
      <p:sp>
        <p:nvSpPr>
          <p:cNvPr id="8" name="TextBox 7"/>
          <p:cNvSpPr txBox="1"/>
          <p:nvPr/>
        </p:nvSpPr>
        <p:spPr>
          <a:xfrm>
            <a:off x="804672" y="269748"/>
            <a:ext cx="2011680" cy="201168"/>
          </a:xfrm>
          <a:prstGeom prst="rect">
            <a:avLst/>
          </a:prstGeom>
          <a:noFill/>
        </p:spPr>
        <p:txBody>
          <a:bodyPr wrap="square" lIns="0" rIns="0" tIns="0" bIns="0" anchor="t">
            <a:spAutoFit/>
          </a:bodyPr>
          <a:lstStyle/>
          <a:p>
            <a:pPr algn="l">
              <a:lnSpc>
                <a:spcPct val="100000"/>
              </a:lnSpc>
              <a:defRPr sz="850" b="1">
                <a:solidFill>
                  <a:srgbClr val="E4E4E7"/>
                </a:solidFill>
                <a:latin typeface="Inter"/>
              </a:defRPr>
            </a:pPr>
            <a:r>
              <a:t>LEGACYBRIDGE</a:t>
            </a:r>
          </a:p>
        </p:txBody>
      </p:sp>
      <p:sp>
        <p:nvSpPr>
          <p:cNvPr id="9" name="Rounded Rectangle 8"/>
          <p:cNvSpPr/>
          <p:nvPr/>
        </p:nvSpPr>
        <p:spPr>
          <a:xfrm>
            <a:off x="11045952" y="237744"/>
            <a:ext cx="640080" cy="256032"/>
          </a:xfrm>
          <a:prstGeom prst="roundRect">
            <a:avLst>
              <a:gd name="adj" fmla="val 8000"/>
            </a:avLst>
          </a:prstGeom>
          <a:solidFill>
            <a:srgbClr val="111114"/>
          </a:solidFill>
          <a:ln w="7620">
            <a:solidFill>
              <a:srgbClr val="2B2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082528" y="246888"/>
            <a:ext cx="566928" cy="237744"/>
          </a:xfrm>
          <a:prstGeom prst="rect">
            <a:avLst/>
          </a:prstGeom>
          <a:noFill/>
        </p:spPr>
        <p:txBody>
          <a:bodyPr wrap="square" lIns="0" rIns="0" tIns="0" bIns="0" anchor="ctr">
            <a:spAutoFit/>
          </a:bodyPr>
          <a:lstStyle/>
          <a:p>
            <a:pPr algn="ctr">
              <a:lnSpc>
                <a:spcPct val="100000"/>
              </a:lnSpc>
              <a:defRPr sz="700" b="1">
                <a:solidFill>
                  <a:srgbClr val="A1A1AA"/>
                </a:solidFill>
                <a:latin typeface="Inter"/>
              </a:defRPr>
            </a:pPr>
            <a:r>
              <a:t>03 / 10</a:t>
            </a:r>
          </a:p>
        </p:txBody>
      </p:sp>
      <p:sp>
        <p:nvSpPr>
          <p:cNvPr id="11" name="TextBox 10"/>
          <p:cNvSpPr txBox="1"/>
          <p:nvPr/>
        </p:nvSpPr>
        <p:spPr>
          <a:xfrm>
            <a:off x="548640" y="768096"/>
            <a:ext cx="6858000" cy="219456"/>
          </a:xfrm>
          <a:prstGeom prst="rect">
            <a:avLst/>
          </a:prstGeom>
          <a:noFill/>
        </p:spPr>
        <p:txBody>
          <a:bodyPr wrap="square" lIns="0" rIns="0" tIns="0" bIns="0" anchor="t">
            <a:spAutoFit/>
          </a:bodyPr>
          <a:lstStyle/>
          <a:p>
            <a:pPr algn="l">
              <a:lnSpc>
                <a:spcPct val="100000"/>
              </a:lnSpc>
              <a:defRPr sz="800" b="1">
                <a:solidFill>
                  <a:srgbClr val="A78BFA"/>
                </a:solidFill>
                <a:latin typeface="Inter"/>
              </a:defRPr>
            </a:pPr>
            <a:r>
              <a:t>THE LEGACYBRIDGE SOLUTION</a:t>
            </a:r>
          </a:p>
        </p:txBody>
      </p:sp>
      <p:sp>
        <p:nvSpPr>
          <p:cNvPr id="12" name="TextBox 11"/>
          <p:cNvSpPr txBox="1"/>
          <p:nvPr/>
        </p:nvSpPr>
        <p:spPr>
          <a:xfrm>
            <a:off x="548640" y="996696"/>
            <a:ext cx="11064240" cy="585216"/>
          </a:xfrm>
          <a:prstGeom prst="rect">
            <a:avLst/>
          </a:prstGeom>
          <a:noFill/>
        </p:spPr>
        <p:txBody>
          <a:bodyPr wrap="square" lIns="0" rIns="0" tIns="0" bIns="0" anchor="t">
            <a:spAutoFit/>
          </a:bodyPr>
          <a:lstStyle/>
          <a:p>
            <a:pPr algn="l">
              <a:lnSpc>
                <a:spcPct val="95000"/>
              </a:lnSpc>
              <a:defRPr sz="2700" b="1">
                <a:solidFill>
                  <a:srgbClr val="FAFAFA"/>
                </a:solidFill>
                <a:latin typeface="Inter"/>
              </a:defRPr>
            </a:pPr>
            <a:r>
              <a:t>From Legacy Complexity to Evidence-Based Modernization.</a:t>
            </a:r>
          </a:p>
        </p:txBody>
      </p:sp>
      <p:sp>
        <p:nvSpPr>
          <p:cNvPr id="13" name="TextBox 12"/>
          <p:cNvSpPr txBox="1"/>
          <p:nvPr/>
        </p:nvSpPr>
        <p:spPr>
          <a:xfrm>
            <a:off x="548640" y="1545336"/>
            <a:ext cx="10972800" cy="347472"/>
          </a:xfrm>
          <a:prstGeom prst="rect">
            <a:avLst/>
          </a:prstGeom>
          <a:noFill/>
        </p:spPr>
        <p:txBody>
          <a:bodyPr wrap="square" lIns="0" rIns="0" tIns="0" bIns="0" anchor="t">
            <a:spAutoFit/>
          </a:bodyPr>
          <a:lstStyle/>
          <a:p>
            <a:pPr algn="l">
              <a:lnSpc>
                <a:spcPct val="100000"/>
              </a:lnSpc>
              <a:defRPr sz="1050" b="0">
                <a:solidFill>
                  <a:srgbClr val="A1A1AA"/>
                </a:solidFill>
                <a:latin typeface="Inter"/>
              </a:defRPr>
            </a:pPr>
            <a:r>
              <a:t>One connected workspace for understanding, planning, generating, and validating.</a:t>
            </a:r>
          </a:p>
        </p:txBody>
      </p:sp>
      <p:cxnSp>
        <p:nvCxnSpPr>
          <p:cNvPr id="14" name="Connector 13"/>
          <p:cNvCxnSpPr/>
          <p:nvPr/>
        </p:nvCxnSpPr>
        <p:spPr>
          <a:xfrm>
            <a:off x="502920" y="6473952"/>
            <a:ext cx="11183112" cy="0"/>
          </a:xfrm>
          <a:prstGeom prst="line">
            <a:avLst/>
          </a:prstGeom>
          <a:ln w="6985">
            <a:solidFill>
              <a:srgbClr val="202024"/>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48640" y="6565392"/>
            <a:ext cx="7909560" cy="164592"/>
          </a:xfrm>
          <a:prstGeom prst="rect">
            <a:avLst/>
          </a:prstGeom>
          <a:noFill/>
        </p:spPr>
        <p:txBody>
          <a:bodyPr wrap="square" lIns="0" rIns="0" tIns="0" bIns="0" anchor="t">
            <a:spAutoFit/>
          </a:bodyPr>
          <a:lstStyle/>
          <a:p>
            <a:pPr algn="l">
              <a:lnSpc>
                <a:spcPct val="100000"/>
              </a:lnSpc>
              <a:defRPr sz="630" b="0">
                <a:solidFill>
                  <a:srgbClr val="71717A"/>
                </a:solidFill>
                <a:latin typeface="Inter"/>
              </a:defRPr>
            </a:pPr>
            <a:r>
              <a:t>Proposed capabilities • deterministic analysis + AI reasoning + supported executable tests</a:t>
            </a:r>
          </a:p>
        </p:txBody>
      </p:sp>
      <p:sp>
        <p:nvSpPr>
          <p:cNvPr id="16" name="TextBox 15"/>
          <p:cNvSpPr txBox="1"/>
          <p:nvPr/>
        </p:nvSpPr>
        <p:spPr>
          <a:xfrm>
            <a:off x="8732520" y="6565392"/>
            <a:ext cx="2926080" cy="164592"/>
          </a:xfrm>
          <a:prstGeom prst="rect">
            <a:avLst/>
          </a:prstGeom>
          <a:noFill/>
        </p:spPr>
        <p:txBody>
          <a:bodyPr wrap="square" lIns="0" rIns="0" tIns="0" bIns="0" anchor="t">
            <a:spAutoFit/>
          </a:bodyPr>
          <a:lstStyle/>
          <a:p>
            <a:pPr algn="r">
              <a:lnSpc>
                <a:spcPct val="100000"/>
              </a:lnSpc>
              <a:defRPr sz="610" b="0">
                <a:solidFill>
                  <a:srgbClr val="71717A"/>
                </a:solidFill>
                <a:latin typeface="Inter"/>
              </a:defRPr>
            </a:pPr>
            <a:r>
              <a:t>PROPOSED PRODUCT • HACKATHON PRESENTATION</a:t>
            </a:r>
          </a:p>
        </p:txBody>
      </p:sp>
      <p:sp>
        <p:nvSpPr>
          <p:cNvPr id="17" name="Rounded Rectangle 16"/>
          <p:cNvSpPr/>
          <p:nvPr/>
        </p:nvSpPr>
        <p:spPr>
          <a:xfrm>
            <a:off x="548640" y="1938528"/>
            <a:ext cx="11091672" cy="3977639"/>
          </a:xfrm>
          <a:prstGeom prst="roundRect">
            <a:avLst>
              <a:gd name="adj" fmla="val 8000"/>
            </a:avLst>
          </a:prstGeom>
          <a:solidFill>
            <a:srgbClr val="111114"/>
          </a:solidFill>
          <a:ln w="9525">
            <a:solidFill>
              <a:srgbClr val="2B2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a:off x="548640" y="2286000"/>
            <a:ext cx="11091672" cy="0"/>
          </a:xfrm>
          <a:prstGeom prst="line">
            <a:avLst/>
          </a:prstGeom>
          <a:ln w="7620">
            <a:solidFill>
              <a:srgbClr val="2B2B33"/>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704088" y="2075688"/>
            <a:ext cx="64008" cy="64008"/>
          </a:xfrm>
          <a:prstGeom prst="ellipse">
            <a:avLst/>
          </a:prstGeom>
          <a:solidFill>
            <a:srgbClr val="FB71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50392" y="2075688"/>
            <a:ext cx="64008" cy="64008"/>
          </a:xfrm>
          <a:prstGeom prst="ellipse">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96696" y="2075688"/>
            <a:ext cx="64008" cy="64008"/>
          </a:xfrm>
          <a:prstGeom prst="ellipse">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70432" y="2039112"/>
            <a:ext cx="9262872" cy="164592"/>
          </a:xfrm>
          <a:prstGeom prst="rect">
            <a:avLst/>
          </a:prstGeom>
          <a:noFill/>
        </p:spPr>
        <p:txBody>
          <a:bodyPr wrap="square" lIns="0" rIns="0" tIns="0" bIns="0" anchor="t">
            <a:spAutoFit/>
          </a:bodyPr>
          <a:lstStyle/>
          <a:p>
            <a:pPr algn="l">
              <a:lnSpc>
                <a:spcPct val="100000"/>
              </a:lnSpc>
              <a:defRPr sz="720" b="0">
                <a:solidFill>
                  <a:srgbClr val="71717A"/>
                </a:solidFill>
                <a:latin typeface="Liberation Mono"/>
              </a:defRPr>
            </a:pPr>
            <a:r>
              <a:t>legacybridge / order-modernization-workspace</a:t>
            </a:r>
          </a:p>
        </p:txBody>
      </p:sp>
      <p:sp>
        <p:nvSpPr>
          <p:cNvPr id="23" name="Rounded Rectangle 22"/>
          <p:cNvSpPr/>
          <p:nvPr/>
        </p:nvSpPr>
        <p:spPr>
          <a:xfrm>
            <a:off x="10314432" y="2007108"/>
            <a:ext cx="1143000" cy="210312"/>
          </a:xfrm>
          <a:prstGeom prst="roundRect">
            <a:avLst>
              <a:gd name="adj" fmla="val 8000"/>
            </a:avLst>
          </a:prstGeom>
          <a:solidFill>
            <a:srgbClr val="211B35"/>
          </a:solidFill>
          <a:ln w="7620">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351008" y="2016252"/>
            <a:ext cx="1069848" cy="192024"/>
          </a:xfrm>
          <a:prstGeom prst="rect">
            <a:avLst/>
          </a:prstGeom>
          <a:noFill/>
        </p:spPr>
        <p:txBody>
          <a:bodyPr wrap="square" lIns="0" rIns="0" tIns="0" bIns="0" anchor="ctr">
            <a:spAutoFit/>
          </a:bodyPr>
          <a:lstStyle/>
          <a:p>
            <a:pPr algn="ctr">
              <a:lnSpc>
                <a:spcPct val="100000"/>
              </a:lnSpc>
              <a:defRPr sz="620" b="1">
                <a:solidFill>
                  <a:srgbClr val="A78BFA"/>
                </a:solidFill>
                <a:latin typeface="Inter"/>
              </a:defRPr>
            </a:pPr>
            <a:r>
              <a:t>CONNECTED</a:t>
            </a:r>
          </a:p>
        </p:txBody>
      </p:sp>
      <p:sp>
        <p:nvSpPr>
          <p:cNvPr id="25" name="Rectangle 24"/>
          <p:cNvSpPr/>
          <p:nvPr/>
        </p:nvSpPr>
        <p:spPr>
          <a:xfrm>
            <a:off x="548640" y="2286000"/>
            <a:ext cx="1325880" cy="3630168"/>
          </a:xfrm>
          <a:prstGeom prst="rect">
            <a:avLst/>
          </a:prstGeom>
          <a:solidFill>
            <a:srgbClr val="1111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2532888"/>
            <a:ext cx="914400" cy="201168"/>
          </a:xfrm>
          <a:prstGeom prst="rect">
            <a:avLst/>
          </a:prstGeom>
          <a:noFill/>
        </p:spPr>
        <p:txBody>
          <a:bodyPr wrap="square" lIns="0" rIns="0" tIns="0" bIns="0" anchor="t">
            <a:spAutoFit/>
          </a:bodyPr>
          <a:lstStyle/>
          <a:p>
            <a:pPr algn="l">
              <a:lnSpc>
                <a:spcPct val="100000"/>
              </a:lnSpc>
              <a:defRPr sz="660" b="1">
                <a:solidFill>
                  <a:srgbClr val="71717A"/>
                </a:solidFill>
                <a:latin typeface="Inter"/>
              </a:defRPr>
            </a:pPr>
            <a:r>
              <a:t>WORKSPACE</a:t>
            </a:r>
          </a:p>
        </p:txBody>
      </p:sp>
      <p:sp>
        <p:nvSpPr>
          <p:cNvPr id="27" name="Rounded Rectangle 26"/>
          <p:cNvSpPr/>
          <p:nvPr/>
        </p:nvSpPr>
        <p:spPr>
          <a:xfrm>
            <a:off x="667512" y="2880360"/>
            <a:ext cx="1078992" cy="310896"/>
          </a:xfrm>
          <a:prstGeom prst="roundRect">
            <a:avLst>
              <a:gd name="adj" fmla="val 8000"/>
            </a:avLst>
          </a:prstGeom>
          <a:solidFill>
            <a:srgbClr val="211B35"/>
          </a:solidFill>
          <a:ln w="9525">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8952" y="2944368"/>
            <a:ext cx="914400" cy="182880"/>
          </a:xfrm>
          <a:prstGeom prst="rect">
            <a:avLst/>
          </a:prstGeom>
          <a:noFill/>
        </p:spPr>
        <p:txBody>
          <a:bodyPr wrap="square" lIns="0" rIns="0" tIns="0" bIns="0" anchor="t">
            <a:spAutoFit/>
          </a:bodyPr>
          <a:lstStyle/>
          <a:p>
            <a:pPr algn="l">
              <a:lnSpc>
                <a:spcPct val="100000"/>
              </a:lnSpc>
              <a:defRPr sz="720" b="0">
                <a:solidFill>
                  <a:srgbClr val="A78BFA"/>
                </a:solidFill>
                <a:latin typeface="Inter"/>
              </a:defRPr>
            </a:pPr>
            <a:r>
              <a:t>Overview</a:t>
            </a:r>
          </a:p>
        </p:txBody>
      </p:sp>
      <p:sp>
        <p:nvSpPr>
          <p:cNvPr id="29" name="TextBox 28"/>
          <p:cNvSpPr txBox="1"/>
          <p:nvPr/>
        </p:nvSpPr>
        <p:spPr>
          <a:xfrm>
            <a:off x="758952" y="3401568"/>
            <a:ext cx="914400" cy="182880"/>
          </a:xfrm>
          <a:prstGeom prst="rect">
            <a:avLst/>
          </a:prstGeom>
          <a:noFill/>
        </p:spPr>
        <p:txBody>
          <a:bodyPr wrap="square" lIns="0" rIns="0" tIns="0" bIns="0" anchor="t">
            <a:spAutoFit/>
          </a:bodyPr>
          <a:lstStyle/>
          <a:p>
            <a:pPr algn="l">
              <a:lnSpc>
                <a:spcPct val="100000"/>
              </a:lnSpc>
              <a:defRPr sz="720" b="0">
                <a:solidFill>
                  <a:srgbClr val="A1A1AA"/>
                </a:solidFill>
                <a:latin typeface="Inter"/>
              </a:defRPr>
            </a:pPr>
            <a:r>
              <a:t>Source map</a:t>
            </a:r>
          </a:p>
        </p:txBody>
      </p:sp>
      <p:sp>
        <p:nvSpPr>
          <p:cNvPr id="30" name="TextBox 29"/>
          <p:cNvSpPr txBox="1"/>
          <p:nvPr/>
        </p:nvSpPr>
        <p:spPr>
          <a:xfrm>
            <a:off x="758952" y="3858768"/>
            <a:ext cx="914400" cy="182880"/>
          </a:xfrm>
          <a:prstGeom prst="rect">
            <a:avLst/>
          </a:prstGeom>
          <a:noFill/>
        </p:spPr>
        <p:txBody>
          <a:bodyPr wrap="square" lIns="0" rIns="0" tIns="0" bIns="0" anchor="t">
            <a:spAutoFit/>
          </a:bodyPr>
          <a:lstStyle/>
          <a:p>
            <a:pPr algn="l">
              <a:lnSpc>
                <a:spcPct val="100000"/>
              </a:lnSpc>
              <a:defRPr sz="720" b="0">
                <a:solidFill>
                  <a:srgbClr val="A1A1AA"/>
                </a:solidFill>
                <a:latin typeface="Inter"/>
              </a:defRPr>
            </a:pPr>
            <a:r>
              <a:t>Migration</a:t>
            </a:r>
          </a:p>
        </p:txBody>
      </p:sp>
      <p:sp>
        <p:nvSpPr>
          <p:cNvPr id="31" name="TextBox 30"/>
          <p:cNvSpPr txBox="1"/>
          <p:nvPr/>
        </p:nvSpPr>
        <p:spPr>
          <a:xfrm>
            <a:off x="758952" y="4315968"/>
            <a:ext cx="914400" cy="182880"/>
          </a:xfrm>
          <a:prstGeom prst="rect">
            <a:avLst/>
          </a:prstGeom>
          <a:noFill/>
        </p:spPr>
        <p:txBody>
          <a:bodyPr wrap="square" lIns="0" rIns="0" tIns="0" bIns="0" anchor="t">
            <a:spAutoFit/>
          </a:bodyPr>
          <a:lstStyle/>
          <a:p>
            <a:pPr algn="l">
              <a:lnSpc>
                <a:spcPct val="100000"/>
              </a:lnSpc>
              <a:defRPr sz="720" b="0">
                <a:solidFill>
                  <a:srgbClr val="A1A1AA"/>
                </a:solidFill>
                <a:latin typeface="Inter"/>
              </a:defRPr>
            </a:pPr>
            <a:r>
              <a:t>Validation</a:t>
            </a:r>
          </a:p>
        </p:txBody>
      </p:sp>
      <p:sp>
        <p:nvSpPr>
          <p:cNvPr id="32" name="Rounded Rectangle 31"/>
          <p:cNvSpPr/>
          <p:nvPr/>
        </p:nvSpPr>
        <p:spPr>
          <a:xfrm>
            <a:off x="2084831" y="2670048"/>
            <a:ext cx="2084831" cy="2468880"/>
          </a:xfrm>
          <a:prstGeom prst="roundRect">
            <a:avLst>
              <a:gd name="adj" fmla="val 8000"/>
            </a:avLst>
          </a:prstGeom>
          <a:solidFill>
            <a:srgbClr val="18181B"/>
          </a:solidFill>
          <a:ln w="11430">
            <a:solidFill>
              <a:srgbClr val="2B2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2249424" y="2871216"/>
            <a:ext cx="347472" cy="347472"/>
          </a:xfrm>
          <a:prstGeom prst="roundRect">
            <a:avLst>
              <a:gd name="adj" fmla="val 8000"/>
            </a:avLst>
          </a:prstGeom>
          <a:solidFill>
            <a:srgbClr val="211B35"/>
          </a:solidFill>
          <a:ln w="7620">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249424" y="2871216"/>
            <a:ext cx="347472" cy="347472"/>
          </a:xfrm>
          <a:prstGeom prst="rect">
            <a:avLst/>
          </a:prstGeom>
          <a:noFill/>
        </p:spPr>
        <p:txBody>
          <a:bodyPr wrap="square" lIns="0" rIns="0" tIns="0" bIns="0" anchor="ctr">
            <a:spAutoFit/>
          </a:bodyPr>
          <a:lstStyle/>
          <a:p>
            <a:pPr algn="ctr">
              <a:lnSpc>
                <a:spcPct val="100000"/>
              </a:lnSpc>
              <a:defRPr sz="800" b="1">
                <a:solidFill>
                  <a:srgbClr val="A78BFA"/>
                </a:solidFill>
                <a:latin typeface="Inter"/>
              </a:defRPr>
            </a:pPr>
            <a:r>
              <a:t>A</a:t>
            </a:r>
          </a:p>
        </p:txBody>
      </p:sp>
      <p:sp>
        <p:nvSpPr>
          <p:cNvPr id="35" name="TextBox 34"/>
          <p:cNvSpPr txBox="1"/>
          <p:nvPr/>
        </p:nvSpPr>
        <p:spPr>
          <a:xfrm>
            <a:off x="2249424" y="3364992"/>
            <a:ext cx="1755648" cy="475488"/>
          </a:xfrm>
          <a:prstGeom prst="rect">
            <a:avLst/>
          </a:prstGeom>
          <a:noFill/>
        </p:spPr>
        <p:txBody>
          <a:bodyPr wrap="square" lIns="0" rIns="0" tIns="0" bIns="0" anchor="t">
            <a:spAutoFit/>
          </a:bodyPr>
          <a:lstStyle/>
          <a:p>
            <a:pPr algn="l">
              <a:lnSpc>
                <a:spcPct val="100000"/>
              </a:lnSpc>
              <a:defRPr sz="1150" b="1">
                <a:solidFill>
                  <a:srgbClr val="FAFAFA"/>
                </a:solidFill>
                <a:latin typeface="Inter"/>
              </a:defRPr>
            </a:pPr>
            <a:r>
              <a:t>Legacy Intelligence</a:t>
            </a:r>
          </a:p>
        </p:txBody>
      </p:sp>
      <p:sp>
        <p:nvSpPr>
          <p:cNvPr id="36" name="TextBox 35"/>
          <p:cNvSpPr txBox="1"/>
          <p:nvPr/>
        </p:nvSpPr>
        <p:spPr>
          <a:xfrm>
            <a:off x="2249424" y="3904487"/>
            <a:ext cx="1737360" cy="685800"/>
          </a:xfrm>
          <a:prstGeom prst="rect">
            <a:avLst/>
          </a:prstGeom>
          <a:noFill/>
        </p:spPr>
        <p:txBody>
          <a:bodyPr wrap="square" lIns="0" rIns="0" tIns="0" bIns="0" anchor="t">
            <a:spAutoFit/>
          </a:bodyPr>
          <a:lstStyle/>
          <a:p>
            <a:pPr algn="l">
              <a:lnSpc>
                <a:spcPct val="108000"/>
              </a:lnSpc>
              <a:defRPr sz="840" b="0">
                <a:solidFill>
                  <a:srgbClr val="A1A1AA"/>
                </a:solidFill>
                <a:latin typeface="Inter"/>
              </a:defRPr>
            </a:pPr>
            <a:r>
              <a:t>Analyze supported source code, recover candidate rules, and link explanations to evidence.</a:t>
            </a:r>
          </a:p>
        </p:txBody>
      </p:sp>
      <p:sp>
        <p:nvSpPr>
          <p:cNvPr id="37" name="Rounded Rectangle 36"/>
          <p:cNvSpPr/>
          <p:nvPr/>
        </p:nvSpPr>
        <p:spPr>
          <a:xfrm>
            <a:off x="2249424" y="4727448"/>
            <a:ext cx="1572768" cy="228600"/>
          </a:xfrm>
          <a:prstGeom prst="roundRect">
            <a:avLst>
              <a:gd name="adj" fmla="val 8000"/>
            </a:avLst>
          </a:prstGeom>
          <a:solidFill>
            <a:srgbClr val="202024"/>
          </a:solidFill>
          <a:ln w="7620">
            <a:solidFill>
              <a:srgbClr val="3838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286000" y="4736592"/>
            <a:ext cx="1499616" cy="210312"/>
          </a:xfrm>
          <a:prstGeom prst="rect">
            <a:avLst/>
          </a:prstGeom>
          <a:noFill/>
        </p:spPr>
        <p:txBody>
          <a:bodyPr wrap="square" lIns="0" rIns="0" tIns="0" bIns="0" anchor="ctr">
            <a:spAutoFit/>
          </a:bodyPr>
          <a:lstStyle/>
          <a:p>
            <a:pPr algn="ctr">
              <a:lnSpc>
                <a:spcPct val="100000"/>
              </a:lnSpc>
              <a:defRPr sz="610" b="1">
                <a:solidFill>
                  <a:srgbClr val="A1A1AA"/>
                </a:solidFill>
                <a:latin typeface="Inter"/>
              </a:defRPr>
            </a:pPr>
            <a:r>
              <a:t>RULE CANDIDATES</a:t>
            </a:r>
          </a:p>
        </p:txBody>
      </p:sp>
      <p:cxnSp>
        <p:nvCxnSpPr>
          <p:cNvPr id="39" name="Connector 38"/>
          <p:cNvCxnSpPr/>
          <p:nvPr/>
        </p:nvCxnSpPr>
        <p:spPr>
          <a:xfrm>
            <a:off x="4187952" y="3858768"/>
            <a:ext cx="91440" cy="0"/>
          </a:xfrm>
          <a:prstGeom prst="line">
            <a:avLst/>
          </a:prstGeom>
          <a:ln w="15240">
            <a:solidFill>
              <a:srgbClr val="312645"/>
            </a:solidFill>
          </a:ln>
        </p:spPr>
        <p:style>
          <a:lnRef idx="2">
            <a:schemeClr val="accent1"/>
          </a:lnRef>
          <a:fillRef idx="0">
            <a:schemeClr val="accent1"/>
          </a:fillRef>
          <a:effectRef idx="1">
            <a:schemeClr val="accent1"/>
          </a:effectRef>
          <a:fontRef idx="minor">
            <a:schemeClr val="tx1"/>
          </a:fontRef>
        </p:style>
      </p:cxnSp>
      <p:sp>
        <p:nvSpPr>
          <p:cNvPr id="40" name="Chevron 39"/>
          <p:cNvSpPr/>
          <p:nvPr/>
        </p:nvSpPr>
        <p:spPr>
          <a:xfrm>
            <a:off x="4233672" y="3776472"/>
            <a:ext cx="164592" cy="164592"/>
          </a:xfrm>
          <a:prstGeom prst="chevron">
            <a:avLst/>
          </a:prstGeom>
          <a:solidFill>
            <a:srgbClr val="3126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4425696" y="2670048"/>
            <a:ext cx="2084831" cy="2468880"/>
          </a:xfrm>
          <a:prstGeom prst="roundRect">
            <a:avLst>
              <a:gd name="adj" fmla="val 8000"/>
            </a:avLst>
          </a:prstGeom>
          <a:solidFill>
            <a:srgbClr val="18181B"/>
          </a:solidFill>
          <a:ln w="11430">
            <a:solidFill>
              <a:srgbClr val="2B2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4590288" y="2871216"/>
            <a:ext cx="347472" cy="347472"/>
          </a:xfrm>
          <a:prstGeom prst="roundRect">
            <a:avLst>
              <a:gd name="adj" fmla="val 8000"/>
            </a:avLst>
          </a:prstGeom>
          <a:solidFill>
            <a:srgbClr val="211B35"/>
          </a:solidFill>
          <a:ln w="7620">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590288" y="2871216"/>
            <a:ext cx="347472" cy="347472"/>
          </a:xfrm>
          <a:prstGeom prst="rect">
            <a:avLst/>
          </a:prstGeom>
          <a:noFill/>
        </p:spPr>
        <p:txBody>
          <a:bodyPr wrap="square" lIns="0" rIns="0" tIns="0" bIns="0" anchor="ctr">
            <a:spAutoFit/>
          </a:bodyPr>
          <a:lstStyle/>
          <a:p>
            <a:pPr algn="ctr">
              <a:lnSpc>
                <a:spcPct val="100000"/>
              </a:lnSpc>
              <a:defRPr sz="800" b="1">
                <a:solidFill>
                  <a:srgbClr val="A78BFA"/>
                </a:solidFill>
                <a:latin typeface="Inter"/>
              </a:defRPr>
            </a:pPr>
            <a:r>
              <a:t>B</a:t>
            </a:r>
          </a:p>
        </p:txBody>
      </p:sp>
      <p:sp>
        <p:nvSpPr>
          <p:cNvPr id="44" name="TextBox 43"/>
          <p:cNvSpPr txBox="1"/>
          <p:nvPr/>
        </p:nvSpPr>
        <p:spPr>
          <a:xfrm>
            <a:off x="4590288" y="3364992"/>
            <a:ext cx="1755648" cy="475488"/>
          </a:xfrm>
          <a:prstGeom prst="rect">
            <a:avLst/>
          </a:prstGeom>
          <a:noFill/>
        </p:spPr>
        <p:txBody>
          <a:bodyPr wrap="square" lIns="0" rIns="0" tIns="0" bIns="0" anchor="t">
            <a:spAutoFit/>
          </a:bodyPr>
          <a:lstStyle/>
          <a:p>
            <a:pPr algn="l">
              <a:lnSpc>
                <a:spcPct val="100000"/>
              </a:lnSpc>
              <a:defRPr sz="1150" b="1">
                <a:solidFill>
                  <a:srgbClr val="FAFAFA"/>
                </a:solidFill>
                <a:latin typeface="Inter"/>
              </a:defRPr>
            </a:pPr>
            <a:r>
              <a:t>Dependency Intelligence</a:t>
            </a:r>
          </a:p>
        </p:txBody>
      </p:sp>
      <p:sp>
        <p:nvSpPr>
          <p:cNvPr id="45" name="TextBox 44"/>
          <p:cNvSpPr txBox="1"/>
          <p:nvPr/>
        </p:nvSpPr>
        <p:spPr>
          <a:xfrm>
            <a:off x="4590288" y="3904487"/>
            <a:ext cx="1737360" cy="685800"/>
          </a:xfrm>
          <a:prstGeom prst="rect">
            <a:avLst/>
          </a:prstGeom>
          <a:noFill/>
        </p:spPr>
        <p:txBody>
          <a:bodyPr wrap="square" lIns="0" rIns="0" tIns="0" bIns="0" anchor="t">
            <a:spAutoFit/>
          </a:bodyPr>
          <a:lstStyle/>
          <a:p>
            <a:pPr algn="l">
              <a:lnSpc>
                <a:spcPct val="108000"/>
              </a:lnSpc>
              <a:defRPr sz="840" b="0">
                <a:solidFill>
                  <a:srgbClr val="A1A1AA"/>
                </a:solidFill>
                <a:latin typeface="Inter"/>
              </a:defRPr>
            </a:pPr>
            <a:r>
              <a:t>Map module relationships, database dependencies, and architectural coupling.</a:t>
            </a:r>
          </a:p>
        </p:txBody>
      </p:sp>
      <p:sp>
        <p:nvSpPr>
          <p:cNvPr id="46" name="Rounded Rectangle 45"/>
          <p:cNvSpPr/>
          <p:nvPr/>
        </p:nvSpPr>
        <p:spPr>
          <a:xfrm>
            <a:off x="4590288" y="4727448"/>
            <a:ext cx="1572768" cy="228600"/>
          </a:xfrm>
          <a:prstGeom prst="roundRect">
            <a:avLst>
              <a:gd name="adj" fmla="val 8000"/>
            </a:avLst>
          </a:prstGeom>
          <a:solidFill>
            <a:srgbClr val="202024"/>
          </a:solidFill>
          <a:ln w="7620">
            <a:solidFill>
              <a:srgbClr val="3838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626864" y="4736592"/>
            <a:ext cx="1499616" cy="210312"/>
          </a:xfrm>
          <a:prstGeom prst="rect">
            <a:avLst/>
          </a:prstGeom>
          <a:noFill/>
        </p:spPr>
        <p:txBody>
          <a:bodyPr wrap="square" lIns="0" rIns="0" tIns="0" bIns="0" anchor="ctr">
            <a:spAutoFit/>
          </a:bodyPr>
          <a:lstStyle/>
          <a:p>
            <a:pPr algn="ctr">
              <a:lnSpc>
                <a:spcPct val="100000"/>
              </a:lnSpc>
              <a:defRPr sz="610" b="1">
                <a:solidFill>
                  <a:srgbClr val="A1A1AA"/>
                </a:solidFill>
                <a:latin typeface="Inter"/>
              </a:defRPr>
            </a:pPr>
            <a:r>
              <a:t>DEPENDENCY GRAPH</a:t>
            </a:r>
          </a:p>
        </p:txBody>
      </p:sp>
      <p:cxnSp>
        <p:nvCxnSpPr>
          <p:cNvPr id="48" name="Connector 47"/>
          <p:cNvCxnSpPr/>
          <p:nvPr/>
        </p:nvCxnSpPr>
        <p:spPr>
          <a:xfrm>
            <a:off x="6528816" y="3858768"/>
            <a:ext cx="91439" cy="0"/>
          </a:xfrm>
          <a:prstGeom prst="line">
            <a:avLst/>
          </a:prstGeom>
          <a:ln w="15240">
            <a:solidFill>
              <a:srgbClr val="312645"/>
            </a:solidFill>
          </a:ln>
        </p:spPr>
        <p:style>
          <a:lnRef idx="2">
            <a:schemeClr val="accent1"/>
          </a:lnRef>
          <a:fillRef idx="0">
            <a:schemeClr val="accent1"/>
          </a:fillRef>
          <a:effectRef idx="1">
            <a:schemeClr val="accent1"/>
          </a:effectRef>
          <a:fontRef idx="minor">
            <a:schemeClr val="tx1"/>
          </a:fontRef>
        </p:style>
      </p:cxnSp>
      <p:sp>
        <p:nvSpPr>
          <p:cNvPr id="49" name="Chevron 48"/>
          <p:cNvSpPr/>
          <p:nvPr/>
        </p:nvSpPr>
        <p:spPr>
          <a:xfrm>
            <a:off x="6574536" y="3776472"/>
            <a:ext cx="164592" cy="164592"/>
          </a:xfrm>
          <a:prstGeom prst="chevron">
            <a:avLst/>
          </a:prstGeom>
          <a:solidFill>
            <a:srgbClr val="3126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6766560" y="2670048"/>
            <a:ext cx="2084831" cy="2468880"/>
          </a:xfrm>
          <a:prstGeom prst="roundRect">
            <a:avLst>
              <a:gd name="adj" fmla="val 8000"/>
            </a:avLst>
          </a:prstGeom>
          <a:solidFill>
            <a:srgbClr val="18181B"/>
          </a:solidFill>
          <a:ln w="11430">
            <a:solidFill>
              <a:srgbClr val="2B2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6931152" y="2871216"/>
            <a:ext cx="347472" cy="347472"/>
          </a:xfrm>
          <a:prstGeom prst="roundRect">
            <a:avLst>
              <a:gd name="adj" fmla="val 8000"/>
            </a:avLst>
          </a:prstGeom>
          <a:solidFill>
            <a:srgbClr val="211B35"/>
          </a:solidFill>
          <a:ln w="7620">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931152" y="2871216"/>
            <a:ext cx="347472" cy="347472"/>
          </a:xfrm>
          <a:prstGeom prst="rect">
            <a:avLst/>
          </a:prstGeom>
          <a:noFill/>
        </p:spPr>
        <p:txBody>
          <a:bodyPr wrap="square" lIns="0" rIns="0" tIns="0" bIns="0" anchor="ctr">
            <a:spAutoFit/>
          </a:bodyPr>
          <a:lstStyle/>
          <a:p>
            <a:pPr algn="ctr">
              <a:lnSpc>
                <a:spcPct val="100000"/>
              </a:lnSpc>
              <a:defRPr sz="800" b="1">
                <a:solidFill>
                  <a:srgbClr val="A78BFA"/>
                </a:solidFill>
                <a:latin typeface="Inter"/>
              </a:defRPr>
            </a:pPr>
            <a:r>
              <a:t>C</a:t>
            </a:r>
          </a:p>
        </p:txBody>
      </p:sp>
      <p:sp>
        <p:nvSpPr>
          <p:cNvPr id="53" name="TextBox 52"/>
          <p:cNvSpPr txBox="1"/>
          <p:nvPr/>
        </p:nvSpPr>
        <p:spPr>
          <a:xfrm>
            <a:off x="6931152" y="3364992"/>
            <a:ext cx="1755648" cy="475488"/>
          </a:xfrm>
          <a:prstGeom prst="rect">
            <a:avLst/>
          </a:prstGeom>
          <a:noFill/>
        </p:spPr>
        <p:txBody>
          <a:bodyPr wrap="square" lIns="0" rIns="0" tIns="0" bIns="0" anchor="t">
            <a:spAutoFit/>
          </a:bodyPr>
          <a:lstStyle/>
          <a:p>
            <a:pPr algn="l">
              <a:lnSpc>
                <a:spcPct val="100000"/>
              </a:lnSpc>
              <a:defRPr sz="1150" b="1">
                <a:solidFill>
                  <a:srgbClr val="FAFAFA"/>
                </a:solidFill>
                <a:latin typeface="Inter"/>
              </a:defRPr>
            </a:pPr>
            <a:r>
              <a:t>Migration Engine</a:t>
            </a:r>
          </a:p>
        </p:txBody>
      </p:sp>
      <p:sp>
        <p:nvSpPr>
          <p:cNvPr id="54" name="TextBox 53"/>
          <p:cNvSpPr txBox="1"/>
          <p:nvPr/>
        </p:nvSpPr>
        <p:spPr>
          <a:xfrm>
            <a:off x="6931152" y="3904487"/>
            <a:ext cx="1737360" cy="685800"/>
          </a:xfrm>
          <a:prstGeom prst="rect">
            <a:avLst/>
          </a:prstGeom>
          <a:noFill/>
        </p:spPr>
        <p:txBody>
          <a:bodyPr wrap="square" lIns="0" rIns="0" tIns="0" bIns="0" anchor="t">
            <a:spAutoFit/>
          </a:bodyPr>
          <a:lstStyle/>
          <a:p>
            <a:pPr algn="l">
              <a:lnSpc>
                <a:spcPct val="108000"/>
              </a:lnSpc>
              <a:defRPr sz="840" b="0">
                <a:solidFill>
                  <a:srgbClr val="A1A1AA"/>
                </a:solidFill>
                <a:latin typeface="Inter"/>
              </a:defRPr>
            </a:pPr>
            <a:r>
              <a:t>Recommend editable boundaries, migration phases, contracts, and service scaffolds.</a:t>
            </a:r>
          </a:p>
        </p:txBody>
      </p:sp>
      <p:sp>
        <p:nvSpPr>
          <p:cNvPr id="55" name="Rounded Rectangle 54"/>
          <p:cNvSpPr/>
          <p:nvPr/>
        </p:nvSpPr>
        <p:spPr>
          <a:xfrm>
            <a:off x="6931152" y="4727448"/>
            <a:ext cx="1572768" cy="228600"/>
          </a:xfrm>
          <a:prstGeom prst="roundRect">
            <a:avLst>
              <a:gd name="adj" fmla="val 8000"/>
            </a:avLst>
          </a:prstGeom>
          <a:solidFill>
            <a:srgbClr val="202024"/>
          </a:solidFill>
          <a:ln w="7620">
            <a:solidFill>
              <a:srgbClr val="3838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967728" y="4736592"/>
            <a:ext cx="1499616" cy="210312"/>
          </a:xfrm>
          <a:prstGeom prst="rect">
            <a:avLst/>
          </a:prstGeom>
          <a:noFill/>
        </p:spPr>
        <p:txBody>
          <a:bodyPr wrap="square" lIns="0" rIns="0" tIns="0" bIns="0" anchor="ctr">
            <a:spAutoFit/>
          </a:bodyPr>
          <a:lstStyle/>
          <a:p>
            <a:pPr algn="ctr">
              <a:lnSpc>
                <a:spcPct val="100000"/>
              </a:lnSpc>
              <a:defRPr sz="610" b="1">
                <a:solidFill>
                  <a:srgbClr val="A1A1AA"/>
                </a:solidFill>
                <a:latin typeface="Inter"/>
              </a:defRPr>
            </a:pPr>
            <a:r>
              <a:t>REVIEWED PLAN</a:t>
            </a:r>
          </a:p>
        </p:txBody>
      </p:sp>
      <p:cxnSp>
        <p:nvCxnSpPr>
          <p:cNvPr id="57" name="Connector 56"/>
          <p:cNvCxnSpPr/>
          <p:nvPr/>
        </p:nvCxnSpPr>
        <p:spPr>
          <a:xfrm>
            <a:off x="8869680" y="3858768"/>
            <a:ext cx="91440" cy="0"/>
          </a:xfrm>
          <a:prstGeom prst="line">
            <a:avLst/>
          </a:prstGeom>
          <a:ln w="15240">
            <a:solidFill>
              <a:srgbClr val="312645"/>
            </a:solidFill>
          </a:ln>
        </p:spPr>
        <p:style>
          <a:lnRef idx="2">
            <a:schemeClr val="accent1"/>
          </a:lnRef>
          <a:fillRef idx="0">
            <a:schemeClr val="accent1"/>
          </a:fillRef>
          <a:effectRef idx="1">
            <a:schemeClr val="accent1"/>
          </a:effectRef>
          <a:fontRef idx="minor">
            <a:schemeClr val="tx1"/>
          </a:fontRef>
        </p:style>
      </p:cxnSp>
      <p:sp>
        <p:nvSpPr>
          <p:cNvPr id="58" name="Chevron 57"/>
          <p:cNvSpPr/>
          <p:nvPr/>
        </p:nvSpPr>
        <p:spPr>
          <a:xfrm>
            <a:off x="8915400" y="3776472"/>
            <a:ext cx="164592" cy="164592"/>
          </a:xfrm>
          <a:prstGeom prst="chevron">
            <a:avLst/>
          </a:prstGeom>
          <a:solidFill>
            <a:srgbClr val="3126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9107424" y="2670048"/>
            <a:ext cx="2084831" cy="2468880"/>
          </a:xfrm>
          <a:prstGeom prst="roundRect">
            <a:avLst>
              <a:gd name="adj" fmla="val 8000"/>
            </a:avLst>
          </a:prstGeom>
          <a:solidFill>
            <a:srgbClr val="18181B"/>
          </a:solidFill>
          <a:ln w="11430">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9272015" y="2871216"/>
            <a:ext cx="347472" cy="347472"/>
          </a:xfrm>
          <a:prstGeom prst="roundRect">
            <a:avLst>
              <a:gd name="adj" fmla="val 8000"/>
            </a:avLst>
          </a:prstGeom>
          <a:solidFill>
            <a:srgbClr val="211B35"/>
          </a:solidFill>
          <a:ln w="7620">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9272015" y="2871216"/>
            <a:ext cx="347472" cy="347472"/>
          </a:xfrm>
          <a:prstGeom prst="rect">
            <a:avLst/>
          </a:prstGeom>
          <a:noFill/>
        </p:spPr>
        <p:txBody>
          <a:bodyPr wrap="square" lIns="0" rIns="0" tIns="0" bIns="0" anchor="ctr">
            <a:spAutoFit/>
          </a:bodyPr>
          <a:lstStyle/>
          <a:p>
            <a:pPr algn="ctr">
              <a:lnSpc>
                <a:spcPct val="100000"/>
              </a:lnSpc>
              <a:defRPr sz="800" b="1">
                <a:solidFill>
                  <a:srgbClr val="A78BFA"/>
                </a:solidFill>
                <a:latin typeface="Inter"/>
              </a:defRPr>
            </a:pPr>
            <a:r>
              <a:t>D</a:t>
            </a:r>
          </a:p>
        </p:txBody>
      </p:sp>
      <p:sp>
        <p:nvSpPr>
          <p:cNvPr id="62" name="TextBox 61"/>
          <p:cNvSpPr txBox="1"/>
          <p:nvPr/>
        </p:nvSpPr>
        <p:spPr>
          <a:xfrm>
            <a:off x="9272015" y="3364992"/>
            <a:ext cx="1755648" cy="475488"/>
          </a:xfrm>
          <a:prstGeom prst="rect">
            <a:avLst/>
          </a:prstGeom>
          <a:noFill/>
        </p:spPr>
        <p:txBody>
          <a:bodyPr wrap="square" lIns="0" rIns="0" tIns="0" bIns="0" anchor="t">
            <a:spAutoFit/>
          </a:bodyPr>
          <a:lstStyle/>
          <a:p>
            <a:pPr algn="l">
              <a:lnSpc>
                <a:spcPct val="100000"/>
              </a:lnSpc>
              <a:defRPr sz="1150" b="1">
                <a:solidFill>
                  <a:srgbClr val="FAFAFA"/>
                </a:solidFill>
                <a:latin typeface="Inter"/>
              </a:defRPr>
            </a:pPr>
            <a:r>
              <a:t>Drift Detector</a:t>
            </a:r>
          </a:p>
        </p:txBody>
      </p:sp>
      <p:sp>
        <p:nvSpPr>
          <p:cNvPr id="63" name="TextBox 62"/>
          <p:cNvSpPr txBox="1"/>
          <p:nvPr/>
        </p:nvSpPr>
        <p:spPr>
          <a:xfrm>
            <a:off x="9272015" y="3904487"/>
            <a:ext cx="1737360" cy="685800"/>
          </a:xfrm>
          <a:prstGeom prst="rect">
            <a:avLst/>
          </a:prstGeom>
          <a:noFill/>
        </p:spPr>
        <p:txBody>
          <a:bodyPr wrap="square" lIns="0" rIns="0" tIns="0" bIns="0" anchor="t">
            <a:spAutoFit/>
          </a:bodyPr>
          <a:lstStyle/>
          <a:p>
            <a:pPr algn="l">
              <a:lnSpc>
                <a:spcPct val="108000"/>
              </a:lnSpc>
              <a:defRPr sz="840" b="0">
                <a:solidFill>
                  <a:srgbClr val="A1A1AA"/>
                </a:solidFill>
                <a:latin typeface="Inter"/>
              </a:defRPr>
            </a:pPr>
            <a:r>
              <a:t>Compare original and proposed behavior through targeted tests and review evidence.</a:t>
            </a:r>
          </a:p>
        </p:txBody>
      </p:sp>
      <p:sp>
        <p:nvSpPr>
          <p:cNvPr id="64" name="Rounded Rectangle 63"/>
          <p:cNvSpPr/>
          <p:nvPr/>
        </p:nvSpPr>
        <p:spPr>
          <a:xfrm>
            <a:off x="9272015" y="4727448"/>
            <a:ext cx="1572768" cy="228600"/>
          </a:xfrm>
          <a:prstGeom prst="roundRect">
            <a:avLst>
              <a:gd name="adj" fmla="val 8000"/>
            </a:avLst>
          </a:prstGeom>
          <a:solidFill>
            <a:srgbClr val="211B35"/>
          </a:solidFill>
          <a:ln w="7620">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308591" y="4736592"/>
            <a:ext cx="1499616" cy="210312"/>
          </a:xfrm>
          <a:prstGeom prst="rect">
            <a:avLst/>
          </a:prstGeom>
          <a:noFill/>
        </p:spPr>
        <p:txBody>
          <a:bodyPr wrap="square" lIns="0" rIns="0" tIns="0" bIns="0" anchor="ctr">
            <a:spAutoFit/>
          </a:bodyPr>
          <a:lstStyle/>
          <a:p>
            <a:pPr algn="ctr">
              <a:lnSpc>
                <a:spcPct val="100000"/>
              </a:lnSpc>
              <a:defRPr sz="610" b="1">
                <a:solidFill>
                  <a:srgbClr val="A78BFA"/>
                </a:solidFill>
                <a:latin typeface="Inter"/>
              </a:defRPr>
            </a:pPr>
            <a:r>
              <a:t>BEHAVIOR REPORT</a:t>
            </a:r>
          </a:p>
        </p:txBody>
      </p:sp>
      <p:sp>
        <p:nvSpPr>
          <p:cNvPr id="66" name="TextBox 65"/>
          <p:cNvSpPr txBox="1"/>
          <p:nvPr/>
        </p:nvSpPr>
        <p:spPr>
          <a:xfrm>
            <a:off x="2103120" y="5431536"/>
            <a:ext cx="9052560" cy="274320"/>
          </a:xfrm>
          <a:prstGeom prst="rect">
            <a:avLst/>
          </a:prstGeom>
          <a:noFill/>
        </p:spPr>
        <p:txBody>
          <a:bodyPr wrap="square" lIns="0" rIns="0" tIns="0" bIns="0" anchor="t">
            <a:spAutoFit/>
          </a:bodyPr>
          <a:lstStyle/>
          <a:p>
            <a:pPr algn="ctr">
              <a:lnSpc>
                <a:spcPct val="100000"/>
              </a:lnSpc>
              <a:defRPr sz="1400" b="1">
                <a:solidFill>
                  <a:srgbClr val="E4E4E7"/>
                </a:solidFill>
                <a:latin typeface="Inter"/>
              </a:defRPr>
            </a:pPr>
            <a:r>
              <a:t>Understand what exists before deciding what should change.</a:t>
            </a:r>
          </a:p>
        </p:txBody>
      </p:sp>
      <p:sp>
        <p:nvSpPr>
          <p:cNvPr id="67" name="TextBox 66"/>
          <p:cNvSpPr txBox="1"/>
          <p:nvPr/>
        </p:nvSpPr>
        <p:spPr>
          <a:xfrm>
            <a:off x="2103120" y="5742432"/>
            <a:ext cx="9052560" cy="182880"/>
          </a:xfrm>
          <a:prstGeom prst="rect">
            <a:avLst/>
          </a:prstGeom>
          <a:noFill/>
        </p:spPr>
        <p:txBody>
          <a:bodyPr wrap="square" lIns="0" rIns="0" tIns="0" bIns="0" anchor="t">
            <a:spAutoFit/>
          </a:bodyPr>
          <a:lstStyle/>
          <a:p>
            <a:pPr algn="ctr">
              <a:lnSpc>
                <a:spcPct val="100000"/>
              </a:lnSpc>
              <a:defRPr sz="800" b="0">
                <a:solidFill>
                  <a:srgbClr val="71717A"/>
                </a:solidFill>
                <a:latin typeface="Inter"/>
              </a:defRPr>
            </a:pPr>
            <a:r>
              <a:t>Evidence flows between every capability rather than stopping at code generation.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9090B"/>
        </a:solidFill>
        <a:effectLst/>
      </p:bgPr>
    </p:bg>
    <p:spTree>
      <p:nvGrpSpPr>
        <p:cNvPr id="1" name=""/>
        <p:cNvGrpSpPr/>
        <p:nvPr/>
      </p:nvGrpSpPr>
      <p:grpSpPr/>
      <p:cxnSp>
        <p:nvCxnSpPr>
          <p:cNvPr id="2" name="Connector 1"/>
          <p:cNvCxnSpPr/>
          <p:nvPr/>
        </p:nvCxnSpPr>
        <p:spPr>
          <a:xfrm>
            <a:off x="3044952" y="0"/>
            <a:ext cx="0" cy="6858000"/>
          </a:xfrm>
          <a:prstGeom prst="line">
            <a:avLst/>
          </a:prstGeom>
          <a:ln w="4445">
            <a:solidFill>
              <a:srgbClr val="111114"/>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6089904" y="0"/>
            <a:ext cx="0" cy="6858000"/>
          </a:xfrm>
          <a:prstGeom prst="line">
            <a:avLst/>
          </a:prstGeom>
          <a:ln w="4445">
            <a:solidFill>
              <a:srgbClr val="111114"/>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9134856" y="0"/>
            <a:ext cx="0" cy="6858000"/>
          </a:xfrm>
          <a:prstGeom prst="line">
            <a:avLst/>
          </a:prstGeom>
          <a:ln w="4445">
            <a:solidFill>
              <a:srgbClr val="111114"/>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02920" y="612648"/>
            <a:ext cx="11183112" cy="0"/>
          </a:xfrm>
          <a:prstGeom prst="line">
            <a:avLst/>
          </a:prstGeom>
          <a:ln w="6985">
            <a:solidFill>
              <a:srgbClr val="202024"/>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246888"/>
            <a:ext cx="228600" cy="228600"/>
          </a:xfrm>
          <a:prstGeom prst="roundRect">
            <a:avLst>
              <a:gd name="adj" fmla="val 8000"/>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46888"/>
            <a:ext cx="228600" cy="228600"/>
          </a:xfrm>
          <a:prstGeom prst="rect">
            <a:avLst/>
          </a:prstGeom>
          <a:noFill/>
        </p:spPr>
        <p:txBody>
          <a:bodyPr wrap="square" lIns="0" rIns="0" tIns="0" bIns="0" anchor="ctr">
            <a:spAutoFit/>
          </a:bodyPr>
          <a:lstStyle/>
          <a:p>
            <a:pPr algn="ctr">
              <a:lnSpc>
                <a:spcPct val="100000"/>
              </a:lnSpc>
              <a:defRPr sz="650" b="1">
                <a:solidFill>
                  <a:srgbClr val="09090B"/>
                </a:solidFill>
                <a:latin typeface="Inter"/>
              </a:defRPr>
            </a:pPr>
            <a:r>
              <a:t>LB</a:t>
            </a:r>
          </a:p>
        </p:txBody>
      </p:sp>
      <p:sp>
        <p:nvSpPr>
          <p:cNvPr id="8" name="TextBox 7"/>
          <p:cNvSpPr txBox="1"/>
          <p:nvPr/>
        </p:nvSpPr>
        <p:spPr>
          <a:xfrm>
            <a:off x="804672" y="269748"/>
            <a:ext cx="2011680" cy="201168"/>
          </a:xfrm>
          <a:prstGeom prst="rect">
            <a:avLst/>
          </a:prstGeom>
          <a:noFill/>
        </p:spPr>
        <p:txBody>
          <a:bodyPr wrap="square" lIns="0" rIns="0" tIns="0" bIns="0" anchor="t">
            <a:spAutoFit/>
          </a:bodyPr>
          <a:lstStyle/>
          <a:p>
            <a:pPr algn="l">
              <a:lnSpc>
                <a:spcPct val="100000"/>
              </a:lnSpc>
              <a:defRPr sz="850" b="1">
                <a:solidFill>
                  <a:srgbClr val="E4E4E7"/>
                </a:solidFill>
                <a:latin typeface="Inter"/>
              </a:defRPr>
            </a:pPr>
            <a:r>
              <a:t>LEGACYBRIDGE</a:t>
            </a:r>
          </a:p>
        </p:txBody>
      </p:sp>
      <p:sp>
        <p:nvSpPr>
          <p:cNvPr id="9" name="Rounded Rectangle 8"/>
          <p:cNvSpPr/>
          <p:nvPr/>
        </p:nvSpPr>
        <p:spPr>
          <a:xfrm>
            <a:off x="11045952" y="237744"/>
            <a:ext cx="640080" cy="256032"/>
          </a:xfrm>
          <a:prstGeom prst="roundRect">
            <a:avLst>
              <a:gd name="adj" fmla="val 8000"/>
            </a:avLst>
          </a:prstGeom>
          <a:solidFill>
            <a:srgbClr val="111114"/>
          </a:solidFill>
          <a:ln w="7620">
            <a:solidFill>
              <a:srgbClr val="2B2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082528" y="246888"/>
            <a:ext cx="566928" cy="237744"/>
          </a:xfrm>
          <a:prstGeom prst="rect">
            <a:avLst/>
          </a:prstGeom>
          <a:noFill/>
        </p:spPr>
        <p:txBody>
          <a:bodyPr wrap="square" lIns="0" rIns="0" tIns="0" bIns="0" anchor="ctr">
            <a:spAutoFit/>
          </a:bodyPr>
          <a:lstStyle/>
          <a:p>
            <a:pPr algn="ctr">
              <a:lnSpc>
                <a:spcPct val="100000"/>
              </a:lnSpc>
              <a:defRPr sz="700" b="1">
                <a:solidFill>
                  <a:srgbClr val="A1A1AA"/>
                </a:solidFill>
                <a:latin typeface="Inter"/>
              </a:defRPr>
            </a:pPr>
            <a:r>
              <a:t>04 / 10</a:t>
            </a:r>
          </a:p>
        </p:txBody>
      </p:sp>
      <p:sp>
        <p:nvSpPr>
          <p:cNvPr id="11" name="TextBox 10"/>
          <p:cNvSpPr txBox="1"/>
          <p:nvPr/>
        </p:nvSpPr>
        <p:spPr>
          <a:xfrm>
            <a:off x="548640" y="768096"/>
            <a:ext cx="6858000" cy="219456"/>
          </a:xfrm>
          <a:prstGeom prst="rect">
            <a:avLst/>
          </a:prstGeom>
          <a:noFill/>
        </p:spPr>
        <p:txBody>
          <a:bodyPr wrap="square" lIns="0" rIns="0" tIns="0" bIns="0" anchor="t">
            <a:spAutoFit/>
          </a:bodyPr>
          <a:lstStyle/>
          <a:p>
            <a:pPr algn="l">
              <a:lnSpc>
                <a:spcPct val="100000"/>
              </a:lnSpc>
              <a:defRPr sz="800" b="1">
                <a:solidFill>
                  <a:srgbClr val="A78BFA"/>
                </a:solidFill>
                <a:latin typeface="Inter"/>
              </a:defRPr>
            </a:pPr>
            <a:r>
              <a:t>HOW IT WORKS</a:t>
            </a:r>
          </a:p>
        </p:txBody>
      </p:sp>
      <p:sp>
        <p:nvSpPr>
          <p:cNvPr id="12" name="TextBox 11"/>
          <p:cNvSpPr txBox="1"/>
          <p:nvPr/>
        </p:nvSpPr>
        <p:spPr>
          <a:xfrm>
            <a:off x="548640" y="996696"/>
            <a:ext cx="11064240" cy="585216"/>
          </a:xfrm>
          <a:prstGeom prst="rect">
            <a:avLst/>
          </a:prstGeom>
          <a:noFill/>
        </p:spPr>
        <p:txBody>
          <a:bodyPr wrap="square" lIns="0" rIns="0" tIns="0" bIns="0" anchor="t">
            <a:spAutoFit/>
          </a:bodyPr>
          <a:lstStyle/>
          <a:p>
            <a:pPr algn="l">
              <a:lnSpc>
                <a:spcPct val="95000"/>
              </a:lnSpc>
              <a:defRPr sz="2700" b="1">
                <a:solidFill>
                  <a:srgbClr val="FAFAFA"/>
                </a:solidFill>
                <a:latin typeface="Inter"/>
              </a:defRPr>
            </a:pPr>
            <a:r>
              <a:t>One Connected Workflow. From Codebase to Validated Migration.</a:t>
            </a:r>
          </a:p>
        </p:txBody>
      </p:sp>
      <p:sp>
        <p:nvSpPr>
          <p:cNvPr id="13" name="TextBox 12"/>
          <p:cNvSpPr txBox="1"/>
          <p:nvPr/>
        </p:nvSpPr>
        <p:spPr>
          <a:xfrm>
            <a:off x="548640" y="1545336"/>
            <a:ext cx="10972800" cy="347472"/>
          </a:xfrm>
          <a:prstGeom prst="rect">
            <a:avLst/>
          </a:prstGeom>
          <a:noFill/>
        </p:spPr>
        <p:txBody>
          <a:bodyPr wrap="square" lIns="0" rIns="0" tIns="0" bIns="0" anchor="t">
            <a:spAutoFit/>
          </a:bodyPr>
          <a:lstStyle/>
          <a:p>
            <a:pPr algn="l">
              <a:lnSpc>
                <a:spcPct val="100000"/>
              </a:lnSpc>
              <a:defRPr sz="1050" b="0">
                <a:solidFill>
                  <a:srgbClr val="A1A1AA"/>
                </a:solidFill>
                <a:latin typeface="Inter"/>
              </a:defRPr>
            </a:pPr>
            <a:r>
              <a:t>DISCOVER → UNDERSTAND → PLAN → MIGRATE → VALIDATE</a:t>
            </a:r>
          </a:p>
        </p:txBody>
      </p:sp>
      <p:cxnSp>
        <p:nvCxnSpPr>
          <p:cNvPr id="14" name="Connector 13"/>
          <p:cNvCxnSpPr/>
          <p:nvPr/>
        </p:nvCxnSpPr>
        <p:spPr>
          <a:xfrm>
            <a:off x="502920" y="6473952"/>
            <a:ext cx="11183112" cy="0"/>
          </a:xfrm>
          <a:prstGeom prst="line">
            <a:avLst/>
          </a:prstGeom>
          <a:ln w="6985">
            <a:solidFill>
              <a:srgbClr val="202024"/>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48640" y="6565392"/>
            <a:ext cx="7909560" cy="164592"/>
          </a:xfrm>
          <a:prstGeom prst="rect">
            <a:avLst/>
          </a:prstGeom>
          <a:noFill/>
        </p:spPr>
        <p:txBody>
          <a:bodyPr wrap="square" lIns="0" rIns="0" tIns="0" bIns="0" anchor="t">
            <a:spAutoFit/>
          </a:bodyPr>
          <a:lstStyle/>
          <a:p>
            <a:pPr algn="l">
              <a:lnSpc>
                <a:spcPct val="100000"/>
              </a:lnSpc>
              <a:defRPr sz="630" b="0">
                <a:solidFill>
                  <a:srgbClr val="71717A"/>
                </a:solidFill>
                <a:latin typeface="Inter"/>
              </a:defRPr>
            </a:pPr>
            <a:r>
              <a:t>Proposed workflow • migration and validation are never assumed to succeed automatically</a:t>
            </a:r>
          </a:p>
        </p:txBody>
      </p:sp>
      <p:sp>
        <p:nvSpPr>
          <p:cNvPr id="16" name="TextBox 15"/>
          <p:cNvSpPr txBox="1"/>
          <p:nvPr/>
        </p:nvSpPr>
        <p:spPr>
          <a:xfrm>
            <a:off x="8732520" y="6565392"/>
            <a:ext cx="2926080" cy="164592"/>
          </a:xfrm>
          <a:prstGeom prst="rect">
            <a:avLst/>
          </a:prstGeom>
          <a:noFill/>
        </p:spPr>
        <p:txBody>
          <a:bodyPr wrap="square" lIns="0" rIns="0" tIns="0" bIns="0" anchor="t">
            <a:spAutoFit/>
          </a:bodyPr>
          <a:lstStyle/>
          <a:p>
            <a:pPr algn="r">
              <a:lnSpc>
                <a:spcPct val="100000"/>
              </a:lnSpc>
              <a:defRPr sz="610" b="0">
                <a:solidFill>
                  <a:srgbClr val="71717A"/>
                </a:solidFill>
                <a:latin typeface="Inter"/>
              </a:defRPr>
            </a:pPr>
            <a:r>
              <a:t>PROPOSED PRODUCT • HACKATHON PRESENTATION</a:t>
            </a:r>
          </a:p>
        </p:txBody>
      </p:sp>
      <p:sp>
        <p:nvSpPr>
          <p:cNvPr id="17" name="Rounded Rectangle 16"/>
          <p:cNvSpPr/>
          <p:nvPr/>
        </p:nvSpPr>
        <p:spPr>
          <a:xfrm>
            <a:off x="548640" y="2121408"/>
            <a:ext cx="1965960" cy="3154680"/>
          </a:xfrm>
          <a:prstGeom prst="roundRect">
            <a:avLst>
              <a:gd name="adj" fmla="val 8000"/>
            </a:avLst>
          </a:prstGeom>
          <a:solidFill>
            <a:srgbClr val="18181B"/>
          </a:solidFill>
          <a:ln w="9525">
            <a:solidFill>
              <a:srgbClr val="2B2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13232" y="2340864"/>
            <a:ext cx="384048" cy="384048"/>
          </a:xfrm>
          <a:prstGeom prst="roundRect">
            <a:avLst>
              <a:gd name="adj" fmla="val 8000"/>
            </a:avLst>
          </a:prstGeom>
          <a:solidFill>
            <a:srgbClr val="211B35"/>
          </a:solidFill>
          <a:ln w="7620">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3232" y="2340864"/>
            <a:ext cx="384048" cy="384048"/>
          </a:xfrm>
          <a:prstGeom prst="rect">
            <a:avLst/>
          </a:prstGeom>
          <a:noFill/>
        </p:spPr>
        <p:txBody>
          <a:bodyPr wrap="square" lIns="0" rIns="0" tIns="0" bIns="0" anchor="ctr">
            <a:spAutoFit/>
          </a:bodyPr>
          <a:lstStyle/>
          <a:p>
            <a:pPr algn="ctr">
              <a:lnSpc>
                <a:spcPct val="100000"/>
              </a:lnSpc>
              <a:defRPr sz="750" b="1">
                <a:solidFill>
                  <a:srgbClr val="A78BFA"/>
                </a:solidFill>
                <a:latin typeface="Inter"/>
              </a:defRPr>
            </a:pPr>
            <a:r>
              <a:t>01</a:t>
            </a:r>
          </a:p>
        </p:txBody>
      </p:sp>
      <p:sp>
        <p:nvSpPr>
          <p:cNvPr id="20" name="TextBox 19"/>
          <p:cNvSpPr txBox="1"/>
          <p:nvPr/>
        </p:nvSpPr>
        <p:spPr>
          <a:xfrm>
            <a:off x="713232" y="2926080"/>
            <a:ext cx="1645920" cy="274320"/>
          </a:xfrm>
          <a:prstGeom prst="rect">
            <a:avLst/>
          </a:prstGeom>
          <a:noFill/>
        </p:spPr>
        <p:txBody>
          <a:bodyPr wrap="square" lIns="0" rIns="0" tIns="0" bIns="0" anchor="t">
            <a:spAutoFit/>
          </a:bodyPr>
          <a:lstStyle/>
          <a:p>
            <a:pPr algn="l">
              <a:lnSpc>
                <a:spcPct val="100000"/>
              </a:lnSpc>
              <a:defRPr sz="1050" b="1">
                <a:solidFill>
                  <a:srgbClr val="FAFAFA"/>
                </a:solidFill>
                <a:latin typeface="Inter"/>
              </a:defRPr>
            </a:pPr>
            <a:r>
              <a:t>DISCOVER</a:t>
            </a:r>
          </a:p>
        </p:txBody>
      </p:sp>
      <p:sp>
        <p:nvSpPr>
          <p:cNvPr id="21" name="TextBox 20"/>
          <p:cNvSpPr txBox="1"/>
          <p:nvPr/>
        </p:nvSpPr>
        <p:spPr>
          <a:xfrm>
            <a:off x="713232" y="3364992"/>
            <a:ext cx="1609344" cy="960120"/>
          </a:xfrm>
          <a:prstGeom prst="rect">
            <a:avLst/>
          </a:prstGeom>
          <a:noFill/>
        </p:spPr>
        <p:txBody>
          <a:bodyPr wrap="square" lIns="0" rIns="0" tIns="0" bIns="0" anchor="t">
            <a:spAutoFit/>
          </a:bodyPr>
          <a:lstStyle/>
          <a:p>
            <a:pPr algn="l">
              <a:lnSpc>
                <a:spcPct val="110000"/>
              </a:lnSpc>
              <a:defRPr sz="919" b="0">
                <a:solidFill>
                  <a:srgbClr val="A1A1AA"/>
                </a:solidFill>
                <a:latin typeface="Inter"/>
              </a:defRPr>
            </a:pPr>
            <a:r>
              <a:t>Import an authorized legacy repository or supported source files.</a:t>
            </a:r>
          </a:p>
        </p:txBody>
      </p:sp>
      <p:cxnSp>
        <p:nvCxnSpPr>
          <p:cNvPr id="22" name="Connector 21"/>
          <p:cNvCxnSpPr/>
          <p:nvPr/>
        </p:nvCxnSpPr>
        <p:spPr>
          <a:xfrm>
            <a:off x="713232" y="4590288"/>
            <a:ext cx="1618488" cy="0"/>
          </a:xfrm>
          <a:prstGeom prst="line">
            <a:avLst/>
          </a:prstGeom>
          <a:ln w="6985">
            <a:solidFill>
              <a:srgbClr val="2B2B33"/>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13232" y="4727448"/>
            <a:ext cx="731520" cy="201168"/>
          </a:xfrm>
          <a:prstGeom prst="rect">
            <a:avLst/>
          </a:prstGeom>
          <a:noFill/>
        </p:spPr>
        <p:txBody>
          <a:bodyPr wrap="square" lIns="0" rIns="0" tIns="0" bIns="0" anchor="t">
            <a:spAutoFit/>
          </a:bodyPr>
          <a:lstStyle/>
          <a:p>
            <a:pPr algn="l">
              <a:lnSpc>
                <a:spcPct val="100000"/>
              </a:lnSpc>
              <a:defRPr sz="620" b="1">
                <a:solidFill>
                  <a:srgbClr val="71717A"/>
                </a:solidFill>
                <a:latin typeface="Inter"/>
              </a:defRPr>
            </a:pPr>
            <a:r>
              <a:t>OUTPUT</a:t>
            </a:r>
          </a:p>
        </p:txBody>
      </p:sp>
      <p:sp>
        <p:nvSpPr>
          <p:cNvPr id="24" name="TextBox 23"/>
          <p:cNvSpPr txBox="1"/>
          <p:nvPr/>
        </p:nvSpPr>
        <p:spPr>
          <a:xfrm>
            <a:off x="713232" y="4965192"/>
            <a:ext cx="1627632" cy="182880"/>
          </a:xfrm>
          <a:prstGeom prst="rect">
            <a:avLst/>
          </a:prstGeom>
          <a:noFill/>
        </p:spPr>
        <p:txBody>
          <a:bodyPr wrap="square" lIns="0" rIns="0" tIns="0" bIns="0" anchor="t">
            <a:spAutoFit/>
          </a:bodyPr>
          <a:lstStyle/>
          <a:p>
            <a:pPr algn="l">
              <a:lnSpc>
                <a:spcPct val="100000"/>
              </a:lnSpc>
              <a:defRPr sz="730" b="1">
                <a:solidFill>
                  <a:srgbClr val="E4E4E7"/>
                </a:solidFill>
                <a:latin typeface="Inter"/>
              </a:defRPr>
            </a:pPr>
            <a:r>
              <a:t>SOURCE + ACCESS</a:t>
            </a:r>
          </a:p>
        </p:txBody>
      </p:sp>
      <p:cxnSp>
        <p:nvCxnSpPr>
          <p:cNvPr id="25" name="Connector 24"/>
          <p:cNvCxnSpPr/>
          <p:nvPr/>
        </p:nvCxnSpPr>
        <p:spPr>
          <a:xfrm>
            <a:off x="2523744" y="3694176"/>
            <a:ext cx="137160" cy="0"/>
          </a:xfrm>
          <a:prstGeom prst="line">
            <a:avLst/>
          </a:prstGeom>
          <a:ln w="15240">
            <a:solidFill>
              <a:srgbClr val="312645"/>
            </a:solidFill>
          </a:ln>
        </p:spPr>
        <p:style>
          <a:lnRef idx="2">
            <a:schemeClr val="accent1"/>
          </a:lnRef>
          <a:fillRef idx="0">
            <a:schemeClr val="accent1"/>
          </a:fillRef>
          <a:effectRef idx="1">
            <a:schemeClr val="accent1"/>
          </a:effectRef>
          <a:fontRef idx="minor">
            <a:schemeClr val="tx1"/>
          </a:fontRef>
        </p:style>
      </p:cxnSp>
      <p:sp>
        <p:nvSpPr>
          <p:cNvPr id="26" name="Chevron 25"/>
          <p:cNvSpPr/>
          <p:nvPr/>
        </p:nvSpPr>
        <p:spPr>
          <a:xfrm>
            <a:off x="2615184" y="3611880"/>
            <a:ext cx="164592" cy="164592"/>
          </a:xfrm>
          <a:prstGeom prst="chevron">
            <a:avLst/>
          </a:prstGeom>
          <a:solidFill>
            <a:srgbClr val="3126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2816352" y="2121408"/>
            <a:ext cx="1965960" cy="3154680"/>
          </a:xfrm>
          <a:prstGeom prst="roundRect">
            <a:avLst>
              <a:gd name="adj" fmla="val 8000"/>
            </a:avLst>
          </a:prstGeom>
          <a:solidFill>
            <a:srgbClr val="18181B"/>
          </a:solidFill>
          <a:ln w="9525">
            <a:solidFill>
              <a:srgbClr val="2B2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2980944" y="2340864"/>
            <a:ext cx="384048" cy="384048"/>
          </a:xfrm>
          <a:prstGeom prst="roundRect">
            <a:avLst>
              <a:gd name="adj" fmla="val 8000"/>
            </a:avLst>
          </a:prstGeom>
          <a:solidFill>
            <a:srgbClr val="211B35"/>
          </a:solidFill>
          <a:ln w="7620">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980944" y="2340864"/>
            <a:ext cx="384048" cy="384048"/>
          </a:xfrm>
          <a:prstGeom prst="rect">
            <a:avLst/>
          </a:prstGeom>
          <a:noFill/>
        </p:spPr>
        <p:txBody>
          <a:bodyPr wrap="square" lIns="0" rIns="0" tIns="0" bIns="0" anchor="ctr">
            <a:spAutoFit/>
          </a:bodyPr>
          <a:lstStyle/>
          <a:p>
            <a:pPr algn="ctr">
              <a:lnSpc>
                <a:spcPct val="100000"/>
              </a:lnSpc>
              <a:defRPr sz="750" b="1">
                <a:solidFill>
                  <a:srgbClr val="A78BFA"/>
                </a:solidFill>
                <a:latin typeface="Inter"/>
              </a:defRPr>
            </a:pPr>
            <a:r>
              <a:t>02</a:t>
            </a:r>
          </a:p>
        </p:txBody>
      </p:sp>
      <p:sp>
        <p:nvSpPr>
          <p:cNvPr id="30" name="TextBox 29"/>
          <p:cNvSpPr txBox="1"/>
          <p:nvPr/>
        </p:nvSpPr>
        <p:spPr>
          <a:xfrm>
            <a:off x="2980944" y="2926080"/>
            <a:ext cx="1645920" cy="274320"/>
          </a:xfrm>
          <a:prstGeom prst="rect">
            <a:avLst/>
          </a:prstGeom>
          <a:noFill/>
        </p:spPr>
        <p:txBody>
          <a:bodyPr wrap="square" lIns="0" rIns="0" tIns="0" bIns="0" anchor="t">
            <a:spAutoFit/>
          </a:bodyPr>
          <a:lstStyle/>
          <a:p>
            <a:pPr algn="l">
              <a:lnSpc>
                <a:spcPct val="100000"/>
              </a:lnSpc>
              <a:defRPr sz="1050" b="1">
                <a:solidFill>
                  <a:srgbClr val="FAFAFA"/>
                </a:solidFill>
                <a:latin typeface="Inter"/>
              </a:defRPr>
            </a:pPr>
            <a:r>
              <a:t>UNDERSTAND</a:t>
            </a:r>
          </a:p>
        </p:txBody>
      </p:sp>
      <p:sp>
        <p:nvSpPr>
          <p:cNvPr id="31" name="TextBox 30"/>
          <p:cNvSpPr txBox="1"/>
          <p:nvPr/>
        </p:nvSpPr>
        <p:spPr>
          <a:xfrm>
            <a:off x="2980944" y="3364992"/>
            <a:ext cx="1609344" cy="960120"/>
          </a:xfrm>
          <a:prstGeom prst="rect">
            <a:avLst/>
          </a:prstGeom>
          <a:noFill/>
        </p:spPr>
        <p:txBody>
          <a:bodyPr wrap="square" lIns="0" rIns="0" tIns="0" bIns="0" anchor="t">
            <a:spAutoFit/>
          </a:bodyPr>
          <a:lstStyle/>
          <a:p>
            <a:pPr algn="l">
              <a:lnSpc>
                <a:spcPct val="110000"/>
              </a:lnSpc>
              <a:defRPr sz="919" b="0">
                <a:solidFill>
                  <a:srgbClr val="A1A1AA"/>
                </a:solidFill>
                <a:latin typeface="Inter"/>
              </a:defRPr>
            </a:pPr>
            <a:r>
              <a:t>Analyze structure, dependencies, candidate rules, and technical risks.</a:t>
            </a:r>
          </a:p>
        </p:txBody>
      </p:sp>
      <p:cxnSp>
        <p:nvCxnSpPr>
          <p:cNvPr id="32" name="Connector 31"/>
          <p:cNvCxnSpPr/>
          <p:nvPr/>
        </p:nvCxnSpPr>
        <p:spPr>
          <a:xfrm>
            <a:off x="2980944" y="4590288"/>
            <a:ext cx="1618488" cy="0"/>
          </a:xfrm>
          <a:prstGeom prst="line">
            <a:avLst/>
          </a:prstGeom>
          <a:ln w="6985">
            <a:solidFill>
              <a:srgbClr val="2B2B33"/>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2980944" y="4727448"/>
            <a:ext cx="731520" cy="201168"/>
          </a:xfrm>
          <a:prstGeom prst="rect">
            <a:avLst/>
          </a:prstGeom>
          <a:noFill/>
        </p:spPr>
        <p:txBody>
          <a:bodyPr wrap="square" lIns="0" rIns="0" tIns="0" bIns="0" anchor="t">
            <a:spAutoFit/>
          </a:bodyPr>
          <a:lstStyle/>
          <a:p>
            <a:pPr algn="l">
              <a:lnSpc>
                <a:spcPct val="100000"/>
              </a:lnSpc>
              <a:defRPr sz="620" b="1">
                <a:solidFill>
                  <a:srgbClr val="71717A"/>
                </a:solidFill>
                <a:latin typeface="Inter"/>
              </a:defRPr>
            </a:pPr>
            <a:r>
              <a:t>OUTPUT</a:t>
            </a:r>
          </a:p>
        </p:txBody>
      </p:sp>
      <p:sp>
        <p:nvSpPr>
          <p:cNvPr id="34" name="TextBox 33"/>
          <p:cNvSpPr txBox="1"/>
          <p:nvPr/>
        </p:nvSpPr>
        <p:spPr>
          <a:xfrm>
            <a:off x="2980944" y="4965192"/>
            <a:ext cx="1627632" cy="182880"/>
          </a:xfrm>
          <a:prstGeom prst="rect">
            <a:avLst/>
          </a:prstGeom>
          <a:noFill/>
        </p:spPr>
        <p:txBody>
          <a:bodyPr wrap="square" lIns="0" rIns="0" tIns="0" bIns="0" anchor="t">
            <a:spAutoFit/>
          </a:bodyPr>
          <a:lstStyle/>
          <a:p>
            <a:pPr algn="l">
              <a:lnSpc>
                <a:spcPct val="100000"/>
              </a:lnSpc>
              <a:defRPr sz="730" b="1">
                <a:solidFill>
                  <a:srgbClr val="E4E4E7"/>
                </a:solidFill>
                <a:latin typeface="Inter"/>
              </a:defRPr>
            </a:pPr>
            <a:r>
              <a:t>EVIDENCE MAP</a:t>
            </a:r>
          </a:p>
        </p:txBody>
      </p:sp>
      <p:cxnSp>
        <p:nvCxnSpPr>
          <p:cNvPr id="35" name="Connector 34"/>
          <p:cNvCxnSpPr/>
          <p:nvPr/>
        </p:nvCxnSpPr>
        <p:spPr>
          <a:xfrm>
            <a:off x="4791456" y="3694176"/>
            <a:ext cx="137160" cy="0"/>
          </a:xfrm>
          <a:prstGeom prst="line">
            <a:avLst/>
          </a:prstGeom>
          <a:ln w="15240">
            <a:solidFill>
              <a:srgbClr val="312645"/>
            </a:solidFill>
          </a:ln>
        </p:spPr>
        <p:style>
          <a:lnRef idx="2">
            <a:schemeClr val="accent1"/>
          </a:lnRef>
          <a:fillRef idx="0">
            <a:schemeClr val="accent1"/>
          </a:fillRef>
          <a:effectRef idx="1">
            <a:schemeClr val="accent1"/>
          </a:effectRef>
          <a:fontRef idx="minor">
            <a:schemeClr val="tx1"/>
          </a:fontRef>
        </p:style>
      </p:cxnSp>
      <p:sp>
        <p:nvSpPr>
          <p:cNvPr id="36" name="Chevron 35"/>
          <p:cNvSpPr/>
          <p:nvPr/>
        </p:nvSpPr>
        <p:spPr>
          <a:xfrm>
            <a:off x="4882896" y="3611880"/>
            <a:ext cx="164592" cy="164592"/>
          </a:xfrm>
          <a:prstGeom prst="chevron">
            <a:avLst/>
          </a:prstGeom>
          <a:solidFill>
            <a:srgbClr val="3126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5084064" y="2121408"/>
            <a:ext cx="1965960" cy="3154680"/>
          </a:xfrm>
          <a:prstGeom prst="roundRect">
            <a:avLst>
              <a:gd name="adj" fmla="val 8000"/>
            </a:avLst>
          </a:prstGeom>
          <a:solidFill>
            <a:srgbClr val="18181B"/>
          </a:solidFill>
          <a:ln w="9525">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5248655" y="2340864"/>
            <a:ext cx="384048" cy="384048"/>
          </a:xfrm>
          <a:prstGeom prst="roundRect">
            <a:avLst>
              <a:gd name="adj" fmla="val 8000"/>
            </a:avLst>
          </a:prstGeom>
          <a:solidFill>
            <a:srgbClr val="211B35"/>
          </a:solidFill>
          <a:ln w="7620">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248655" y="2340864"/>
            <a:ext cx="384048" cy="384048"/>
          </a:xfrm>
          <a:prstGeom prst="rect">
            <a:avLst/>
          </a:prstGeom>
          <a:noFill/>
        </p:spPr>
        <p:txBody>
          <a:bodyPr wrap="square" lIns="0" rIns="0" tIns="0" bIns="0" anchor="ctr">
            <a:spAutoFit/>
          </a:bodyPr>
          <a:lstStyle/>
          <a:p>
            <a:pPr algn="ctr">
              <a:lnSpc>
                <a:spcPct val="100000"/>
              </a:lnSpc>
              <a:defRPr sz="750" b="1">
                <a:solidFill>
                  <a:srgbClr val="A78BFA"/>
                </a:solidFill>
                <a:latin typeface="Inter"/>
              </a:defRPr>
            </a:pPr>
            <a:r>
              <a:t>03</a:t>
            </a:r>
          </a:p>
        </p:txBody>
      </p:sp>
      <p:sp>
        <p:nvSpPr>
          <p:cNvPr id="40" name="TextBox 39"/>
          <p:cNvSpPr txBox="1"/>
          <p:nvPr/>
        </p:nvSpPr>
        <p:spPr>
          <a:xfrm>
            <a:off x="5248655" y="2926080"/>
            <a:ext cx="1645920" cy="274320"/>
          </a:xfrm>
          <a:prstGeom prst="rect">
            <a:avLst/>
          </a:prstGeom>
          <a:noFill/>
        </p:spPr>
        <p:txBody>
          <a:bodyPr wrap="square" lIns="0" rIns="0" tIns="0" bIns="0" anchor="t">
            <a:spAutoFit/>
          </a:bodyPr>
          <a:lstStyle/>
          <a:p>
            <a:pPr algn="l">
              <a:lnSpc>
                <a:spcPct val="100000"/>
              </a:lnSpc>
              <a:defRPr sz="1050" b="1">
                <a:solidFill>
                  <a:srgbClr val="FAFAFA"/>
                </a:solidFill>
                <a:latin typeface="Inter"/>
              </a:defRPr>
            </a:pPr>
            <a:r>
              <a:t>PLAN</a:t>
            </a:r>
          </a:p>
        </p:txBody>
      </p:sp>
      <p:sp>
        <p:nvSpPr>
          <p:cNvPr id="41" name="TextBox 40"/>
          <p:cNvSpPr txBox="1"/>
          <p:nvPr/>
        </p:nvSpPr>
        <p:spPr>
          <a:xfrm>
            <a:off x="5248655" y="3364992"/>
            <a:ext cx="1609344" cy="960120"/>
          </a:xfrm>
          <a:prstGeom prst="rect">
            <a:avLst/>
          </a:prstGeom>
          <a:noFill/>
        </p:spPr>
        <p:txBody>
          <a:bodyPr wrap="square" lIns="0" rIns="0" tIns="0" bIns="0" anchor="t">
            <a:spAutoFit/>
          </a:bodyPr>
          <a:lstStyle/>
          <a:p>
            <a:pPr algn="l">
              <a:lnSpc>
                <a:spcPct val="110000"/>
              </a:lnSpc>
              <a:defRPr sz="919" b="0">
                <a:solidFill>
                  <a:srgbClr val="A1A1AA"/>
                </a:solidFill>
                <a:latin typeface="Inter"/>
              </a:defRPr>
            </a:pPr>
            <a:r>
              <a:t>Recommend boundaries, contracts, data ownership, phases, and rollback.</a:t>
            </a:r>
          </a:p>
        </p:txBody>
      </p:sp>
      <p:cxnSp>
        <p:nvCxnSpPr>
          <p:cNvPr id="42" name="Connector 41"/>
          <p:cNvCxnSpPr/>
          <p:nvPr/>
        </p:nvCxnSpPr>
        <p:spPr>
          <a:xfrm>
            <a:off x="5248655" y="4590288"/>
            <a:ext cx="1618489" cy="0"/>
          </a:xfrm>
          <a:prstGeom prst="line">
            <a:avLst/>
          </a:prstGeom>
          <a:ln w="6985">
            <a:solidFill>
              <a:srgbClr val="2B2B33"/>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5248655" y="4727448"/>
            <a:ext cx="731520" cy="201168"/>
          </a:xfrm>
          <a:prstGeom prst="rect">
            <a:avLst/>
          </a:prstGeom>
          <a:noFill/>
        </p:spPr>
        <p:txBody>
          <a:bodyPr wrap="square" lIns="0" rIns="0" tIns="0" bIns="0" anchor="t">
            <a:spAutoFit/>
          </a:bodyPr>
          <a:lstStyle/>
          <a:p>
            <a:pPr algn="l">
              <a:lnSpc>
                <a:spcPct val="100000"/>
              </a:lnSpc>
              <a:defRPr sz="620" b="1">
                <a:solidFill>
                  <a:srgbClr val="71717A"/>
                </a:solidFill>
                <a:latin typeface="Inter"/>
              </a:defRPr>
            </a:pPr>
            <a:r>
              <a:t>OUTPUT</a:t>
            </a:r>
          </a:p>
        </p:txBody>
      </p:sp>
      <p:sp>
        <p:nvSpPr>
          <p:cNvPr id="44" name="TextBox 43"/>
          <p:cNvSpPr txBox="1"/>
          <p:nvPr/>
        </p:nvSpPr>
        <p:spPr>
          <a:xfrm>
            <a:off x="5248655" y="4965192"/>
            <a:ext cx="1627632" cy="182880"/>
          </a:xfrm>
          <a:prstGeom prst="rect">
            <a:avLst/>
          </a:prstGeom>
          <a:noFill/>
        </p:spPr>
        <p:txBody>
          <a:bodyPr wrap="square" lIns="0" rIns="0" tIns="0" bIns="0" anchor="t">
            <a:spAutoFit/>
          </a:bodyPr>
          <a:lstStyle/>
          <a:p>
            <a:pPr algn="l">
              <a:lnSpc>
                <a:spcPct val="100000"/>
              </a:lnSpc>
              <a:defRPr sz="730" b="1">
                <a:solidFill>
                  <a:srgbClr val="A78BFA"/>
                </a:solidFill>
                <a:latin typeface="Inter"/>
              </a:defRPr>
            </a:pPr>
            <a:r>
              <a:t>EDITABLE PLAN</a:t>
            </a:r>
          </a:p>
        </p:txBody>
      </p:sp>
      <p:sp>
        <p:nvSpPr>
          <p:cNvPr id="45" name="Rounded Rectangle 44"/>
          <p:cNvSpPr/>
          <p:nvPr/>
        </p:nvSpPr>
        <p:spPr>
          <a:xfrm>
            <a:off x="5248655" y="5394960"/>
            <a:ext cx="1572768" cy="237744"/>
          </a:xfrm>
          <a:prstGeom prst="roundRect">
            <a:avLst>
              <a:gd name="adj" fmla="val 8000"/>
            </a:avLst>
          </a:prstGeom>
          <a:solidFill>
            <a:srgbClr val="2B2210"/>
          </a:solidFill>
          <a:ln w="7620">
            <a:solidFill>
              <a:srgbClr val="2B221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285231" y="5404104"/>
            <a:ext cx="1499616" cy="219456"/>
          </a:xfrm>
          <a:prstGeom prst="rect">
            <a:avLst/>
          </a:prstGeom>
          <a:noFill/>
        </p:spPr>
        <p:txBody>
          <a:bodyPr wrap="square" lIns="0" rIns="0" tIns="0" bIns="0" anchor="ctr">
            <a:spAutoFit/>
          </a:bodyPr>
          <a:lstStyle/>
          <a:p>
            <a:pPr algn="ctr">
              <a:lnSpc>
                <a:spcPct val="100000"/>
              </a:lnSpc>
              <a:defRPr sz="600" b="1">
                <a:solidFill>
                  <a:srgbClr val="FBBF24"/>
                </a:solidFill>
                <a:latin typeface="Inter"/>
              </a:defRPr>
            </a:pPr>
            <a:r>
              <a:t>DEVELOPER APPROVAL</a:t>
            </a:r>
          </a:p>
        </p:txBody>
      </p:sp>
      <p:cxnSp>
        <p:nvCxnSpPr>
          <p:cNvPr id="47" name="Connector 46"/>
          <p:cNvCxnSpPr/>
          <p:nvPr/>
        </p:nvCxnSpPr>
        <p:spPr>
          <a:xfrm>
            <a:off x="7059168" y="3694176"/>
            <a:ext cx="137160" cy="0"/>
          </a:xfrm>
          <a:prstGeom prst="line">
            <a:avLst/>
          </a:prstGeom>
          <a:ln w="15240">
            <a:solidFill>
              <a:srgbClr val="312645"/>
            </a:solidFill>
          </a:ln>
        </p:spPr>
        <p:style>
          <a:lnRef idx="2">
            <a:schemeClr val="accent1"/>
          </a:lnRef>
          <a:fillRef idx="0">
            <a:schemeClr val="accent1"/>
          </a:fillRef>
          <a:effectRef idx="1">
            <a:schemeClr val="accent1"/>
          </a:effectRef>
          <a:fontRef idx="minor">
            <a:schemeClr val="tx1"/>
          </a:fontRef>
        </p:style>
      </p:cxnSp>
      <p:sp>
        <p:nvSpPr>
          <p:cNvPr id="48" name="Chevron 47"/>
          <p:cNvSpPr/>
          <p:nvPr/>
        </p:nvSpPr>
        <p:spPr>
          <a:xfrm>
            <a:off x="7150608" y="3611880"/>
            <a:ext cx="164592" cy="164592"/>
          </a:xfrm>
          <a:prstGeom prst="chevron">
            <a:avLst/>
          </a:prstGeom>
          <a:solidFill>
            <a:srgbClr val="3126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7351775" y="2121408"/>
            <a:ext cx="1965960" cy="3154680"/>
          </a:xfrm>
          <a:prstGeom prst="roundRect">
            <a:avLst>
              <a:gd name="adj" fmla="val 8000"/>
            </a:avLst>
          </a:prstGeom>
          <a:solidFill>
            <a:srgbClr val="18181B"/>
          </a:solidFill>
          <a:ln w="9525">
            <a:solidFill>
              <a:srgbClr val="2B2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7516367" y="2340864"/>
            <a:ext cx="384048" cy="384048"/>
          </a:xfrm>
          <a:prstGeom prst="roundRect">
            <a:avLst>
              <a:gd name="adj" fmla="val 8000"/>
            </a:avLst>
          </a:prstGeom>
          <a:solidFill>
            <a:srgbClr val="211B35"/>
          </a:solidFill>
          <a:ln w="7620">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516367" y="2340864"/>
            <a:ext cx="384048" cy="384048"/>
          </a:xfrm>
          <a:prstGeom prst="rect">
            <a:avLst/>
          </a:prstGeom>
          <a:noFill/>
        </p:spPr>
        <p:txBody>
          <a:bodyPr wrap="square" lIns="0" rIns="0" tIns="0" bIns="0" anchor="ctr">
            <a:spAutoFit/>
          </a:bodyPr>
          <a:lstStyle/>
          <a:p>
            <a:pPr algn="ctr">
              <a:lnSpc>
                <a:spcPct val="100000"/>
              </a:lnSpc>
              <a:defRPr sz="750" b="1">
                <a:solidFill>
                  <a:srgbClr val="A78BFA"/>
                </a:solidFill>
                <a:latin typeface="Inter"/>
              </a:defRPr>
            </a:pPr>
            <a:r>
              <a:t>04</a:t>
            </a:r>
          </a:p>
        </p:txBody>
      </p:sp>
      <p:sp>
        <p:nvSpPr>
          <p:cNvPr id="52" name="TextBox 51"/>
          <p:cNvSpPr txBox="1"/>
          <p:nvPr/>
        </p:nvSpPr>
        <p:spPr>
          <a:xfrm>
            <a:off x="7516367" y="2926080"/>
            <a:ext cx="1645920" cy="274320"/>
          </a:xfrm>
          <a:prstGeom prst="rect">
            <a:avLst/>
          </a:prstGeom>
          <a:noFill/>
        </p:spPr>
        <p:txBody>
          <a:bodyPr wrap="square" lIns="0" rIns="0" tIns="0" bIns="0" anchor="t">
            <a:spAutoFit/>
          </a:bodyPr>
          <a:lstStyle/>
          <a:p>
            <a:pPr algn="l">
              <a:lnSpc>
                <a:spcPct val="100000"/>
              </a:lnSpc>
              <a:defRPr sz="1050" b="1">
                <a:solidFill>
                  <a:srgbClr val="FAFAFA"/>
                </a:solidFill>
                <a:latin typeface="Inter"/>
              </a:defRPr>
            </a:pPr>
            <a:r>
              <a:t>MIGRATE</a:t>
            </a:r>
          </a:p>
        </p:txBody>
      </p:sp>
      <p:sp>
        <p:nvSpPr>
          <p:cNvPr id="53" name="TextBox 52"/>
          <p:cNvSpPr txBox="1"/>
          <p:nvPr/>
        </p:nvSpPr>
        <p:spPr>
          <a:xfrm>
            <a:off x="7516367" y="3364992"/>
            <a:ext cx="1609344" cy="960120"/>
          </a:xfrm>
          <a:prstGeom prst="rect">
            <a:avLst/>
          </a:prstGeom>
          <a:noFill/>
        </p:spPr>
        <p:txBody>
          <a:bodyPr wrap="square" lIns="0" rIns="0" tIns="0" bIns="0" anchor="t">
            <a:spAutoFit/>
          </a:bodyPr>
          <a:lstStyle/>
          <a:p>
            <a:pPr algn="l">
              <a:lnSpc>
                <a:spcPct val="110000"/>
              </a:lnSpc>
              <a:defRPr sz="919" b="0">
                <a:solidFill>
                  <a:srgbClr val="A1A1AA"/>
                </a:solidFill>
                <a:latin typeface="Inter"/>
              </a:defRPr>
            </a:pPr>
            <a:r>
              <a:t>Create proposed scaffolds, schemas, contracts, configuration, and tests.</a:t>
            </a:r>
          </a:p>
        </p:txBody>
      </p:sp>
      <p:cxnSp>
        <p:nvCxnSpPr>
          <p:cNvPr id="54" name="Connector 53"/>
          <p:cNvCxnSpPr/>
          <p:nvPr/>
        </p:nvCxnSpPr>
        <p:spPr>
          <a:xfrm>
            <a:off x="7516367" y="4590288"/>
            <a:ext cx="1618488" cy="0"/>
          </a:xfrm>
          <a:prstGeom prst="line">
            <a:avLst/>
          </a:prstGeom>
          <a:ln w="6985">
            <a:solidFill>
              <a:srgbClr val="2B2B33"/>
            </a:solidFill>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7516367" y="4727448"/>
            <a:ext cx="731520" cy="201168"/>
          </a:xfrm>
          <a:prstGeom prst="rect">
            <a:avLst/>
          </a:prstGeom>
          <a:noFill/>
        </p:spPr>
        <p:txBody>
          <a:bodyPr wrap="square" lIns="0" rIns="0" tIns="0" bIns="0" anchor="t">
            <a:spAutoFit/>
          </a:bodyPr>
          <a:lstStyle/>
          <a:p>
            <a:pPr algn="l">
              <a:lnSpc>
                <a:spcPct val="100000"/>
              </a:lnSpc>
              <a:defRPr sz="620" b="1">
                <a:solidFill>
                  <a:srgbClr val="71717A"/>
                </a:solidFill>
                <a:latin typeface="Inter"/>
              </a:defRPr>
            </a:pPr>
            <a:r>
              <a:t>OUTPUT</a:t>
            </a:r>
          </a:p>
        </p:txBody>
      </p:sp>
      <p:sp>
        <p:nvSpPr>
          <p:cNvPr id="56" name="TextBox 55"/>
          <p:cNvSpPr txBox="1"/>
          <p:nvPr/>
        </p:nvSpPr>
        <p:spPr>
          <a:xfrm>
            <a:off x="7516367" y="4965192"/>
            <a:ext cx="1627632" cy="182880"/>
          </a:xfrm>
          <a:prstGeom prst="rect">
            <a:avLst/>
          </a:prstGeom>
          <a:noFill/>
        </p:spPr>
        <p:txBody>
          <a:bodyPr wrap="square" lIns="0" rIns="0" tIns="0" bIns="0" anchor="t">
            <a:spAutoFit/>
          </a:bodyPr>
          <a:lstStyle/>
          <a:p>
            <a:pPr algn="l">
              <a:lnSpc>
                <a:spcPct val="100000"/>
              </a:lnSpc>
              <a:defRPr sz="730" b="1">
                <a:solidFill>
                  <a:srgbClr val="E4E4E7"/>
                </a:solidFill>
                <a:latin typeface="Inter"/>
              </a:defRPr>
            </a:pPr>
            <a:r>
              <a:t>REVIEWABLE CODE</a:t>
            </a:r>
          </a:p>
        </p:txBody>
      </p:sp>
      <p:cxnSp>
        <p:nvCxnSpPr>
          <p:cNvPr id="57" name="Connector 56"/>
          <p:cNvCxnSpPr/>
          <p:nvPr/>
        </p:nvCxnSpPr>
        <p:spPr>
          <a:xfrm>
            <a:off x="9326880" y="3694176"/>
            <a:ext cx="137160" cy="0"/>
          </a:xfrm>
          <a:prstGeom prst="line">
            <a:avLst/>
          </a:prstGeom>
          <a:ln w="15240">
            <a:solidFill>
              <a:srgbClr val="312645"/>
            </a:solidFill>
          </a:ln>
        </p:spPr>
        <p:style>
          <a:lnRef idx="2">
            <a:schemeClr val="accent1"/>
          </a:lnRef>
          <a:fillRef idx="0">
            <a:schemeClr val="accent1"/>
          </a:fillRef>
          <a:effectRef idx="1">
            <a:schemeClr val="accent1"/>
          </a:effectRef>
          <a:fontRef idx="minor">
            <a:schemeClr val="tx1"/>
          </a:fontRef>
        </p:style>
      </p:cxnSp>
      <p:sp>
        <p:nvSpPr>
          <p:cNvPr id="58" name="Chevron 57"/>
          <p:cNvSpPr/>
          <p:nvPr/>
        </p:nvSpPr>
        <p:spPr>
          <a:xfrm>
            <a:off x="9418319" y="3611880"/>
            <a:ext cx="164592" cy="164592"/>
          </a:xfrm>
          <a:prstGeom prst="chevron">
            <a:avLst/>
          </a:prstGeom>
          <a:solidFill>
            <a:srgbClr val="3126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9619488" y="2121408"/>
            <a:ext cx="1965960" cy="3154680"/>
          </a:xfrm>
          <a:prstGeom prst="roundRect">
            <a:avLst>
              <a:gd name="adj" fmla="val 8000"/>
            </a:avLst>
          </a:prstGeom>
          <a:solidFill>
            <a:srgbClr val="18181B"/>
          </a:solidFill>
          <a:ln w="9525">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9784080" y="2340864"/>
            <a:ext cx="384048" cy="384048"/>
          </a:xfrm>
          <a:prstGeom prst="roundRect">
            <a:avLst>
              <a:gd name="adj" fmla="val 8000"/>
            </a:avLst>
          </a:prstGeom>
          <a:solidFill>
            <a:srgbClr val="211B35"/>
          </a:solidFill>
          <a:ln w="7620">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9784080" y="2340864"/>
            <a:ext cx="384048" cy="384048"/>
          </a:xfrm>
          <a:prstGeom prst="rect">
            <a:avLst/>
          </a:prstGeom>
          <a:noFill/>
        </p:spPr>
        <p:txBody>
          <a:bodyPr wrap="square" lIns="0" rIns="0" tIns="0" bIns="0" anchor="ctr">
            <a:spAutoFit/>
          </a:bodyPr>
          <a:lstStyle/>
          <a:p>
            <a:pPr algn="ctr">
              <a:lnSpc>
                <a:spcPct val="100000"/>
              </a:lnSpc>
              <a:defRPr sz="750" b="1">
                <a:solidFill>
                  <a:srgbClr val="A78BFA"/>
                </a:solidFill>
                <a:latin typeface="Inter"/>
              </a:defRPr>
            </a:pPr>
            <a:r>
              <a:t>05</a:t>
            </a:r>
          </a:p>
        </p:txBody>
      </p:sp>
      <p:sp>
        <p:nvSpPr>
          <p:cNvPr id="62" name="TextBox 61"/>
          <p:cNvSpPr txBox="1"/>
          <p:nvPr/>
        </p:nvSpPr>
        <p:spPr>
          <a:xfrm>
            <a:off x="9784080" y="2926080"/>
            <a:ext cx="1645920" cy="274320"/>
          </a:xfrm>
          <a:prstGeom prst="rect">
            <a:avLst/>
          </a:prstGeom>
          <a:noFill/>
        </p:spPr>
        <p:txBody>
          <a:bodyPr wrap="square" lIns="0" rIns="0" tIns="0" bIns="0" anchor="t">
            <a:spAutoFit/>
          </a:bodyPr>
          <a:lstStyle/>
          <a:p>
            <a:pPr algn="l">
              <a:lnSpc>
                <a:spcPct val="100000"/>
              </a:lnSpc>
              <a:defRPr sz="1050" b="1">
                <a:solidFill>
                  <a:srgbClr val="FAFAFA"/>
                </a:solidFill>
                <a:latin typeface="Inter"/>
              </a:defRPr>
            </a:pPr>
            <a:r>
              <a:t>VALIDATE</a:t>
            </a:r>
          </a:p>
        </p:txBody>
      </p:sp>
      <p:sp>
        <p:nvSpPr>
          <p:cNvPr id="63" name="TextBox 62"/>
          <p:cNvSpPr txBox="1"/>
          <p:nvPr/>
        </p:nvSpPr>
        <p:spPr>
          <a:xfrm>
            <a:off x="9784080" y="3364992"/>
            <a:ext cx="1609344" cy="960120"/>
          </a:xfrm>
          <a:prstGeom prst="rect">
            <a:avLst/>
          </a:prstGeom>
          <a:noFill/>
        </p:spPr>
        <p:txBody>
          <a:bodyPr wrap="square" lIns="0" rIns="0" tIns="0" bIns="0" anchor="t">
            <a:spAutoFit/>
          </a:bodyPr>
          <a:lstStyle/>
          <a:p>
            <a:pPr algn="l">
              <a:lnSpc>
                <a:spcPct val="110000"/>
              </a:lnSpc>
              <a:defRPr sz="919" b="0">
                <a:solidFill>
                  <a:srgbClr val="A1A1AA"/>
                </a:solidFill>
                <a:latin typeface="Inter"/>
              </a:defRPr>
            </a:pPr>
            <a:r>
              <a:t>Compare behavior, run supported tests, identify differences, and request review.</a:t>
            </a:r>
          </a:p>
        </p:txBody>
      </p:sp>
      <p:cxnSp>
        <p:nvCxnSpPr>
          <p:cNvPr id="64" name="Connector 63"/>
          <p:cNvCxnSpPr/>
          <p:nvPr/>
        </p:nvCxnSpPr>
        <p:spPr>
          <a:xfrm>
            <a:off x="9784080" y="4590288"/>
            <a:ext cx="1618487" cy="0"/>
          </a:xfrm>
          <a:prstGeom prst="line">
            <a:avLst/>
          </a:prstGeom>
          <a:ln w="6985">
            <a:solidFill>
              <a:srgbClr val="2B2B33"/>
            </a:solidFill>
          </a:ln>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9784080" y="4727448"/>
            <a:ext cx="731520" cy="201168"/>
          </a:xfrm>
          <a:prstGeom prst="rect">
            <a:avLst/>
          </a:prstGeom>
          <a:noFill/>
        </p:spPr>
        <p:txBody>
          <a:bodyPr wrap="square" lIns="0" rIns="0" tIns="0" bIns="0" anchor="t">
            <a:spAutoFit/>
          </a:bodyPr>
          <a:lstStyle/>
          <a:p>
            <a:pPr algn="l">
              <a:lnSpc>
                <a:spcPct val="100000"/>
              </a:lnSpc>
              <a:defRPr sz="620" b="1">
                <a:solidFill>
                  <a:srgbClr val="71717A"/>
                </a:solidFill>
                <a:latin typeface="Inter"/>
              </a:defRPr>
            </a:pPr>
            <a:r>
              <a:t>OUTPUT</a:t>
            </a:r>
          </a:p>
        </p:txBody>
      </p:sp>
      <p:sp>
        <p:nvSpPr>
          <p:cNvPr id="66" name="TextBox 65"/>
          <p:cNvSpPr txBox="1"/>
          <p:nvPr/>
        </p:nvSpPr>
        <p:spPr>
          <a:xfrm>
            <a:off x="9784080" y="4965192"/>
            <a:ext cx="1627632" cy="182880"/>
          </a:xfrm>
          <a:prstGeom prst="rect">
            <a:avLst/>
          </a:prstGeom>
          <a:noFill/>
        </p:spPr>
        <p:txBody>
          <a:bodyPr wrap="square" lIns="0" rIns="0" tIns="0" bIns="0" anchor="t">
            <a:spAutoFit/>
          </a:bodyPr>
          <a:lstStyle/>
          <a:p>
            <a:pPr algn="l">
              <a:lnSpc>
                <a:spcPct val="100000"/>
              </a:lnSpc>
              <a:defRPr sz="730" b="1">
                <a:solidFill>
                  <a:srgbClr val="A78BFA"/>
                </a:solidFill>
                <a:latin typeface="Inter"/>
              </a:defRPr>
            </a:pPr>
            <a:r>
              <a:t>EVIDENCE REPORT</a:t>
            </a:r>
          </a:p>
        </p:txBody>
      </p:sp>
      <p:sp>
        <p:nvSpPr>
          <p:cNvPr id="67" name="Rounded Rectangle 66"/>
          <p:cNvSpPr/>
          <p:nvPr/>
        </p:nvSpPr>
        <p:spPr>
          <a:xfrm>
            <a:off x="9784080" y="5394960"/>
            <a:ext cx="1572768" cy="237744"/>
          </a:xfrm>
          <a:prstGeom prst="roundRect">
            <a:avLst>
              <a:gd name="adj" fmla="val 8000"/>
            </a:avLst>
          </a:prstGeom>
          <a:solidFill>
            <a:srgbClr val="2B2210"/>
          </a:solidFill>
          <a:ln w="7620">
            <a:solidFill>
              <a:srgbClr val="2B221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820655" y="5404104"/>
            <a:ext cx="1499616" cy="219456"/>
          </a:xfrm>
          <a:prstGeom prst="rect">
            <a:avLst/>
          </a:prstGeom>
          <a:noFill/>
        </p:spPr>
        <p:txBody>
          <a:bodyPr wrap="square" lIns="0" rIns="0" tIns="0" bIns="0" anchor="ctr">
            <a:spAutoFit/>
          </a:bodyPr>
          <a:lstStyle/>
          <a:p>
            <a:pPr algn="ctr">
              <a:lnSpc>
                <a:spcPct val="100000"/>
              </a:lnSpc>
              <a:defRPr sz="600" b="1">
                <a:solidFill>
                  <a:srgbClr val="FBBF24"/>
                </a:solidFill>
                <a:latin typeface="Inter"/>
              </a:defRPr>
            </a:pPr>
            <a:r>
              <a:t>DEVELOPER APPROVAL</a:t>
            </a:r>
          </a:p>
        </p:txBody>
      </p:sp>
      <p:sp>
        <p:nvSpPr>
          <p:cNvPr id="69" name="Rounded Rectangle 68"/>
          <p:cNvSpPr/>
          <p:nvPr/>
        </p:nvSpPr>
        <p:spPr>
          <a:xfrm>
            <a:off x="548640" y="5824728"/>
            <a:ext cx="11064240" cy="411480"/>
          </a:xfrm>
          <a:prstGeom prst="roundRect">
            <a:avLst>
              <a:gd name="adj" fmla="val 8000"/>
            </a:avLst>
          </a:prstGeom>
          <a:solidFill>
            <a:srgbClr val="111114"/>
          </a:solidFill>
          <a:ln w="9525">
            <a:solidFill>
              <a:srgbClr val="2B2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ounded Rectangle 69"/>
          <p:cNvSpPr/>
          <p:nvPr/>
        </p:nvSpPr>
        <p:spPr>
          <a:xfrm>
            <a:off x="749808" y="5888736"/>
            <a:ext cx="265176" cy="265176"/>
          </a:xfrm>
          <a:prstGeom prst="roundRect">
            <a:avLst>
              <a:gd name="adj" fmla="val 8000"/>
            </a:avLst>
          </a:prstGeom>
          <a:solidFill>
            <a:srgbClr val="2B2210"/>
          </a:solidFill>
          <a:ln w="7620">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49808" y="5888736"/>
            <a:ext cx="265176" cy="265176"/>
          </a:xfrm>
          <a:prstGeom prst="rect">
            <a:avLst/>
          </a:prstGeom>
          <a:noFill/>
        </p:spPr>
        <p:txBody>
          <a:bodyPr wrap="square" lIns="0" rIns="0" tIns="0" bIns="0" anchor="ctr">
            <a:spAutoFit/>
          </a:bodyPr>
          <a:lstStyle/>
          <a:p>
            <a:pPr algn="ctr">
              <a:lnSpc>
                <a:spcPct val="100000"/>
              </a:lnSpc>
              <a:defRPr sz="800" b="1">
                <a:solidFill>
                  <a:srgbClr val="FBBF24"/>
                </a:solidFill>
                <a:latin typeface="Inter"/>
              </a:defRPr>
            </a:pPr>
            <a:r>
              <a:t>!</a:t>
            </a:r>
          </a:p>
        </p:txBody>
      </p:sp>
      <p:sp>
        <p:nvSpPr>
          <p:cNvPr id="72" name="TextBox 71"/>
          <p:cNvSpPr txBox="1"/>
          <p:nvPr/>
        </p:nvSpPr>
        <p:spPr>
          <a:xfrm>
            <a:off x="1170432" y="5925312"/>
            <a:ext cx="10012680" cy="182880"/>
          </a:xfrm>
          <a:prstGeom prst="rect">
            <a:avLst/>
          </a:prstGeom>
          <a:noFill/>
        </p:spPr>
        <p:txBody>
          <a:bodyPr wrap="square" lIns="0" rIns="0" tIns="0" bIns="0" anchor="t">
            <a:spAutoFit/>
          </a:bodyPr>
          <a:lstStyle/>
          <a:p>
            <a:pPr algn="l">
              <a:lnSpc>
                <a:spcPct val="100000"/>
              </a:lnSpc>
              <a:defRPr sz="850" b="0">
                <a:solidFill>
                  <a:srgbClr val="A1A1AA"/>
                </a:solidFill>
                <a:latin typeface="Inter"/>
              </a:defRPr>
            </a:pPr>
            <a:r>
              <a:t>Human checkpoints: approve the migration plan before generation, and approve evidence before applying migration changes.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9090B"/>
        </a:solidFill>
        <a:effectLst/>
      </p:bgPr>
    </p:bg>
    <p:spTree>
      <p:nvGrpSpPr>
        <p:cNvPr id="1" name=""/>
        <p:cNvGrpSpPr/>
        <p:nvPr/>
      </p:nvGrpSpPr>
      <p:grpSpPr/>
      <p:cxnSp>
        <p:nvCxnSpPr>
          <p:cNvPr id="2" name="Connector 1"/>
          <p:cNvCxnSpPr/>
          <p:nvPr/>
        </p:nvCxnSpPr>
        <p:spPr>
          <a:xfrm>
            <a:off x="3044952" y="0"/>
            <a:ext cx="0" cy="6858000"/>
          </a:xfrm>
          <a:prstGeom prst="line">
            <a:avLst/>
          </a:prstGeom>
          <a:ln w="4445">
            <a:solidFill>
              <a:srgbClr val="111114"/>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6089904" y="0"/>
            <a:ext cx="0" cy="6858000"/>
          </a:xfrm>
          <a:prstGeom prst="line">
            <a:avLst/>
          </a:prstGeom>
          <a:ln w="4445">
            <a:solidFill>
              <a:srgbClr val="111114"/>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9134856" y="0"/>
            <a:ext cx="0" cy="6858000"/>
          </a:xfrm>
          <a:prstGeom prst="line">
            <a:avLst/>
          </a:prstGeom>
          <a:ln w="4445">
            <a:solidFill>
              <a:srgbClr val="111114"/>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02920" y="612648"/>
            <a:ext cx="11183112" cy="0"/>
          </a:xfrm>
          <a:prstGeom prst="line">
            <a:avLst/>
          </a:prstGeom>
          <a:ln w="6985">
            <a:solidFill>
              <a:srgbClr val="202024"/>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246888"/>
            <a:ext cx="228600" cy="228600"/>
          </a:xfrm>
          <a:prstGeom prst="roundRect">
            <a:avLst>
              <a:gd name="adj" fmla="val 8000"/>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46888"/>
            <a:ext cx="228600" cy="228600"/>
          </a:xfrm>
          <a:prstGeom prst="rect">
            <a:avLst/>
          </a:prstGeom>
          <a:noFill/>
        </p:spPr>
        <p:txBody>
          <a:bodyPr wrap="square" lIns="0" rIns="0" tIns="0" bIns="0" anchor="ctr">
            <a:spAutoFit/>
          </a:bodyPr>
          <a:lstStyle/>
          <a:p>
            <a:pPr algn="ctr">
              <a:lnSpc>
                <a:spcPct val="100000"/>
              </a:lnSpc>
              <a:defRPr sz="650" b="1">
                <a:solidFill>
                  <a:srgbClr val="09090B"/>
                </a:solidFill>
                <a:latin typeface="Inter"/>
              </a:defRPr>
            </a:pPr>
            <a:r>
              <a:t>LB</a:t>
            </a:r>
          </a:p>
        </p:txBody>
      </p:sp>
      <p:sp>
        <p:nvSpPr>
          <p:cNvPr id="8" name="TextBox 7"/>
          <p:cNvSpPr txBox="1"/>
          <p:nvPr/>
        </p:nvSpPr>
        <p:spPr>
          <a:xfrm>
            <a:off x="804672" y="269748"/>
            <a:ext cx="2011680" cy="201168"/>
          </a:xfrm>
          <a:prstGeom prst="rect">
            <a:avLst/>
          </a:prstGeom>
          <a:noFill/>
        </p:spPr>
        <p:txBody>
          <a:bodyPr wrap="square" lIns="0" rIns="0" tIns="0" bIns="0" anchor="t">
            <a:spAutoFit/>
          </a:bodyPr>
          <a:lstStyle/>
          <a:p>
            <a:pPr algn="l">
              <a:lnSpc>
                <a:spcPct val="100000"/>
              </a:lnSpc>
              <a:defRPr sz="850" b="1">
                <a:solidFill>
                  <a:srgbClr val="E4E4E7"/>
                </a:solidFill>
                <a:latin typeface="Inter"/>
              </a:defRPr>
            </a:pPr>
            <a:r>
              <a:t>LEGACYBRIDGE</a:t>
            </a:r>
          </a:p>
        </p:txBody>
      </p:sp>
      <p:sp>
        <p:nvSpPr>
          <p:cNvPr id="9" name="Rounded Rectangle 8"/>
          <p:cNvSpPr/>
          <p:nvPr/>
        </p:nvSpPr>
        <p:spPr>
          <a:xfrm>
            <a:off x="11045952" y="237744"/>
            <a:ext cx="640080" cy="256032"/>
          </a:xfrm>
          <a:prstGeom prst="roundRect">
            <a:avLst>
              <a:gd name="adj" fmla="val 8000"/>
            </a:avLst>
          </a:prstGeom>
          <a:solidFill>
            <a:srgbClr val="111114"/>
          </a:solidFill>
          <a:ln w="7620">
            <a:solidFill>
              <a:srgbClr val="2B2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082528" y="246888"/>
            <a:ext cx="566928" cy="237744"/>
          </a:xfrm>
          <a:prstGeom prst="rect">
            <a:avLst/>
          </a:prstGeom>
          <a:noFill/>
        </p:spPr>
        <p:txBody>
          <a:bodyPr wrap="square" lIns="0" rIns="0" tIns="0" bIns="0" anchor="ctr">
            <a:spAutoFit/>
          </a:bodyPr>
          <a:lstStyle/>
          <a:p>
            <a:pPr algn="ctr">
              <a:lnSpc>
                <a:spcPct val="100000"/>
              </a:lnSpc>
              <a:defRPr sz="700" b="1">
                <a:solidFill>
                  <a:srgbClr val="A1A1AA"/>
                </a:solidFill>
                <a:latin typeface="Inter"/>
              </a:defRPr>
            </a:pPr>
            <a:r>
              <a:t>05 / 10</a:t>
            </a:r>
          </a:p>
        </p:txBody>
      </p:sp>
      <p:sp>
        <p:nvSpPr>
          <p:cNvPr id="11" name="TextBox 10"/>
          <p:cNvSpPr txBox="1"/>
          <p:nvPr/>
        </p:nvSpPr>
        <p:spPr>
          <a:xfrm>
            <a:off x="548640" y="768096"/>
            <a:ext cx="6858000" cy="219456"/>
          </a:xfrm>
          <a:prstGeom prst="rect">
            <a:avLst/>
          </a:prstGeom>
          <a:noFill/>
        </p:spPr>
        <p:txBody>
          <a:bodyPr wrap="square" lIns="0" rIns="0" tIns="0" bIns="0" anchor="t">
            <a:spAutoFit/>
          </a:bodyPr>
          <a:lstStyle/>
          <a:p>
            <a:pPr algn="l">
              <a:lnSpc>
                <a:spcPct val="100000"/>
              </a:lnSpc>
              <a:defRPr sz="800" b="1">
                <a:solidFill>
                  <a:srgbClr val="A78BFA"/>
                </a:solidFill>
                <a:latin typeface="Inter"/>
              </a:defRPr>
            </a:pPr>
            <a:r>
              <a:t>FLAGSHIP DIFFERENTIATOR • BUSINESS LOGIC DRIFT DETECTOR</a:t>
            </a:r>
          </a:p>
        </p:txBody>
      </p:sp>
      <p:sp>
        <p:nvSpPr>
          <p:cNvPr id="12" name="TextBox 11"/>
          <p:cNvSpPr txBox="1"/>
          <p:nvPr/>
        </p:nvSpPr>
        <p:spPr>
          <a:xfrm>
            <a:off x="548640" y="996696"/>
            <a:ext cx="11064240" cy="585216"/>
          </a:xfrm>
          <a:prstGeom prst="rect">
            <a:avLst/>
          </a:prstGeom>
          <a:noFill/>
        </p:spPr>
        <p:txBody>
          <a:bodyPr wrap="square" lIns="0" rIns="0" tIns="0" bIns="0" anchor="t">
            <a:spAutoFit/>
          </a:bodyPr>
          <a:lstStyle/>
          <a:p>
            <a:pPr algn="l">
              <a:lnSpc>
                <a:spcPct val="95000"/>
              </a:lnSpc>
              <a:defRPr sz="2700" b="1">
                <a:solidFill>
                  <a:srgbClr val="FAFAFA"/>
                </a:solidFill>
                <a:latin typeface="Inter"/>
              </a:defRPr>
            </a:pPr>
            <a:r>
              <a:t>Catch Business-Logic Changes Before Trusting the Migration.</a:t>
            </a:r>
          </a:p>
        </p:txBody>
      </p:sp>
      <p:sp>
        <p:nvSpPr>
          <p:cNvPr id="13" name="TextBox 12"/>
          <p:cNvSpPr txBox="1"/>
          <p:nvPr/>
        </p:nvSpPr>
        <p:spPr>
          <a:xfrm>
            <a:off x="548640" y="1545336"/>
            <a:ext cx="10972800" cy="347472"/>
          </a:xfrm>
          <a:prstGeom prst="rect">
            <a:avLst/>
          </a:prstGeom>
          <a:noFill/>
        </p:spPr>
        <p:txBody>
          <a:bodyPr wrap="square" lIns="0" rIns="0" tIns="0" bIns="0" anchor="t">
            <a:spAutoFit/>
          </a:bodyPr>
          <a:lstStyle/>
          <a:p>
            <a:pPr algn="l">
              <a:lnSpc>
                <a:spcPct val="100000"/>
              </a:lnSpc>
              <a:defRPr sz="1050" b="0">
                <a:solidFill>
                  <a:srgbClr val="A1A1AA"/>
                </a:solidFill>
                <a:latin typeface="Inter"/>
              </a:defRPr>
            </a:pPr>
            <a:r>
              <a:t>Illustrative order-management example • original rule versus proposed implementation</a:t>
            </a:r>
          </a:p>
        </p:txBody>
      </p:sp>
      <p:cxnSp>
        <p:nvCxnSpPr>
          <p:cNvPr id="14" name="Connector 13"/>
          <p:cNvCxnSpPr/>
          <p:nvPr/>
        </p:nvCxnSpPr>
        <p:spPr>
          <a:xfrm>
            <a:off x="502920" y="6473952"/>
            <a:ext cx="11183112" cy="0"/>
          </a:xfrm>
          <a:prstGeom prst="line">
            <a:avLst/>
          </a:prstGeom>
          <a:ln w="6985">
            <a:solidFill>
              <a:srgbClr val="202024"/>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48640" y="6565392"/>
            <a:ext cx="7909560" cy="164592"/>
          </a:xfrm>
          <a:prstGeom prst="rect">
            <a:avLst/>
          </a:prstGeom>
          <a:noFill/>
        </p:spPr>
        <p:txBody>
          <a:bodyPr wrap="square" lIns="0" rIns="0" tIns="0" bIns="0" anchor="t">
            <a:spAutoFit/>
          </a:bodyPr>
          <a:lstStyle/>
          <a:p>
            <a:pPr algn="l">
              <a:lnSpc>
                <a:spcPct val="100000"/>
              </a:lnSpc>
              <a:defRPr sz="630" b="0">
                <a:solidFill>
                  <a:srgbClr val="71717A"/>
                </a:solidFill>
                <a:latin typeface="Inter"/>
              </a:defRPr>
            </a:pPr>
            <a:r>
              <a:t>ILLUSTRATIVE + SIMULATED RESULT • not a verified repository execution</a:t>
            </a:r>
          </a:p>
        </p:txBody>
      </p:sp>
      <p:sp>
        <p:nvSpPr>
          <p:cNvPr id="16" name="TextBox 15"/>
          <p:cNvSpPr txBox="1"/>
          <p:nvPr/>
        </p:nvSpPr>
        <p:spPr>
          <a:xfrm>
            <a:off x="8732520" y="6565392"/>
            <a:ext cx="2926080" cy="164592"/>
          </a:xfrm>
          <a:prstGeom prst="rect">
            <a:avLst/>
          </a:prstGeom>
          <a:noFill/>
        </p:spPr>
        <p:txBody>
          <a:bodyPr wrap="square" lIns="0" rIns="0" tIns="0" bIns="0" anchor="t">
            <a:spAutoFit/>
          </a:bodyPr>
          <a:lstStyle/>
          <a:p>
            <a:pPr algn="r">
              <a:lnSpc>
                <a:spcPct val="100000"/>
              </a:lnSpc>
              <a:defRPr sz="610" b="0">
                <a:solidFill>
                  <a:srgbClr val="71717A"/>
                </a:solidFill>
                <a:latin typeface="Inter"/>
              </a:defRPr>
            </a:pPr>
            <a:r>
              <a:t>PROPOSED PRODUCT • HACKATHON PRESENTATION</a:t>
            </a:r>
          </a:p>
        </p:txBody>
      </p:sp>
      <p:sp>
        <p:nvSpPr>
          <p:cNvPr id="17" name="Rounded Rectangle 16"/>
          <p:cNvSpPr/>
          <p:nvPr/>
        </p:nvSpPr>
        <p:spPr>
          <a:xfrm>
            <a:off x="548640" y="1965960"/>
            <a:ext cx="5230368" cy="2148840"/>
          </a:xfrm>
          <a:prstGeom prst="roundRect">
            <a:avLst>
              <a:gd name="adj" fmla="val 8000"/>
            </a:avLst>
          </a:prstGeom>
          <a:solidFill>
            <a:srgbClr val="111114"/>
          </a:solidFill>
          <a:ln w="9525">
            <a:solidFill>
              <a:srgbClr val="2B2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a:off x="548640" y="2313432"/>
            <a:ext cx="5230367" cy="0"/>
          </a:xfrm>
          <a:prstGeom prst="line">
            <a:avLst/>
          </a:prstGeom>
          <a:ln w="7620">
            <a:solidFill>
              <a:srgbClr val="2B2B33"/>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704088" y="2103120"/>
            <a:ext cx="64008" cy="64008"/>
          </a:xfrm>
          <a:prstGeom prst="ellipse">
            <a:avLst/>
          </a:prstGeom>
          <a:solidFill>
            <a:srgbClr val="FB71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50392" y="2103120"/>
            <a:ext cx="64008" cy="64008"/>
          </a:xfrm>
          <a:prstGeom prst="ellipse">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96696" y="2103120"/>
            <a:ext cx="64008" cy="64008"/>
          </a:xfrm>
          <a:prstGeom prst="ellipse">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70432" y="2066543"/>
            <a:ext cx="3401568" cy="164592"/>
          </a:xfrm>
          <a:prstGeom prst="rect">
            <a:avLst/>
          </a:prstGeom>
          <a:noFill/>
        </p:spPr>
        <p:txBody>
          <a:bodyPr wrap="square" lIns="0" rIns="0" tIns="0" bIns="0" anchor="t">
            <a:spAutoFit/>
          </a:bodyPr>
          <a:lstStyle/>
          <a:p>
            <a:pPr algn="l">
              <a:lnSpc>
                <a:spcPct val="100000"/>
              </a:lnSpc>
              <a:defRPr sz="720" b="0">
                <a:solidFill>
                  <a:srgbClr val="71717A"/>
                </a:solidFill>
                <a:latin typeface="Liberation Mono"/>
              </a:defRPr>
            </a:pPr>
            <a:r>
              <a:t>legacy / orders / confirm.ts</a:t>
            </a:r>
          </a:p>
        </p:txBody>
      </p:sp>
      <p:sp>
        <p:nvSpPr>
          <p:cNvPr id="23" name="Rounded Rectangle 22"/>
          <p:cNvSpPr/>
          <p:nvPr/>
        </p:nvSpPr>
        <p:spPr>
          <a:xfrm>
            <a:off x="4453127" y="2034540"/>
            <a:ext cx="1143000" cy="210312"/>
          </a:xfrm>
          <a:prstGeom prst="roundRect">
            <a:avLst>
              <a:gd name="adj" fmla="val 8000"/>
            </a:avLst>
          </a:prstGeom>
          <a:solidFill>
            <a:srgbClr val="211B35"/>
          </a:solidFill>
          <a:ln w="7620">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89703" y="2043684"/>
            <a:ext cx="1069848" cy="192024"/>
          </a:xfrm>
          <a:prstGeom prst="rect">
            <a:avLst/>
          </a:prstGeom>
          <a:noFill/>
        </p:spPr>
        <p:txBody>
          <a:bodyPr wrap="square" lIns="0" rIns="0" tIns="0" bIns="0" anchor="ctr">
            <a:spAutoFit/>
          </a:bodyPr>
          <a:lstStyle/>
          <a:p>
            <a:pPr algn="ctr">
              <a:lnSpc>
                <a:spcPct val="100000"/>
              </a:lnSpc>
              <a:defRPr sz="620" b="1">
                <a:solidFill>
                  <a:srgbClr val="A78BFA"/>
                </a:solidFill>
                <a:latin typeface="Inter"/>
              </a:defRPr>
            </a:pPr>
            <a:r>
              <a:t>ORIGINAL</a:t>
            </a:r>
          </a:p>
        </p:txBody>
      </p:sp>
      <p:sp>
        <p:nvSpPr>
          <p:cNvPr id="25" name="TextBox 24"/>
          <p:cNvSpPr txBox="1"/>
          <p:nvPr/>
        </p:nvSpPr>
        <p:spPr>
          <a:xfrm>
            <a:off x="804672" y="2468880"/>
            <a:ext cx="2377440" cy="201168"/>
          </a:xfrm>
          <a:prstGeom prst="rect">
            <a:avLst/>
          </a:prstGeom>
          <a:noFill/>
        </p:spPr>
        <p:txBody>
          <a:bodyPr wrap="square" lIns="0" rIns="0" tIns="0" bIns="0" anchor="t">
            <a:spAutoFit/>
          </a:bodyPr>
          <a:lstStyle/>
          <a:p>
            <a:pPr algn="l">
              <a:lnSpc>
                <a:spcPct val="100000"/>
              </a:lnSpc>
              <a:defRPr sz="700" b="1">
                <a:solidFill>
                  <a:srgbClr val="34D399"/>
                </a:solidFill>
                <a:latin typeface="Inter"/>
              </a:defRPr>
            </a:pPr>
            <a:r>
              <a:t>ORIGINAL BUSINESS RULE</a:t>
            </a:r>
          </a:p>
        </p:txBody>
      </p:sp>
      <p:sp>
        <p:nvSpPr>
          <p:cNvPr id="26" name="TextBox 25"/>
          <p:cNvSpPr txBox="1"/>
          <p:nvPr/>
        </p:nvSpPr>
        <p:spPr>
          <a:xfrm>
            <a:off x="822960" y="2798064"/>
            <a:ext cx="4526280" cy="265176"/>
          </a:xfrm>
          <a:prstGeom prst="rect">
            <a:avLst/>
          </a:prstGeom>
          <a:noFill/>
        </p:spPr>
        <p:txBody>
          <a:bodyPr wrap="square" lIns="0" rIns="0" tIns="0" bIns="0" anchor="t">
            <a:spAutoFit/>
          </a:bodyPr>
          <a:lstStyle/>
          <a:p>
            <a:pPr algn="l">
              <a:lnSpc>
                <a:spcPct val="100000"/>
              </a:lnSpc>
              <a:defRPr sz="930" b="0">
                <a:solidFill>
                  <a:srgbClr val="E4E4E7"/>
                </a:solidFill>
                <a:latin typeface="Liberation Mono"/>
              </a:defRPr>
            </a:pPr>
            <a:r>
              <a:t>if (inventory &lt; order.quantity) {</a:t>
            </a:r>
          </a:p>
        </p:txBody>
      </p:sp>
      <p:sp>
        <p:nvSpPr>
          <p:cNvPr id="27" name="TextBox 26"/>
          <p:cNvSpPr txBox="1"/>
          <p:nvPr/>
        </p:nvSpPr>
        <p:spPr>
          <a:xfrm>
            <a:off x="822960" y="3063240"/>
            <a:ext cx="4526280" cy="265176"/>
          </a:xfrm>
          <a:prstGeom prst="rect">
            <a:avLst/>
          </a:prstGeom>
          <a:noFill/>
        </p:spPr>
        <p:txBody>
          <a:bodyPr wrap="square" lIns="0" rIns="0" tIns="0" bIns="0" anchor="t">
            <a:spAutoFit/>
          </a:bodyPr>
          <a:lstStyle/>
          <a:p>
            <a:pPr algn="l">
              <a:lnSpc>
                <a:spcPct val="100000"/>
              </a:lnSpc>
              <a:defRPr sz="930" b="0">
                <a:solidFill>
                  <a:srgbClr val="E4E4E7"/>
                </a:solidFill>
                <a:latin typeface="Liberation Mono"/>
              </a:defRPr>
            </a:pPr>
            <a:r>
              <a:t>  return reject("INSUFFICIENT_STOCK");</a:t>
            </a:r>
          </a:p>
        </p:txBody>
      </p:sp>
      <p:sp>
        <p:nvSpPr>
          <p:cNvPr id="28" name="TextBox 27"/>
          <p:cNvSpPr txBox="1"/>
          <p:nvPr/>
        </p:nvSpPr>
        <p:spPr>
          <a:xfrm>
            <a:off x="822960" y="3328416"/>
            <a:ext cx="4526280" cy="265176"/>
          </a:xfrm>
          <a:prstGeom prst="rect">
            <a:avLst/>
          </a:prstGeom>
          <a:noFill/>
        </p:spPr>
        <p:txBody>
          <a:bodyPr wrap="square" lIns="0" rIns="0" tIns="0" bIns="0" anchor="t">
            <a:spAutoFit/>
          </a:bodyPr>
          <a:lstStyle/>
          <a:p>
            <a:pPr algn="l">
              <a:lnSpc>
                <a:spcPct val="100000"/>
              </a:lnSpc>
              <a:defRPr sz="930" b="0">
                <a:solidFill>
                  <a:srgbClr val="E4E4E7"/>
                </a:solidFill>
                <a:latin typeface="Liberation Mono"/>
              </a:defRPr>
            </a:pPr>
            <a:r>
              <a:t>}</a:t>
            </a:r>
          </a:p>
        </p:txBody>
      </p:sp>
      <p:sp>
        <p:nvSpPr>
          <p:cNvPr id="29" name="TextBox 28"/>
          <p:cNvSpPr txBox="1"/>
          <p:nvPr/>
        </p:nvSpPr>
        <p:spPr>
          <a:xfrm>
            <a:off x="822960" y="3593591"/>
            <a:ext cx="4526280" cy="265176"/>
          </a:xfrm>
          <a:prstGeom prst="rect">
            <a:avLst/>
          </a:prstGeom>
          <a:noFill/>
        </p:spPr>
        <p:txBody>
          <a:bodyPr wrap="square" lIns="0" rIns="0" tIns="0" bIns="0" anchor="t">
            <a:spAutoFit/>
          </a:bodyPr>
          <a:lstStyle/>
          <a:p>
            <a:pPr algn="l">
              <a:lnSpc>
                <a:spcPct val="100000"/>
              </a:lnSpc>
              <a:defRPr sz="930" b="0">
                <a:solidFill>
                  <a:srgbClr val="E4E4E7"/>
                </a:solidFill>
                <a:latin typeface="Liberation Mono"/>
              </a:defRPr>
            </a:pPr>
            <a:r>
              <a:t>return confirm(order);</a:t>
            </a:r>
          </a:p>
        </p:txBody>
      </p:sp>
      <p:sp>
        <p:nvSpPr>
          <p:cNvPr id="30" name="Rounded Rectangle 29"/>
          <p:cNvSpPr/>
          <p:nvPr/>
        </p:nvSpPr>
        <p:spPr>
          <a:xfrm>
            <a:off x="6400800" y="1965960"/>
            <a:ext cx="5230368" cy="2148840"/>
          </a:xfrm>
          <a:prstGeom prst="roundRect">
            <a:avLst>
              <a:gd name="adj" fmla="val 8000"/>
            </a:avLst>
          </a:prstGeom>
          <a:solidFill>
            <a:srgbClr val="111114"/>
          </a:solidFill>
          <a:ln w="9525">
            <a:solidFill>
              <a:srgbClr val="2B2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 name="Connector 30"/>
          <p:cNvCxnSpPr/>
          <p:nvPr/>
        </p:nvCxnSpPr>
        <p:spPr>
          <a:xfrm>
            <a:off x="6400800" y="2313432"/>
            <a:ext cx="5230367" cy="0"/>
          </a:xfrm>
          <a:prstGeom prst="line">
            <a:avLst/>
          </a:prstGeom>
          <a:ln w="7620">
            <a:solidFill>
              <a:srgbClr val="2B2B33"/>
            </a:solidFill>
          </a:ln>
        </p:spPr>
        <p:style>
          <a:lnRef idx="2">
            <a:schemeClr val="accent1"/>
          </a:lnRef>
          <a:fillRef idx="0">
            <a:schemeClr val="accent1"/>
          </a:fillRef>
          <a:effectRef idx="1">
            <a:schemeClr val="accent1"/>
          </a:effectRef>
          <a:fontRef idx="minor">
            <a:schemeClr val="tx1"/>
          </a:fontRef>
        </p:style>
      </p:cxnSp>
      <p:sp>
        <p:nvSpPr>
          <p:cNvPr id="32" name="Oval 31"/>
          <p:cNvSpPr/>
          <p:nvPr/>
        </p:nvSpPr>
        <p:spPr>
          <a:xfrm>
            <a:off x="6556248" y="2103120"/>
            <a:ext cx="64008" cy="64008"/>
          </a:xfrm>
          <a:prstGeom prst="ellipse">
            <a:avLst/>
          </a:prstGeom>
          <a:solidFill>
            <a:srgbClr val="FB71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702552" y="2103120"/>
            <a:ext cx="64008" cy="64008"/>
          </a:xfrm>
          <a:prstGeom prst="ellipse">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848856" y="2103120"/>
            <a:ext cx="64008" cy="64008"/>
          </a:xfrm>
          <a:prstGeom prst="ellipse">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022592" y="2066543"/>
            <a:ext cx="3401568" cy="164592"/>
          </a:xfrm>
          <a:prstGeom prst="rect">
            <a:avLst/>
          </a:prstGeom>
          <a:noFill/>
        </p:spPr>
        <p:txBody>
          <a:bodyPr wrap="square" lIns="0" rIns="0" tIns="0" bIns="0" anchor="t">
            <a:spAutoFit/>
          </a:bodyPr>
          <a:lstStyle/>
          <a:p>
            <a:pPr algn="l">
              <a:lnSpc>
                <a:spcPct val="100000"/>
              </a:lnSpc>
              <a:defRPr sz="720" b="0">
                <a:solidFill>
                  <a:srgbClr val="71717A"/>
                </a:solidFill>
                <a:latin typeface="Liberation Mono"/>
              </a:defRPr>
            </a:pPr>
            <a:r>
              <a:t>proposed / order-service / confirm.ts</a:t>
            </a:r>
          </a:p>
        </p:txBody>
      </p:sp>
      <p:sp>
        <p:nvSpPr>
          <p:cNvPr id="36" name="Rounded Rectangle 35"/>
          <p:cNvSpPr/>
          <p:nvPr/>
        </p:nvSpPr>
        <p:spPr>
          <a:xfrm>
            <a:off x="10305288" y="2034540"/>
            <a:ext cx="1143000" cy="210312"/>
          </a:xfrm>
          <a:prstGeom prst="roundRect">
            <a:avLst>
              <a:gd name="adj" fmla="val 8000"/>
            </a:avLst>
          </a:prstGeom>
          <a:solidFill>
            <a:srgbClr val="211B35"/>
          </a:solidFill>
          <a:ln w="7620">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341863" y="2043684"/>
            <a:ext cx="1069848" cy="192024"/>
          </a:xfrm>
          <a:prstGeom prst="rect">
            <a:avLst/>
          </a:prstGeom>
          <a:noFill/>
        </p:spPr>
        <p:txBody>
          <a:bodyPr wrap="square" lIns="0" rIns="0" tIns="0" bIns="0" anchor="ctr">
            <a:spAutoFit/>
          </a:bodyPr>
          <a:lstStyle/>
          <a:p>
            <a:pPr algn="ctr">
              <a:lnSpc>
                <a:spcPct val="100000"/>
              </a:lnSpc>
              <a:defRPr sz="620" b="1">
                <a:solidFill>
                  <a:srgbClr val="A78BFA"/>
                </a:solidFill>
                <a:latin typeface="Inter"/>
              </a:defRPr>
            </a:pPr>
            <a:r>
              <a:t>PROPOSED</a:t>
            </a:r>
          </a:p>
        </p:txBody>
      </p:sp>
      <p:sp>
        <p:nvSpPr>
          <p:cNvPr id="38" name="TextBox 37"/>
          <p:cNvSpPr txBox="1"/>
          <p:nvPr/>
        </p:nvSpPr>
        <p:spPr>
          <a:xfrm>
            <a:off x="6656832" y="2468880"/>
            <a:ext cx="2377440" cy="201168"/>
          </a:xfrm>
          <a:prstGeom prst="rect">
            <a:avLst/>
          </a:prstGeom>
          <a:noFill/>
        </p:spPr>
        <p:txBody>
          <a:bodyPr wrap="square" lIns="0" rIns="0" tIns="0" bIns="0" anchor="t">
            <a:spAutoFit/>
          </a:bodyPr>
          <a:lstStyle/>
          <a:p>
            <a:pPr algn="l">
              <a:lnSpc>
                <a:spcPct val="100000"/>
              </a:lnSpc>
              <a:defRPr sz="700" b="1">
                <a:solidFill>
                  <a:srgbClr val="FB7185"/>
                </a:solidFill>
                <a:latin typeface="Inter"/>
              </a:defRPr>
            </a:pPr>
            <a:r>
              <a:t>MIGRATED DECISION PATH</a:t>
            </a:r>
          </a:p>
        </p:txBody>
      </p:sp>
      <p:sp>
        <p:nvSpPr>
          <p:cNvPr id="39" name="TextBox 38"/>
          <p:cNvSpPr txBox="1"/>
          <p:nvPr/>
        </p:nvSpPr>
        <p:spPr>
          <a:xfrm>
            <a:off x="6675120" y="2798064"/>
            <a:ext cx="4434840" cy="265176"/>
          </a:xfrm>
          <a:prstGeom prst="rect">
            <a:avLst/>
          </a:prstGeom>
          <a:noFill/>
        </p:spPr>
        <p:txBody>
          <a:bodyPr wrap="square" lIns="0" rIns="0" tIns="0" bIns="0" anchor="t">
            <a:spAutoFit/>
          </a:bodyPr>
          <a:lstStyle/>
          <a:p>
            <a:pPr algn="l">
              <a:lnSpc>
                <a:spcPct val="100000"/>
              </a:lnSpc>
              <a:defRPr sz="930" b="0">
                <a:solidFill>
                  <a:srgbClr val="FB7185"/>
                </a:solidFill>
                <a:latin typeface="Liberation Mono"/>
              </a:defRPr>
            </a:pPr>
            <a:r>
              <a:t>// inventory guard omitted</a:t>
            </a:r>
          </a:p>
        </p:txBody>
      </p:sp>
      <p:sp>
        <p:nvSpPr>
          <p:cNvPr id="40" name="TextBox 39"/>
          <p:cNvSpPr txBox="1"/>
          <p:nvPr/>
        </p:nvSpPr>
        <p:spPr>
          <a:xfrm>
            <a:off x="6675120" y="3063240"/>
            <a:ext cx="4434840" cy="265176"/>
          </a:xfrm>
          <a:prstGeom prst="rect">
            <a:avLst/>
          </a:prstGeom>
          <a:noFill/>
        </p:spPr>
        <p:txBody>
          <a:bodyPr wrap="square" lIns="0" rIns="0" tIns="0" bIns="0" anchor="t">
            <a:spAutoFit/>
          </a:bodyPr>
          <a:lstStyle/>
          <a:p>
            <a:pPr algn="l">
              <a:lnSpc>
                <a:spcPct val="100000"/>
              </a:lnSpc>
              <a:defRPr sz="930" b="0">
                <a:solidFill>
                  <a:srgbClr val="FB7185"/>
                </a:solidFill>
                <a:latin typeface="Liberation Mono"/>
              </a:defRPr>
            </a:pPr>
            <a:r>
              <a:t>return confirm(order);</a:t>
            </a:r>
          </a:p>
        </p:txBody>
      </p:sp>
      <p:sp>
        <p:nvSpPr>
          <p:cNvPr id="41" name="TextBox 40"/>
          <p:cNvSpPr txBox="1"/>
          <p:nvPr/>
        </p:nvSpPr>
        <p:spPr>
          <a:xfrm>
            <a:off x="6675120" y="3328416"/>
            <a:ext cx="4434840" cy="265176"/>
          </a:xfrm>
          <a:prstGeom prst="rect">
            <a:avLst/>
          </a:prstGeom>
          <a:noFill/>
        </p:spPr>
        <p:txBody>
          <a:bodyPr wrap="square" lIns="0" rIns="0" tIns="0" bIns="0" anchor="t">
            <a:spAutoFit/>
          </a:bodyPr>
          <a:lstStyle/>
          <a:p>
            <a:pPr algn="l">
              <a:lnSpc>
                <a:spcPct val="100000"/>
              </a:lnSpc>
              <a:defRPr sz="930" b="0">
                <a:solidFill>
                  <a:srgbClr val="FB7185"/>
                </a:solidFill>
                <a:latin typeface="Liberation Mono"/>
              </a:defRPr>
            </a:pPr>
          </a:p>
        </p:txBody>
      </p:sp>
      <p:sp>
        <p:nvSpPr>
          <p:cNvPr id="42" name="TextBox 41"/>
          <p:cNvSpPr txBox="1"/>
          <p:nvPr/>
        </p:nvSpPr>
        <p:spPr>
          <a:xfrm>
            <a:off x="6675120" y="3593591"/>
            <a:ext cx="4434840" cy="265176"/>
          </a:xfrm>
          <a:prstGeom prst="rect">
            <a:avLst/>
          </a:prstGeom>
          <a:noFill/>
        </p:spPr>
        <p:txBody>
          <a:bodyPr wrap="square" lIns="0" rIns="0" tIns="0" bIns="0" anchor="t">
            <a:spAutoFit/>
          </a:bodyPr>
          <a:lstStyle/>
          <a:p>
            <a:pPr algn="l">
              <a:lnSpc>
                <a:spcPct val="100000"/>
              </a:lnSpc>
              <a:defRPr sz="930" b="0">
                <a:solidFill>
                  <a:srgbClr val="FB7185"/>
                </a:solidFill>
                <a:latin typeface="Liberation Mono"/>
              </a:defRPr>
            </a:pPr>
            <a:r>
              <a:t>// builds successfully</a:t>
            </a:r>
          </a:p>
        </p:txBody>
      </p:sp>
      <p:cxnSp>
        <p:nvCxnSpPr>
          <p:cNvPr id="43" name="Connector 42"/>
          <p:cNvCxnSpPr/>
          <p:nvPr/>
        </p:nvCxnSpPr>
        <p:spPr>
          <a:xfrm>
            <a:off x="5815584" y="3035808"/>
            <a:ext cx="402336" cy="0"/>
          </a:xfrm>
          <a:prstGeom prst="line">
            <a:avLst/>
          </a:prstGeom>
          <a:ln w="15240">
            <a:solidFill>
              <a:srgbClr val="FB7185"/>
            </a:solidFill>
          </a:ln>
        </p:spPr>
        <p:style>
          <a:lnRef idx="2">
            <a:schemeClr val="accent1"/>
          </a:lnRef>
          <a:fillRef idx="0">
            <a:schemeClr val="accent1"/>
          </a:fillRef>
          <a:effectRef idx="1">
            <a:schemeClr val="accent1"/>
          </a:effectRef>
          <a:fontRef idx="minor">
            <a:schemeClr val="tx1"/>
          </a:fontRef>
        </p:style>
      </p:cxnSp>
      <p:sp>
        <p:nvSpPr>
          <p:cNvPr id="44" name="Chevron 43"/>
          <p:cNvSpPr/>
          <p:nvPr/>
        </p:nvSpPr>
        <p:spPr>
          <a:xfrm>
            <a:off x="6172200" y="2953512"/>
            <a:ext cx="164592" cy="164592"/>
          </a:xfrm>
          <a:prstGeom prst="chevron">
            <a:avLst/>
          </a:prstGeom>
          <a:solidFill>
            <a:srgbClr val="FB71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4800600" y="3831336"/>
            <a:ext cx="2606040" cy="256032"/>
          </a:xfrm>
          <a:prstGeom prst="roundRect">
            <a:avLst>
              <a:gd name="adj" fmla="val 8000"/>
            </a:avLst>
          </a:prstGeom>
          <a:solidFill>
            <a:srgbClr val="30151C"/>
          </a:solidFill>
          <a:ln w="7620">
            <a:solidFill>
              <a:srgbClr val="3015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837176" y="3840480"/>
            <a:ext cx="2532888" cy="237744"/>
          </a:xfrm>
          <a:prstGeom prst="rect">
            <a:avLst/>
          </a:prstGeom>
          <a:noFill/>
        </p:spPr>
        <p:txBody>
          <a:bodyPr wrap="square" lIns="0" rIns="0" tIns="0" bIns="0" anchor="ctr">
            <a:spAutoFit/>
          </a:bodyPr>
          <a:lstStyle/>
          <a:p>
            <a:pPr algn="ctr">
              <a:lnSpc>
                <a:spcPct val="100000"/>
              </a:lnSpc>
              <a:defRPr sz="680" b="1">
                <a:solidFill>
                  <a:srgbClr val="FB7185"/>
                </a:solidFill>
                <a:latin typeface="Inter"/>
              </a:defRPr>
            </a:pPr>
            <a:r>
              <a:t>DECISION CONDITION CHANGED</a:t>
            </a:r>
          </a:p>
        </p:txBody>
      </p:sp>
      <p:sp>
        <p:nvSpPr>
          <p:cNvPr id="47" name="Rounded Rectangle 46"/>
          <p:cNvSpPr/>
          <p:nvPr/>
        </p:nvSpPr>
        <p:spPr>
          <a:xfrm>
            <a:off x="548640" y="4407408"/>
            <a:ext cx="11082528" cy="1298448"/>
          </a:xfrm>
          <a:prstGeom prst="roundRect">
            <a:avLst>
              <a:gd name="adj" fmla="val 8000"/>
            </a:avLst>
          </a:prstGeom>
          <a:solidFill>
            <a:srgbClr val="18181B"/>
          </a:solidFill>
          <a:ln w="9525">
            <a:solidFill>
              <a:srgbClr val="2B2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77240" y="4599432"/>
            <a:ext cx="3291840" cy="201168"/>
          </a:xfrm>
          <a:prstGeom prst="rect">
            <a:avLst/>
          </a:prstGeom>
          <a:noFill/>
        </p:spPr>
        <p:txBody>
          <a:bodyPr wrap="square" lIns="0" rIns="0" tIns="0" bIns="0" anchor="t">
            <a:spAutoFit/>
          </a:bodyPr>
          <a:lstStyle/>
          <a:p>
            <a:pPr algn="l">
              <a:lnSpc>
                <a:spcPct val="100000"/>
              </a:lnSpc>
              <a:defRPr sz="700" b="1">
                <a:solidFill>
                  <a:srgbClr val="A78BFA"/>
                </a:solidFill>
                <a:latin typeface="Inter"/>
              </a:defRPr>
            </a:pPr>
            <a:r>
              <a:t>GENERATED REGRESSION TEST • ILLUSTRATIVE EVIDENCE</a:t>
            </a:r>
          </a:p>
        </p:txBody>
      </p:sp>
      <p:sp>
        <p:nvSpPr>
          <p:cNvPr id="49" name="TextBox 48"/>
          <p:cNvSpPr txBox="1"/>
          <p:nvPr/>
        </p:nvSpPr>
        <p:spPr>
          <a:xfrm>
            <a:off x="777240" y="4910328"/>
            <a:ext cx="1874519" cy="201168"/>
          </a:xfrm>
          <a:prstGeom prst="rect">
            <a:avLst/>
          </a:prstGeom>
          <a:noFill/>
        </p:spPr>
        <p:txBody>
          <a:bodyPr wrap="square" lIns="0" rIns="0" tIns="0" bIns="0" anchor="t">
            <a:spAutoFit/>
          </a:bodyPr>
          <a:lstStyle/>
          <a:p>
            <a:pPr algn="l">
              <a:lnSpc>
                <a:spcPct val="100000"/>
              </a:lnSpc>
              <a:defRPr sz="610" b="1">
                <a:solidFill>
                  <a:srgbClr val="71717A"/>
                </a:solidFill>
                <a:latin typeface="Inter"/>
              </a:defRPr>
            </a:pPr>
            <a:r>
              <a:t>TEST INPUT</a:t>
            </a:r>
          </a:p>
        </p:txBody>
      </p:sp>
      <p:sp>
        <p:nvSpPr>
          <p:cNvPr id="50" name="TextBox 49"/>
          <p:cNvSpPr txBox="1"/>
          <p:nvPr/>
        </p:nvSpPr>
        <p:spPr>
          <a:xfrm>
            <a:off x="777240" y="5184648"/>
            <a:ext cx="1847088" cy="393192"/>
          </a:xfrm>
          <a:prstGeom prst="rect">
            <a:avLst/>
          </a:prstGeom>
          <a:noFill/>
        </p:spPr>
        <p:txBody>
          <a:bodyPr wrap="square" lIns="0" rIns="0" tIns="0" bIns="0" anchor="t">
            <a:spAutoFit/>
          </a:bodyPr>
          <a:lstStyle/>
          <a:p>
            <a:pPr algn="l">
              <a:lnSpc>
                <a:spcPct val="100000"/>
              </a:lnSpc>
              <a:defRPr sz="819" b="0">
                <a:solidFill>
                  <a:srgbClr val="E4E4E7"/>
                </a:solidFill>
                <a:latin typeface="Liberation Mono"/>
              </a:defRPr>
            </a:pPr>
            <a:r>
              <a:t>inventory: 2</a:t>
            </a:r>
            <a:br/>
            <a:r>
              <a:t>order.quantity: 5</a:t>
            </a:r>
          </a:p>
        </p:txBody>
      </p:sp>
      <p:cxnSp>
        <p:nvCxnSpPr>
          <p:cNvPr id="51" name="Connector 50"/>
          <p:cNvCxnSpPr/>
          <p:nvPr/>
        </p:nvCxnSpPr>
        <p:spPr>
          <a:xfrm>
            <a:off x="2761488" y="4882896"/>
            <a:ext cx="0" cy="621792"/>
          </a:xfrm>
          <a:prstGeom prst="line">
            <a:avLst/>
          </a:prstGeom>
          <a:ln w="6985">
            <a:solidFill>
              <a:srgbClr val="2B2B33"/>
            </a:soli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2926080" y="4910328"/>
            <a:ext cx="1874519" cy="201168"/>
          </a:xfrm>
          <a:prstGeom prst="rect">
            <a:avLst/>
          </a:prstGeom>
          <a:noFill/>
        </p:spPr>
        <p:txBody>
          <a:bodyPr wrap="square" lIns="0" rIns="0" tIns="0" bIns="0" anchor="t">
            <a:spAutoFit/>
          </a:bodyPr>
          <a:lstStyle/>
          <a:p>
            <a:pPr algn="l">
              <a:lnSpc>
                <a:spcPct val="100000"/>
              </a:lnSpc>
              <a:defRPr sz="610" b="1">
                <a:solidFill>
                  <a:srgbClr val="71717A"/>
                </a:solidFill>
                <a:latin typeface="Inter"/>
              </a:defRPr>
            </a:pPr>
            <a:r>
              <a:t>EXPECTED</a:t>
            </a:r>
          </a:p>
        </p:txBody>
      </p:sp>
      <p:sp>
        <p:nvSpPr>
          <p:cNvPr id="53" name="TextBox 52"/>
          <p:cNvSpPr txBox="1"/>
          <p:nvPr/>
        </p:nvSpPr>
        <p:spPr>
          <a:xfrm>
            <a:off x="2926080" y="5184648"/>
            <a:ext cx="1847088" cy="393192"/>
          </a:xfrm>
          <a:prstGeom prst="rect">
            <a:avLst/>
          </a:prstGeom>
          <a:noFill/>
        </p:spPr>
        <p:txBody>
          <a:bodyPr wrap="square" lIns="0" rIns="0" tIns="0" bIns="0" anchor="t">
            <a:spAutoFit/>
          </a:bodyPr>
          <a:lstStyle/>
          <a:p>
            <a:pPr algn="l">
              <a:lnSpc>
                <a:spcPct val="100000"/>
              </a:lnSpc>
              <a:defRPr sz="819" b="1">
                <a:solidFill>
                  <a:srgbClr val="E4E4E7"/>
                </a:solidFill>
                <a:latin typeface="Liberation Mono"/>
              </a:defRPr>
            </a:pPr>
            <a:r>
              <a:t>REJECTED</a:t>
            </a:r>
            <a:br/>
            <a:r>
              <a:t>INSUFFICIENT_STOCK</a:t>
            </a:r>
          </a:p>
        </p:txBody>
      </p:sp>
      <p:cxnSp>
        <p:nvCxnSpPr>
          <p:cNvPr id="54" name="Connector 53"/>
          <p:cNvCxnSpPr/>
          <p:nvPr/>
        </p:nvCxnSpPr>
        <p:spPr>
          <a:xfrm>
            <a:off x="4910328" y="4882896"/>
            <a:ext cx="0" cy="621792"/>
          </a:xfrm>
          <a:prstGeom prst="line">
            <a:avLst/>
          </a:prstGeom>
          <a:ln w="6985">
            <a:solidFill>
              <a:srgbClr val="2B2B33"/>
            </a:solidFill>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5074920" y="4910328"/>
            <a:ext cx="1874519" cy="201168"/>
          </a:xfrm>
          <a:prstGeom prst="rect">
            <a:avLst/>
          </a:prstGeom>
          <a:noFill/>
        </p:spPr>
        <p:txBody>
          <a:bodyPr wrap="square" lIns="0" rIns="0" tIns="0" bIns="0" anchor="t">
            <a:spAutoFit/>
          </a:bodyPr>
          <a:lstStyle/>
          <a:p>
            <a:pPr algn="l">
              <a:lnSpc>
                <a:spcPct val="100000"/>
              </a:lnSpc>
              <a:defRPr sz="610" b="1">
                <a:solidFill>
                  <a:srgbClr val="71717A"/>
                </a:solidFill>
                <a:latin typeface="Inter"/>
              </a:defRPr>
            </a:pPr>
            <a:r>
              <a:t>OBSERVED</a:t>
            </a:r>
          </a:p>
        </p:txBody>
      </p:sp>
      <p:sp>
        <p:nvSpPr>
          <p:cNvPr id="56" name="TextBox 55"/>
          <p:cNvSpPr txBox="1"/>
          <p:nvPr/>
        </p:nvSpPr>
        <p:spPr>
          <a:xfrm>
            <a:off x="5074920" y="5184648"/>
            <a:ext cx="1847088" cy="393192"/>
          </a:xfrm>
          <a:prstGeom prst="rect">
            <a:avLst/>
          </a:prstGeom>
          <a:noFill/>
        </p:spPr>
        <p:txBody>
          <a:bodyPr wrap="square" lIns="0" rIns="0" tIns="0" bIns="0" anchor="t">
            <a:spAutoFit/>
          </a:bodyPr>
          <a:lstStyle/>
          <a:p>
            <a:pPr algn="l">
              <a:lnSpc>
                <a:spcPct val="100000"/>
              </a:lnSpc>
              <a:defRPr sz="819" b="1">
                <a:solidFill>
                  <a:srgbClr val="FB7185"/>
                </a:solidFill>
                <a:latin typeface="Liberation Mono"/>
              </a:defRPr>
            </a:pPr>
            <a:r>
              <a:t>CONFIRMED</a:t>
            </a:r>
            <a:br/>
            <a:r>
              <a:t>illustrative result</a:t>
            </a:r>
          </a:p>
        </p:txBody>
      </p:sp>
      <p:cxnSp>
        <p:nvCxnSpPr>
          <p:cNvPr id="57" name="Connector 56"/>
          <p:cNvCxnSpPr/>
          <p:nvPr/>
        </p:nvCxnSpPr>
        <p:spPr>
          <a:xfrm>
            <a:off x="7059168" y="4882896"/>
            <a:ext cx="0" cy="621792"/>
          </a:xfrm>
          <a:prstGeom prst="line">
            <a:avLst/>
          </a:prstGeom>
          <a:ln w="6985">
            <a:solidFill>
              <a:srgbClr val="2B2B33"/>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7223760" y="4910328"/>
            <a:ext cx="1874519" cy="201168"/>
          </a:xfrm>
          <a:prstGeom prst="rect">
            <a:avLst/>
          </a:prstGeom>
          <a:noFill/>
        </p:spPr>
        <p:txBody>
          <a:bodyPr wrap="square" lIns="0" rIns="0" tIns="0" bIns="0" anchor="t">
            <a:spAutoFit/>
          </a:bodyPr>
          <a:lstStyle/>
          <a:p>
            <a:pPr algn="l">
              <a:lnSpc>
                <a:spcPct val="100000"/>
              </a:lnSpc>
              <a:defRPr sz="610" b="1">
                <a:solidFill>
                  <a:srgbClr val="71717A"/>
                </a:solidFill>
                <a:latin typeface="Inter"/>
              </a:defRPr>
            </a:pPr>
            <a:r>
              <a:t>REVIEW STATUS</a:t>
            </a:r>
          </a:p>
        </p:txBody>
      </p:sp>
      <p:sp>
        <p:nvSpPr>
          <p:cNvPr id="59" name="TextBox 58"/>
          <p:cNvSpPr txBox="1"/>
          <p:nvPr/>
        </p:nvSpPr>
        <p:spPr>
          <a:xfrm>
            <a:off x="7223760" y="5184648"/>
            <a:ext cx="1847088" cy="393192"/>
          </a:xfrm>
          <a:prstGeom prst="rect">
            <a:avLst/>
          </a:prstGeom>
          <a:noFill/>
        </p:spPr>
        <p:txBody>
          <a:bodyPr wrap="square" lIns="0" rIns="0" tIns="0" bIns="0" anchor="t">
            <a:spAutoFit/>
          </a:bodyPr>
          <a:lstStyle/>
          <a:p>
            <a:pPr algn="l">
              <a:lnSpc>
                <a:spcPct val="100000"/>
              </a:lnSpc>
              <a:defRPr sz="819" b="1">
                <a:solidFill>
                  <a:srgbClr val="E4E4E7"/>
                </a:solidFill>
                <a:latin typeface="Inter"/>
              </a:defRPr>
            </a:pPr>
            <a:r>
              <a:t>BLOCK APPROVAL</a:t>
            </a:r>
            <a:br/>
            <a:r>
              <a:t>unverified in repo</a:t>
            </a:r>
          </a:p>
        </p:txBody>
      </p:sp>
      <p:cxnSp>
        <p:nvCxnSpPr>
          <p:cNvPr id="60" name="Connector 59"/>
          <p:cNvCxnSpPr/>
          <p:nvPr/>
        </p:nvCxnSpPr>
        <p:spPr>
          <a:xfrm>
            <a:off x="9208008" y="4882896"/>
            <a:ext cx="0" cy="621792"/>
          </a:xfrm>
          <a:prstGeom prst="line">
            <a:avLst/>
          </a:prstGeom>
          <a:ln w="6985">
            <a:solidFill>
              <a:srgbClr val="2B2B33"/>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9372600" y="4910328"/>
            <a:ext cx="1874519" cy="201168"/>
          </a:xfrm>
          <a:prstGeom prst="rect">
            <a:avLst/>
          </a:prstGeom>
          <a:noFill/>
        </p:spPr>
        <p:txBody>
          <a:bodyPr wrap="square" lIns="0" rIns="0" tIns="0" bIns="0" anchor="t">
            <a:spAutoFit/>
          </a:bodyPr>
          <a:lstStyle/>
          <a:p>
            <a:pPr algn="l">
              <a:lnSpc>
                <a:spcPct val="100000"/>
              </a:lnSpc>
              <a:defRPr sz="610" b="1">
                <a:solidFill>
                  <a:srgbClr val="71717A"/>
                </a:solidFill>
                <a:latin typeface="Inter"/>
              </a:defRPr>
            </a:pPr>
            <a:r>
              <a:t>NEXT ACTION</a:t>
            </a:r>
          </a:p>
        </p:txBody>
      </p:sp>
      <p:sp>
        <p:nvSpPr>
          <p:cNvPr id="62" name="TextBox 61"/>
          <p:cNvSpPr txBox="1"/>
          <p:nvPr/>
        </p:nvSpPr>
        <p:spPr>
          <a:xfrm>
            <a:off x="9372600" y="5184648"/>
            <a:ext cx="1847088" cy="393192"/>
          </a:xfrm>
          <a:prstGeom prst="rect">
            <a:avLst/>
          </a:prstGeom>
          <a:noFill/>
        </p:spPr>
        <p:txBody>
          <a:bodyPr wrap="square" lIns="0" rIns="0" tIns="0" bIns="0" anchor="t">
            <a:spAutoFit/>
          </a:bodyPr>
          <a:lstStyle/>
          <a:p>
            <a:pPr algn="l">
              <a:lnSpc>
                <a:spcPct val="100000"/>
              </a:lnSpc>
              <a:defRPr sz="819" b="0">
                <a:solidFill>
                  <a:srgbClr val="E4E4E7"/>
                </a:solidFill>
                <a:latin typeface="Inter"/>
              </a:defRPr>
            </a:pPr>
            <a:r>
              <a:t>Restore guard</a:t>
            </a:r>
            <a:br/>
            <a:r>
              <a:t>rerun isolated test</a:t>
            </a:r>
          </a:p>
        </p:txBody>
      </p:sp>
      <p:sp>
        <p:nvSpPr>
          <p:cNvPr id="63" name="TextBox 62"/>
          <p:cNvSpPr txBox="1"/>
          <p:nvPr/>
        </p:nvSpPr>
        <p:spPr>
          <a:xfrm>
            <a:off x="685800" y="5843016"/>
            <a:ext cx="10789920" cy="182880"/>
          </a:xfrm>
          <a:prstGeom prst="rect">
            <a:avLst/>
          </a:prstGeom>
          <a:noFill/>
        </p:spPr>
        <p:txBody>
          <a:bodyPr wrap="square" lIns="0" rIns="0" tIns="0" bIns="0" anchor="t">
            <a:spAutoFit/>
          </a:bodyPr>
          <a:lstStyle/>
          <a:p>
            <a:pPr algn="ctr">
              <a:lnSpc>
                <a:spcPct val="100000"/>
              </a:lnSpc>
              <a:defRPr sz="730" b="0">
                <a:solidFill>
                  <a:srgbClr val="FBBF24"/>
                </a:solidFill>
                <a:latin typeface="Inter"/>
              </a:defRPr>
            </a:pPr>
            <a:r>
              <a:t>AI-INFERRED OR UNVERIFIED until executed • A passing suite never proves complete behavioral equivalence.</a:t>
            </a:r>
          </a:p>
        </p:txBody>
      </p:sp>
      <p:sp>
        <p:nvSpPr>
          <p:cNvPr id="64" name="TextBox 63"/>
          <p:cNvSpPr txBox="1"/>
          <p:nvPr/>
        </p:nvSpPr>
        <p:spPr>
          <a:xfrm>
            <a:off x="685800" y="6089904"/>
            <a:ext cx="10789920" cy="274320"/>
          </a:xfrm>
          <a:prstGeom prst="rect">
            <a:avLst/>
          </a:prstGeom>
          <a:noFill/>
        </p:spPr>
        <p:txBody>
          <a:bodyPr wrap="square" lIns="0" rIns="0" tIns="0" bIns="0" anchor="t">
            <a:spAutoFit/>
          </a:bodyPr>
          <a:lstStyle/>
          <a:p>
            <a:pPr algn="ctr">
              <a:lnSpc>
                <a:spcPct val="100000"/>
              </a:lnSpc>
              <a:defRPr sz="1600" b="1">
                <a:solidFill>
                  <a:srgbClr val="FAFAFA"/>
                </a:solidFill>
                <a:latin typeface="Inter"/>
              </a:defRPr>
            </a:pPr>
            <a:r>
              <a:t>Don't just migrate the code. Verify the behavior.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9090B"/>
        </a:solidFill>
        <a:effectLst/>
      </p:bgPr>
    </p:bg>
    <p:spTree>
      <p:nvGrpSpPr>
        <p:cNvPr id="1" name=""/>
        <p:cNvGrpSpPr/>
        <p:nvPr/>
      </p:nvGrpSpPr>
      <p:grpSpPr/>
      <p:cxnSp>
        <p:nvCxnSpPr>
          <p:cNvPr id="2" name="Connector 1"/>
          <p:cNvCxnSpPr/>
          <p:nvPr/>
        </p:nvCxnSpPr>
        <p:spPr>
          <a:xfrm>
            <a:off x="3044952" y="0"/>
            <a:ext cx="0" cy="6858000"/>
          </a:xfrm>
          <a:prstGeom prst="line">
            <a:avLst/>
          </a:prstGeom>
          <a:ln w="4445">
            <a:solidFill>
              <a:srgbClr val="111114"/>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6089904" y="0"/>
            <a:ext cx="0" cy="6858000"/>
          </a:xfrm>
          <a:prstGeom prst="line">
            <a:avLst/>
          </a:prstGeom>
          <a:ln w="4445">
            <a:solidFill>
              <a:srgbClr val="111114"/>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9134856" y="0"/>
            <a:ext cx="0" cy="6858000"/>
          </a:xfrm>
          <a:prstGeom prst="line">
            <a:avLst/>
          </a:prstGeom>
          <a:ln w="4445">
            <a:solidFill>
              <a:srgbClr val="111114"/>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02920" y="612648"/>
            <a:ext cx="11183112" cy="0"/>
          </a:xfrm>
          <a:prstGeom prst="line">
            <a:avLst/>
          </a:prstGeom>
          <a:ln w="6985">
            <a:solidFill>
              <a:srgbClr val="202024"/>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246888"/>
            <a:ext cx="228600" cy="228600"/>
          </a:xfrm>
          <a:prstGeom prst="roundRect">
            <a:avLst>
              <a:gd name="adj" fmla="val 8000"/>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46888"/>
            <a:ext cx="228600" cy="228600"/>
          </a:xfrm>
          <a:prstGeom prst="rect">
            <a:avLst/>
          </a:prstGeom>
          <a:noFill/>
        </p:spPr>
        <p:txBody>
          <a:bodyPr wrap="square" lIns="0" rIns="0" tIns="0" bIns="0" anchor="ctr">
            <a:spAutoFit/>
          </a:bodyPr>
          <a:lstStyle/>
          <a:p>
            <a:pPr algn="ctr">
              <a:lnSpc>
                <a:spcPct val="100000"/>
              </a:lnSpc>
              <a:defRPr sz="650" b="1">
                <a:solidFill>
                  <a:srgbClr val="09090B"/>
                </a:solidFill>
                <a:latin typeface="Inter"/>
              </a:defRPr>
            </a:pPr>
            <a:r>
              <a:t>LB</a:t>
            </a:r>
          </a:p>
        </p:txBody>
      </p:sp>
      <p:sp>
        <p:nvSpPr>
          <p:cNvPr id="8" name="TextBox 7"/>
          <p:cNvSpPr txBox="1"/>
          <p:nvPr/>
        </p:nvSpPr>
        <p:spPr>
          <a:xfrm>
            <a:off x="804672" y="269748"/>
            <a:ext cx="2011680" cy="201168"/>
          </a:xfrm>
          <a:prstGeom prst="rect">
            <a:avLst/>
          </a:prstGeom>
          <a:noFill/>
        </p:spPr>
        <p:txBody>
          <a:bodyPr wrap="square" lIns="0" rIns="0" tIns="0" bIns="0" anchor="t">
            <a:spAutoFit/>
          </a:bodyPr>
          <a:lstStyle/>
          <a:p>
            <a:pPr algn="l">
              <a:lnSpc>
                <a:spcPct val="100000"/>
              </a:lnSpc>
              <a:defRPr sz="850" b="1">
                <a:solidFill>
                  <a:srgbClr val="E4E4E7"/>
                </a:solidFill>
                <a:latin typeface="Inter"/>
              </a:defRPr>
            </a:pPr>
            <a:r>
              <a:t>LEGACYBRIDGE</a:t>
            </a:r>
          </a:p>
        </p:txBody>
      </p:sp>
      <p:sp>
        <p:nvSpPr>
          <p:cNvPr id="9" name="Rounded Rectangle 8"/>
          <p:cNvSpPr/>
          <p:nvPr/>
        </p:nvSpPr>
        <p:spPr>
          <a:xfrm>
            <a:off x="11045952" y="237744"/>
            <a:ext cx="640080" cy="256032"/>
          </a:xfrm>
          <a:prstGeom prst="roundRect">
            <a:avLst>
              <a:gd name="adj" fmla="val 8000"/>
            </a:avLst>
          </a:prstGeom>
          <a:solidFill>
            <a:srgbClr val="111114"/>
          </a:solidFill>
          <a:ln w="7620">
            <a:solidFill>
              <a:srgbClr val="2B2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082528" y="246888"/>
            <a:ext cx="566928" cy="237744"/>
          </a:xfrm>
          <a:prstGeom prst="rect">
            <a:avLst/>
          </a:prstGeom>
          <a:noFill/>
        </p:spPr>
        <p:txBody>
          <a:bodyPr wrap="square" lIns="0" rIns="0" tIns="0" bIns="0" anchor="ctr">
            <a:spAutoFit/>
          </a:bodyPr>
          <a:lstStyle/>
          <a:p>
            <a:pPr algn="ctr">
              <a:lnSpc>
                <a:spcPct val="100000"/>
              </a:lnSpc>
              <a:defRPr sz="700" b="1">
                <a:solidFill>
                  <a:srgbClr val="A1A1AA"/>
                </a:solidFill>
                <a:latin typeface="Inter"/>
              </a:defRPr>
            </a:pPr>
            <a:r>
              <a:t>06 / 10</a:t>
            </a:r>
          </a:p>
        </p:txBody>
      </p:sp>
      <p:sp>
        <p:nvSpPr>
          <p:cNvPr id="11" name="TextBox 10"/>
          <p:cNvSpPr txBox="1"/>
          <p:nvPr/>
        </p:nvSpPr>
        <p:spPr>
          <a:xfrm>
            <a:off x="548640" y="768096"/>
            <a:ext cx="6858000" cy="219456"/>
          </a:xfrm>
          <a:prstGeom prst="rect">
            <a:avLst/>
          </a:prstGeom>
          <a:noFill/>
        </p:spPr>
        <p:txBody>
          <a:bodyPr wrap="square" lIns="0" rIns="0" tIns="0" bIns="0" anchor="t">
            <a:spAutoFit/>
          </a:bodyPr>
          <a:lstStyle/>
          <a:p>
            <a:pPr algn="l">
              <a:lnSpc>
                <a:spcPct val="100000"/>
              </a:lnSpc>
              <a:defRPr sz="800" b="1">
                <a:solidFill>
                  <a:srgbClr val="A78BFA"/>
                </a:solidFill>
                <a:latin typeface="Inter"/>
              </a:defRPr>
            </a:pPr>
            <a:r>
              <a:t>MONOLITH-TO-MICROSERVICES MIGRATION ENGINE</a:t>
            </a:r>
          </a:p>
        </p:txBody>
      </p:sp>
      <p:sp>
        <p:nvSpPr>
          <p:cNvPr id="12" name="TextBox 11"/>
          <p:cNvSpPr txBox="1"/>
          <p:nvPr/>
        </p:nvSpPr>
        <p:spPr>
          <a:xfrm>
            <a:off x="548640" y="996696"/>
            <a:ext cx="11064240" cy="585216"/>
          </a:xfrm>
          <a:prstGeom prst="rect">
            <a:avLst/>
          </a:prstGeom>
          <a:noFill/>
        </p:spPr>
        <p:txBody>
          <a:bodyPr wrap="square" lIns="0" rIns="0" tIns="0" bIns="0" anchor="t">
            <a:spAutoFit/>
          </a:bodyPr>
          <a:lstStyle/>
          <a:p>
            <a:pPr algn="l">
              <a:lnSpc>
                <a:spcPct val="95000"/>
              </a:lnSpc>
              <a:defRPr sz="2700" b="1">
                <a:solidFill>
                  <a:srgbClr val="FAFAFA"/>
                </a:solidFill>
                <a:latin typeface="Inter"/>
              </a:defRPr>
            </a:pPr>
            <a:r>
              <a:t>Turn a Monolith into a Reviewed, Incremental Migration Plan.</a:t>
            </a:r>
          </a:p>
        </p:txBody>
      </p:sp>
      <p:sp>
        <p:nvSpPr>
          <p:cNvPr id="13" name="TextBox 12"/>
          <p:cNvSpPr txBox="1"/>
          <p:nvPr/>
        </p:nvSpPr>
        <p:spPr>
          <a:xfrm>
            <a:off x="548640" y="1545336"/>
            <a:ext cx="10972800" cy="347472"/>
          </a:xfrm>
          <a:prstGeom prst="rect">
            <a:avLst/>
          </a:prstGeom>
          <a:noFill/>
        </p:spPr>
        <p:txBody>
          <a:bodyPr wrap="square" lIns="0" rIns="0" tIns="0" bIns="0" anchor="t">
            <a:spAutoFit/>
          </a:bodyPr>
          <a:lstStyle/>
          <a:p>
            <a:pPr algn="l">
              <a:lnSpc>
                <a:spcPct val="100000"/>
              </a:lnSpc>
              <a:defRPr sz="1050" b="0">
                <a:solidFill>
                  <a:srgbClr val="A1A1AA"/>
                </a:solidFill>
                <a:latin typeface="Inter"/>
              </a:defRPr>
            </a:pPr>
            <a:r>
              <a:t>Candidate boundaries are recommendations to inspect—not universal architectural answers.</a:t>
            </a:r>
          </a:p>
        </p:txBody>
      </p:sp>
      <p:cxnSp>
        <p:nvCxnSpPr>
          <p:cNvPr id="14" name="Connector 13"/>
          <p:cNvCxnSpPr/>
          <p:nvPr/>
        </p:nvCxnSpPr>
        <p:spPr>
          <a:xfrm>
            <a:off x="502920" y="6473952"/>
            <a:ext cx="11183112" cy="0"/>
          </a:xfrm>
          <a:prstGeom prst="line">
            <a:avLst/>
          </a:prstGeom>
          <a:ln w="6985">
            <a:solidFill>
              <a:srgbClr val="202024"/>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48640" y="6565392"/>
            <a:ext cx="7909560" cy="164592"/>
          </a:xfrm>
          <a:prstGeom prst="rect">
            <a:avLst/>
          </a:prstGeom>
          <a:noFill/>
        </p:spPr>
        <p:txBody>
          <a:bodyPr wrap="square" lIns="0" rIns="0" tIns="0" bIns="0" anchor="t">
            <a:spAutoFit/>
          </a:bodyPr>
          <a:lstStyle/>
          <a:p>
            <a:pPr algn="l">
              <a:lnSpc>
                <a:spcPct val="100000"/>
              </a:lnSpc>
              <a:defRPr sz="630" b="0">
                <a:solidFill>
                  <a:srgbClr val="71717A"/>
                </a:solidFill>
                <a:latin typeface="Inter"/>
              </a:defRPr>
            </a:pPr>
            <a:r>
              <a:t>Hypothetical application • proposed boundaries and architecture decisions</a:t>
            </a:r>
          </a:p>
        </p:txBody>
      </p:sp>
      <p:sp>
        <p:nvSpPr>
          <p:cNvPr id="16" name="TextBox 15"/>
          <p:cNvSpPr txBox="1"/>
          <p:nvPr/>
        </p:nvSpPr>
        <p:spPr>
          <a:xfrm>
            <a:off x="8732520" y="6565392"/>
            <a:ext cx="2926080" cy="164592"/>
          </a:xfrm>
          <a:prstGeom prst="rect">
            <a:avLst/>
          </a:prstGeom>
          <a:noFill/>
        </p:spPr>
        <p:txBody>
          <a:bodyPr wrap="square" lIns="0" rIns="0" tIns="0" bIns="0" anchor="t">
            <a:spAutoFit/>
          </a:bodyPr>
          <a:lstStyle/>
          <a:p>
            <a:pPr algn="r">
              <a:lnSpc>
                <a:spcPct val="100000"/>
              </a:lnSpc>
              <a:defRPr sz="610" b="0">
                <a:solidFill>
                  <a:srgbClr val="71717A"/>
                </a:solidFill>
                <a:latin typeface="Inter"/>
              </a:defRPr>
            </a:pPr>
            <a:r>
              <a:t>PROPOSED PRODUCT • HACKATHON PRESENTATION</a:t>
            </a:r>
          </a:p>
        </p:txBody>
      </p:sp>
      <p:sp>
        <p:nvSpPr>
          <p:cNvPr id="17" name="Rounded Rectangle 16"/>
          <p:cNvSpPr/>
          <p:nvPr/>
        </p:nvSpPr>
        <p:spPr>
          <a:xfrm>
            <a:off x="548640" y="1947672"/>
            <a:ext cx="2971800" cy="2487168"/>
          </a:xfrm>
          <a:prstGeom prst="roundRect">
            <a:avLst>
              <a:gd name="adj" fmla="val 8000"/>
            </a:avLst>
          </a:prstGeom>
          <a:solidFill>
            <a:srgbClr val="111114"/>
          </a:solidFill>
          <a:ln w="9525">
            <a:solidFill>
              <a:srgbClr val="2B2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a:off x="548640" y="2295144"/>
            <a:ext cx="2971800" cy="0"/>
          </a:xfrm>
          <a:prstGeom prst="line">
            <a:avLst/>
          </a:prstGeom>
          <a:ln w="7620">
            <a:solidFill>
              <a:srgbClr val="2B2B33"/>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704088" y="2084831"/>
            <a:ext cx="64008" cy="64008"/>
          </a:xfrm>
          <a:prstGeom prst="ellipse">
            <a:avLst/>
          </a:prstGeom>
          <a:solidFill>
            <a:srgbClr val="FB71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50392" y="2084831"/>
            <a:ext cx="64008" cy="64008"/>
          </a:xfrm>
          <a:prstGeom prst="ellipse">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96696" y="2084831"/>
            <a:ext cx="64008" cy="64008"/>
          </a:xfrm>
          <a:prstGeom prst="ellipse">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70432" y="2048255"/>
            <a:ext cx="1143000" cy="164592"/>
          </a:xfrm>
          <a:prstGeom prst="rect">
            <a:avLst/>
          </a:prstGeom>
          <a:noFill/>
        </p:spPr>
        <p:txBody>
          <a:bodyPr wrap="square" lIns="0" rIns="0" tIns="0" bIns="0" anchor="t">
            <a:spAutoFit/>
          </a:bodyPr>
          <a:lstStyle/>
          <a:p>
            <a:pPr algn="l">
              <a:lnSpc>
                <a:spcPct val="100000"/>
              </a:lnSpc>
              <a:defRPr sz="720" b="0">
                <a:solidFill>
                  <a:srgbClr val="71717A"/>
                </a:solidFill>
                <a:latin typeface="Liberation Mono"/>
              </a:defRPr>
            </a:pPr>
            <a:r>
              <a:t>legacy / modular-monolith</a:t>
            </a:r>
          </a:p>
        </p:txBody>
      </p:sp>
      <p:sp>
        <p:nvSpPr>
          <p:cNvPr id="23" name="Rounded Rectangle 22"/>
          <p:cNvSpPr/>
          <p:nvPr/>
        </p:nvSpPr>
        <p:spPr>
          <a:xfrm>
            <a:off x="2194560" y="2016252"/>
            <a:ext cx="1143000" cy="210312"/>
          </a:xfrm>
          <a:prstGeom prst="roundRect">
            <a:avLst>
              <a:gd name="adj" fmla="val 8000"/>
            </a:avLst>
          </a:prstGeom>
          <a:solidFill>
            <a:srgbClr val="211B35"/>
          </a:solidFill>
          <a:ln w="7620">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231136" y="2025395"/>
            <a:ext cx="1069848" cy="192024"/>
          </a:xfrm>
          <a:prstGeom prst="rect">
            <a:avLst/>
          </a:prstGeom>
          <a:noFill/>
        </p:spPr>
        <p:txBody>
          <a:bodyPr wrap="square" lIns="0" rIns="0" tIns="0" bIns="0" anchor="ctr">
            <a:spAutoFit/>
          </a:bodyPr>
          <a:lstStyle/>
          <a:p>
            <a:pPr algn="ctr">
              <a:lnSpc>
                <a:spcPct val="100000"/>
              </a:lnSpc>
              <a:defRPr sz="620" b="1">
                <a:solidFill>
                  <a:srgbClr val="A78BFA"/>
                </a:solidFill>
                <a:latin typeface="Inter"/>
              </a:defRPr>
            </a:pPr>
            <a:r>
              <a:t>INPUT</a:t>
            </a:r>
          </a:p>
        </p:txBody>
      </p:sp>
      <p:sp>
        <p:nvSpPr>
          <p:cNvPr id="25" name="Rounded Rectangle 24"/>
          <p:cNvSpPr/>
          <p:nvPr/>
        </p:nvSpPr>
        <p:spPr>
          <a:xfrm>
            <a:off x="804672" y="2542032"/>
            <a:ext cx="1755648" cy="283464"/>
          </a:xfrm>
          <a:prstGeom prst="roundRect">
            <a:avLst>
              <a:gd name="adj" fmla="val 8000"/>
            </a:avLst>
          </a:prstGeom>
          <a:solidFill>
            <a:srgbClr val="202024"/>
          </a:solidFill>
          <a:ln w="9525">
            <a:solidFill>
              <a:srgbClr val="3838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2596896"/>
            <a:ext cx="1554480" cy="164592"/>
          </a:xfrm>
          <a:prstGeom prst="rect">
            <a:avLst/>
          </a:prstGeom>
          <a:noFill/>
        </p:spPr>
        <p:txBody>
          <a:bodyPr wrap="square" lIns="0" rIns="0" tIns="0" bIns="0" anchor="t">
            <a:spAutoFit/>
          </a:bodyPr>
          <a:lstStyle/>
          <a:p>
            <a:pPr algn="l">
              <a:lnSpc>
                <a:spcPct val="100000"/>
              </a:lnSpc>
              <a:defRPr sz="730" b="0">
                <a:solidFill>
                  <a:srgbClr val="E4E4E7"/>
                </a:solidFill>
                <a:latin typeface="Inter"/>
              </a:defRPr>
            </a:pPr>
            <a:r>
              <a:t>Customer Management</a:t>
            </a:r>
          </a:p>
        </p:txBody>
      </p:sp>
      <p:cxnSp>
        <p:nvCxnSpPr>
          <p:cNvPr id="27" name="Connector 26"/>
          <p:cNvCxnSpPr/>
          <p:nvPr/>
        </p:nvCxnSpPr>
        <p:spPr>
          <a:xfrm>
            <a:off x="2560320" y="2679192"/>
            <a:ext cx="365760" cy="1298447"/>
          </a:xfrm>
          <a:prstGeom prst="line">
            <a:avLst/>
          </a:prstGeom>
          <a:ln w="7620">
            <a:solidFill>
              <a:srgbClr val="FBBF24"/>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804672" y="2926079"/>
            <a:ext cx="1755648" cy="283464"/>
          </a:xfrm>
          <a:prstGeom prst="roundRect">
            <a:avLst>
              <a:gd name="adj" fmla="val 8000"/>
            </a:avLst>
          </a:prstGeom>
          <a:solidFill>
            <a:srgbClr val="202024"/>
          </a:solidFill>
          <a:ln w="9525">
            <a:solidFill>
              <a:srgbClr val="3838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2980944"/>
            <a:ext cx="1554480" cy="164592"/>
          </a:xfrm>
          <a:prstGeom prst="rect">
            <a:avLst/>
          </a:prstGeom>
          <a:noFill/>
        </p:spPr>
        <p:txBody>
          <a:bodyPr wrap="square" lIns="0" rIns="0" tIns="0" bIns="0" anchor="t">
            <a:spAutoFit/>
          </a:bodyPr>
          <a:lstStyle/>
          <a:p>
            <a:pPr algn="l">
              <a:lnSpc>
                <a:spcPct val="100000"/>
              </a:lnSpc>
              <a:defRPr sz="730" b="0">
                <a:solidFill>
                  <a:srgbClr val="E4E4E7"/>
                </a:solidFill>
                <a:latin typeface="Inter"/>
              </a:defRPr>
            </a:pPr>
            <a:r>
              <a:t>Order Management</a:t>
            </a:r>
          </a:p>
        </p:txBody>
      </p:sp>
      <p:cxnSp>
        <p:nvCxnSpPr>
          <p:cNvPr id="30" name="Connector 29"/>
          <p:cNvCxnSpPr/>
          <p:nvPr/>
        </p:nvCxnSpPr>
        <p:spPr>
          <a:xfrm>
            <a:off x="2560320" y="3063240"/>
            <a:ext cx="365760" cy="914399"/>
          </a:xfrm>
          <a:prstGeom prst="line">
            <a:avLst/>
          </a:prstGeom>
          <a:ln w="7620">
            <a:solidFill>
              <a:srgbClr val="FBBF24"/>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804672" y="3310127"/>
            <a:ext cx="1755648" cy="283464"/>
          </a:xfrm>
          <a:prstGeom prst="roundRect">
            <a:avLst>
              <a:gd name="adj" fmla="val 8000"/>
            </a:avLst>
          </a:prstGeom>
          <a:solidFill>
            <a:srgbClr val="202024"/>
          </a:solidFill>
          <a:ln w="9525">
            <a:solidFill>
              <a:srgbClr val="3838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4400" y="3364991"/>
            <a:ext cx="1554480" cy="164592"/>
          </a:xfrm>
          <a:prstGeom prst="rect">
            <a:avLst/>
          </a:prstGeom>
          <a:noFill/>
        </p:spPr>
        <p:txBody>
          <a:bodyPr wrap="square" lIns="0" rIns="0" tIns="0" bIns="0" anchor="t">
            <a:spAutoFit/>
          </a:bodyPr>
          <a:lstStyle/>
          <a:p>
            <a:pPr algn="l">
              <a:lnSpc>
                <a:spcPct val="100000"/>
              </a:lnSpc>
              <a:defRPr sz="730" b="0">
                <a:solidFill>
                  <a:srgbClr val="E4E4E7"/>
                </a:solidFill>
                <a:latin typeface="Inter"/>
              </a:defRPr>
            </a:pPr>
            <a:r>
              <a:t>Inventory Management</a:t>
            </a:r>
          </a:p>
        </p:txBody>
      </p:sp>
      <p:cxnSp>
        <p:nvCxnSpPr>
          <p:cNvPr id="33" name="Connector 32"/>
          <p:cNvCxnSpPr/>
          <p:nvPr/>
        </p:nvCxnSpPr>
        <p:spPr>
          <a:xfrm>
            <a:off x="2560320" y="3447288"/>
            <a:ext cx="365760" cy="530351"/>
          </a:xfrm>
          <a:prstGeom prst="line">
            <a:avLst/>
          </a:prstGeom>
          <a:ln w="7620">
            <a:solidFill>
              <a:srgbClr val="FBBF24"/>
            </a:solidFill>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804672" y="3694176"/>
            <a:ext cx="1755648" cy="283464"/>
          </a:xfrm>
          <a:prstGeom prst="roundRect">
            <a:avLst>
              <a:gd name="adj" fmla="val 8000"/>
            </a:avLst>
          </a:prstGeom>
          <a:solidFill>
            <a:srgbClr val="202024"/>
          </a:solidFill>
          <a:ln w="9525">
            <a:solidFill>
              <a:srgbClr val="3838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4400" y="3749039"/>
            <a:ext cx="1554480" cy="164592"/>
          </a:xfrm>
          <a:prstGeom prst="rect">
            <a:avLst/>
          </a:prstGeom>
          <a:noFill/>
        </p:spPr>
        <p:txBody>
          <a:bodyPr wrap="square" lIns="0" rIns="0" tIns="0" bIns="0" anchor="t">
            <a:spAutoFit/>
          </a:bodyPr>
          <a:lstStyle/>
          <a:p>
            <a:pPr algn="l">
              <a:lnSpc>
                <a:spcPct val="100000"/>
              </a:lnSpc>
              <a:defRPr sz="730" b="0">
                <a:solidFill>
                  <a:srgbClr val="E4E4E7"/>
                </a:solidFill>
                <a:latin typeface="Inter"/>
              </a:defRPr>
            </a:pPr>
            <a:r>
              <a:t>Payment Processing</a:t>
            </a:r>
          </a:p>
        </p:txBody>
      </p:sp>
      <p:cxnSp>
        <p:nvCxnSpPr>
          <p:cNvPr id="36" name="Connector 35"/>
          <p:cNvCxnSpPr/>
          <p:nvPr/>
        </p:nvCxnSpPr>
        <p:spPr>
          <a:xfrm>
            <a:off x="2560320" y="3831336"/>
            <a:ext cx="365760" cy="146303"/>
          </a:xfrm>
          <a:prstGeom prst="line">
            <a:avLst/>
          </a:prstGeom>
          <a:ln w="7620">
            <a:solidFill>
              <a:srgbClr val="FBBF24"/>
            </a:solidFill>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2697480" y="3803904"/>
            <a:ext cx="530352" cy="448056"/>
          </a:xfrm>
          <a:prstGeom prst="roundRect">
            <a:avLst>
              <a:gd name="adj" fmla="val 8000"/>
            </a:avLst>
          </a:prstGeom>
          <a:solidFill>
            <a:srgbClr val="2B2210"/>
          </a:solidFill>
          <a:ln w="9525">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697480" y="3803904"/>
            <a:ext cx="530352" cy="448056"/>
          </a:xfrm>
          <a:prstGeom prst="rect">
            <a:avLst/>
          </a:prstGeom>
          <a:noFill/>
        </p:spPr>
        <p:txBody>
          <a:bodyPr wrap="square" lIns="0" rIns="0" tIns="0" bIns="0" anchor="ctr">
            <a:spAutoFit/>
          </a:bodyPr>
          <a:lstStyle/>
          <a:p>
            <a:pPr algn="ctr">
              <a:lnSpc>
                <a:spcPct val="100000"/>
              </a:lnSpc>
              <a:defRPr sz="750" b="1">
                <a:solidFill>
                  <a:srgbClr val="FBBF24"/>
                </a:solidFill>
                <a:latin typeface="Inter"/>
              </a:defRPr>
            </a:pPr>
            <a:r>
              <a:t>DB</a:t>
            </a:r>
          </a:p>
        </p:txBody>
      </p:sp>
      <p:cxnSp>
        <p:nvCxnSpPr>
          <p:cNvPr id="39" name="Connector 38"/>
          <p:cNvCxnSpPr/>
          <p:nvPr/>
        </p:nvCxnSpPr>
        <p:spPr>
          <a:xfrm>
            <a:off x="3639312" y="3182112"/>
            <a:ext cx="402336" cy="0"/>
          </a:xfrm>
          <a:prstGeom prst="line">
            <a:avLst/>
          </a:prstGeom>
          <a:ln w="15240">
            <a:solidFill>
              <a:srgbClr val="8B5CF6"/>
            </a:solidFill>
          </a:ln>
        </p:spPr>
        <p:style>
          <a:lnRef idx="2">
            <a:schemeClr val="accent1"/>
          </a:lnRef>
          <a:fillRef idx="0">
            <a:schemeClr val="accent1"/>
          </a:fillRef>
          <a:effectRef idx="1">
            <a:schemeClr val="accent1"/>
          </a:effectRef>
          <a:fontRef idx="minor">
            <a:schemeClr val="tx1"/>
          </a:fontRef>
        </p:style>
      </p:cxnSp>
      <p:sp>
        <p:nvSpPr>
          <p:cNvPr id="40" name="Chevron 39"/>
          <p:cNvSpPr/>
          <p:nvPr/>
        </p:nvSpPr>
        <p:spPr>
          <a:xfrm>
            <a:off x="3995928" y="3099816"/>
            <a:ext cx="164592" cy="164592"/>
          </a:xfrm>
          <a:prstGeom prst="chevron">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315968" y="1975104"/>
            <a:ext cx="3108960" cy="201168"/>
          </a:xfrm>
          <a:prstGeom prst="rect">
            <a:avLst/>
          </a:prstGeom>
          <a:noFill/>
        </p:spPr>
        <p:txBody>
          <a:bodyPr wrap="square" lIns="0" rIns="0" tIns="0" bIns="0" anchor="t">
            <a:spAutoFit/>
          </a:bodyPr>
          <a:lstStyle/>
          <a:p>
            <a:pPr algn="l">
              <a:lnSpc>
                <a:spcPct val="100000"/>
              </a:lnSpc>
              <a:defRPr sz="700" b="1">
                <a:solidFill>
                  <a:srgbClr val="A78BFA"/>
                </a:solidFill>
                <a:latin typeface="Inter"/>
              </a:defRPr>
            </a:pPr>
            <a:r>
              <a:t>PROPOSED BOUNDARIES • EDITABLE</a:t>
            </a:r>
          </a:p>
        </p:txBody>
      </p:sp>
      <p:sp>
        <p:nvSpPr>
          <p:cNvPr id="42" name="Rounded Rectangle 41"/>
          <p:cNvSpPr/>
          <p:nvPr/>
        </p:nvSpPr>
        <p:spPr>
          <a:xfrm>
            <a:off x="4315968" y="2313432"/>
            <a:ext cx="1618488" cy="1508760"/>
          </a:xfrm>
          <a:prstGeom prst="roundRect">
            <a:avLst>
              <a:gd name="adj" fmla="val 8000"/>
            </a:avLst>
          </a:prstGeom>
          <a:solidFill>
            <a:srgbClr val="18181B"/>
          </a:solidFill>
          <a:ln w="9525">
            <a:solidFill>
              <a:srgbClr val="2B2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4462272" y="2459736"/>
            <a:ext cx="310896" cy="310896"/>
          </a:xfrm>
          <a:prstGeom prst="roundRect">
            <a:avLst>
              <a:gd name="adj" fmla="val 8000"/>
            </a:avLst>
          </a:prstGeom>
          <a:solidFill>
            <a:srgbClr val="211B35"/>
          </a:solidFill>
          <a:ln w="7620">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462272" y="2459736"/>
            <a:ext cx="310896" cy="310896"/>
          </a:xfrm>
          <a:prstGeom prst="rect">
            <a:avLst/>
          </a:prstGeom>
          <a:noFill/>
        </p:spPr>
        <p:txBody>
          <a:bodyPr wrap="square" lIns="0" rIns="0" tIns="0" bIns="0" anchor="ctr">
            <a:spAutoFit/>
          </a:bodyPr>
          <a:lstStyle/>
          <a:p>
            <a:pPr algn="ctr">
              <a:lnSpc>
                <a:spcPct val="100000"/>
              </a:lnSpc>
              <a:defRPr sz="700" b="1">
                <a:solidFill>
                  <a:srgbClr val="A78BFA"/>
                </a:solidFill>
                <a:latin typeface="Inter"/>
              </a:defRPr>
            </a:pPr>
            <a:r>
              <a:t>C</a:t>
            </a:r>
          </a:p>
        </p:txBody>
      </p:sp>
      <p:sp>
        <p:nvSpPr>
          <p:cNvPr id="45" name="TextBox 44"/>
          <p:cNvSpPr txBox="1"/>
          <p:nvPr/>
        </p:nvSpPr>
        <p:spPr>
          <a:xfrm>
            <a:off x="4462272" y="2880360"/>
            <a:ext cx="1325880" cy="274320"/>
          </a:xfrm>
          <a:prstGeom prst="rect">
            <a:avLst/>
          </a:prstGeom>
          <a:noFill/>
        </p:spPr>
        <p:txBody>
          <a:bodyPr wrap="square" lIns="0" rIns="0" tIns="0" bIns="0" anchor="t">
            <a:spAutoFit/>
          </a:bodyPr>
          <a:lstStyle/>
          <a:p>
            <a:pPr algn="l">
              <a:lnSpc>
                <a:spcPct val="100000"/>
              </a:lnSpc>
              <a:defRPr sz="1050" b="1">
                <a:solidFill>
                  <a:srgbClr val="E4E4E7"/>
                </a:solidFill>
                <a:latin typeface="Inter"/>
              </a:defRPr>
            </a:pPr>
            <a:r>
              <a:t>Customer Service</a:t>
            </a:r>
          </a:p>
        </p:txBody>
      </p:sp>
      <p:sp>
        <p:nvSpPr>
          <p:cNvPr id="46" name="TextBox 45"/>
          <p:cNvSpPr txBox="1"/>
          <p:nvPr/>
        </p:nvSpPr>
        <p:spPr>
          <a:xfrm>
            <a:off x="4462272" y="3191256"/>
            <a:ext cx="1325880" cy="548639"/>
          </a:xfrm>
          <a:prstGeom prst="rect">
            <a:avLst/>
          </a:prstGeom>
          <a:noFill/>
        </p:spPr>
        <p:txBody>
          <a:bodyPr wrap="square" lIns="0" rIns="0" tIns="0" bIns="0" anchor="t">
            <a:spAutoFit/>
          </a:bodyPr>
          <a:lstStyle/>
          <a:p>
            <a:pPr algn="l">
              <a:lnSpc>
                <a:spcPct val="100000"/>
              </a:lnSpc>
              <a:defRPr sz="819" b="0">
                <a:solidFill>
                  <a:srgbClr val="A1A1AA"/>
                </a:solidFill>
                <a:latin typeface="Inter"/>
              </a:defRPr>
            </a:pPr>
            <a:r>
              <a:t>Owns customer data</a:t>
            </a:r>
          </a:p>
        </p:txBody>
      </p:sp>
      <p:sp>
        <p:nvSpPr>
          <p:cNvPr id="47" name="Rounded Rectangle 46"/>
          <p:cNvSpPr/>
          <p:nvPr/>
        </p:nvSpPr>
        <p:spPr>
          <a:xfrm>
            <a:off x="4462272" y="3419856"/>
            <a:ext cx="1051560" cy="219456"/>
          </a:xfrm>
          <a:prstGeom prst="roundRect">
            <a:avLst>
              <a:gd name="adj" fmla="val 8000"/>
            </a:avLst>
          </a:prstGeom>
          <a:solidFill>
            <a:srgbClr val="202024"/>
          </a:solidFill>
          <a:ln w="7620">
            <a:solidFill>
              <a:srgbClr val="3838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498848" y="3429000"/>
            <a:ext cx="978407" cy="201168"/>
          </a:xfrm>
          <a:prstGeom prst="rect">
            <a:avLst/>
          </a:prstGeom>
          <a:noFill/>
        </p:spPr>
        <p:txBody>
          <a:bodyPr wrap="square" lIns="0" rIns="0" tIns="0" bIns="0" anchor="ctr">
            <a:spAutoFit/>
          </a:bodyPr>
          <a:lstStyle/>
          <a:p>
            <a:pPr algn="ctr">
              <a:lnSpc>
                <a:spcPct val="100000"/>
              </a:lnSpc>
              <a:defRPr sz="600" b="1">
                <a:solidFill>
                  <a:srgbClr val="A1A1AA"/>
                </a:solidFill>
                <a:latin typeface="Inter"/>
              </a:defRPr>
            </a:pPr>
            <a:r>
              <a:t>API + DATA</a:t>
            </a:r>
          </a:p>
        </p:txBody>
      </p:sp>
      <p:sp>
        <p:nvSpPr>
          <p:cNvPr id="49" name="Rounded Rectangle 48"/>
          <p:cNvSpPr/>
          <p:nvPr/>
        </p:nvSpPr>
        <p:spPr>
          <a:xfrm>
            <a:off x="6144768" y="2313432"/>
            <a:ext cx="1618488" cy="1508760"/>
          </a:xfrm>
          <a:prstGeom prst="roundRect">
            <a:avLst>
              <a:gd name="adj" fmla="val 8000"/>
            </a:avLst>
          </a:prstGeom>
          <a:solidFill>
            <a:srgbClr val="18181B"/>
          </a:solidFill>
          <a:ln w="9525">
            <a:solidFill>
              <a:srgbClr val="2B2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6291072" y="2459736"/>
            <a:ext cx="310896" cy="310896"/>
          </a:xfrm>
          <a:prstGeom prst="roundRect">
            <a:avLst>
              <a:gd name="adj" fmla="val 8000"/>
            </a:avLst>
          </a:prstGeom>
          <a:solidFill>
            <a:srgbClr val="211B35"/>
          </a:solidFill>
          <a:ln w="7620">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291072" y="2459736"/>
            <a:ext cx="310896" cy="310896"/>
          </a:xfrm>
          <a:prstGeom prst="rect">
            <a:avLst/>
          </a:prstGeom>
          <a:noFill/>
        </p:spPr>
        <p:txBody>
          <a:bodyPr wrap="square" lIns="0" rIns="0" tIns="0" bIns="0" anchor="ctr">
            <a:spAutoFit/>
          </a:bodyPr>
          <a:lstStyle/>
          <a:p>
            <a:pPr algn="ctr">
              <a:lnSpc>
                <a:spcPct val="100000"/>
              </a:lnSpc>
              <a:defRPr sz="700" b="1">
                <a:solidFill>
                  <a:srgbClr val="A78BFA"/>
                </a:solidFill>
                <a:latin typeface="Inter"/>
              </a:defRPr>
            </a:pPr>
            <a:r>
              <a:t>O</a:t>
            </a:r>
          </a:p>
        </p:txBody>
      </p:sp>
      <p:sp>
        <p:nvSpPr>
          <p:cNvPr id="52" name="TextBox 51"/>
          <p:cNvSpPr txBox="1"/>
          <p:nvPr/>
        </p:nvSpPr>
        <p:spPr>
          <a:xfrm>
            <a:off x="6291072" y="2880360"/>
            <a:ext cx="1325880" cy="274320"/>
          </a:xfrm>
          <a:prstGeom prst="rect">
            <a:avLst/>
          </a:prstGeom>
          <a:noFill/>
        </p:spPr>
        <p:txBody>
          <a:bodyPr wrap="square" lIns="0" rIns="0" tIns="0" bIns="0" anchor="t">
            <a:spAutoFit/>
          </a:bodyPr>
          <a:lstStyle/>
          <a:p>
            <a:pPr algn="l">
              <a:lnSpc>
                <a:spcPct val="100000"/>
              </a:lnSpc>
              <a:defRPr sz="1050" b="1">
                <a:solidFill>
                  <a:srgbClr val="E4E4E7"/>
                </a:solidFill>
                <a:latin typeface="Inter"/>
              </a:defRPr>
            </a:pPr>
            <a:r>
              <a:t>Order Service</a:t>
            </a:r>
          </a:p>
        </p:txBody>
      </p:sp>
      <p:sp>
        <p:nvSpPr>
          <p:cNvPr id="53" name="TextBox 52"/>
          <p:cNvSpPr txBox="1"/>
          <p:nvPr/>
        </p:nvSpPr>
        <p:spPr>
          <a:xfrm>
            <a:off x="6291072" y="3191256"/>
            <a:ext cx="1325880" cy="548639"/>
          </a:xfrm>
          <a:prstGeom prst="rect">
            <a:avLst/>
          </a:prstGeom>
          <a:noFill/>
        </p:spPr>
        <p:txBody>
          <a:bodyPr wrap="square" lIns="0" rIns="0" tIns="0" bIns="0" anchor="t">
            <a:spAutoFit/>
          </a:bodyPr>
          <a:lstStyle/>
          <a:p>
            <a:pPr algn="l">
              <a:lnSpc>
                <a:spcPct val="100000"/>
              </a:lnSpc>
              <a:defRPr sz="819" b="0">
                <a:solidFill>
                  <a:srgbClr val="A1A1AA"/>
                </a:solidFill>
                <a:latin typeface="Inter"/>
              </a:defRPr>
            </a:pPr>
            <a:r>
              <a:t>Owns order workflow</a:t>
            </a:r>
          </a:p>
        </p:txBody>
      </p:sp>
      <p:sp>
        <p:nvSpPr>
          <p:cNvPr id="54" name="Rounded Rectangle 53"/>
          <p:cNvSpPr/>
          <p:nvPr/>
        </p:nvSpPr>
        <p:spPr>
          <a:xfrm>
            <a:off x="6291072" y="3419856"/>
            <a:ext cx="1051560" cy="219456"/>
          </a:xfrm>
          <a:prstGeom prst="roundRect">
            <a:avLst>
              <a:gd name="adj" fmla="val 8000"/>
            </a:avLst>
          </a:prstGeom>
          <a:solidFill>
            <a:srgbClr val="202024"/>
          </a:solidFill>
          <a:ln w="7620">
            <a:solidFill>
              <a:srgbClr val="3838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327648" y="3429000"/>
            <a:ext cx="978407" cy="201168"/>
          </a:xfrm>
          <a:prstGeom prst="rect">
            <a:avLst/>
          </a:prstGeom>
          <a:noFill/>
        </p:spPr>
        <p:txBody>
          <a:bodyPr wrap="square" lIns="0" rIns="0" tIns="0" bIns="0" anchor="ctr">
            <a:spAutoFit/>
          </a:bodyPr>
          <a:lstStyle/>
          <a:p>
            <a:pPr algn="ctr">
              <a:lnSpc>
                <a:spcPct val="100000"/>
              </a:lnSpc>
              <a:defRPr sz="600" b="1">
                <a:solidFill>
                  <a:srgbClr val="A1A1AA"/>
                </a:solidFill>
                <a:latin typeface="Inter"/>
              </a:defRPr>
            </a:pPr>
            <a:r>
              <a:t>API + DATA</a:t>
            </a:r>
          </a:p>
        </p:txBody>
      </p:sp>
      <p:sp>
        <p:nvSpPr>
          <p:cNvPr id="56" name="Rounded Rectangle 55"/>
          <p:cNvSpPr/>
          <p:nvPr/>
        </p:nvSpPr>
        <p:spPr>
          <a:xfrm>
            <a:off x="7973567" y="2313432"/>
            <a:ext cx="1618488" cy="1508760"/>
          </a:xfrm>
          <a:prstGeom prst="roundRect">
            <a:avLst>
              <a:gd name="adj" fmla="val 8000"/>
            </a:avLst>
          </a:prstGeom>
          <a:solidFill>
            <a:srgbClr val="18181B"/>
          </a:solidFill>
          <a:ln w="9525">
            <a:solidFill>
              <a:srgbClr val="2B2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ed Rectangle 56"/>
          <p:cNvSpPr/>
          <p:nvPr/>
        </p:nvSpPr>
        <p:spPr>
          <a:xfrm>
            <a:off x="8119871" y="2459736"/>
            <a:ext cx="310896" cy="310896"/>
          </a:xfrm>
          <a:prstGeom prst="roundRect">
            <a:avLst>
              <a:gd name="adj" fmla="val 8000"/>
            </a:avLst>
          </a:prstGeom>
          <a:solidFill>
            <a:srgbClr val="211B35"/>
          </a:solidFill>
          <a:ln w="7620">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119871" y="2459736"/>
            <a:ext cx="310896" cy="310896"/>
          </a:xfrm>
          <a:prstGeom prst="rect">
            <a:avLst/>
          </a:prstGeom>
          <a:noFill/>
        </p:spPr>
        <p:txBody>
          <a:bodyPr wrap="square" lIns="0" rIns="0" tIns="0" bIns="0" anchor="ctr">
            <a:spAutoFit/>
          </a:bodyPr>
          <a:lstStyle/>
          <a:p>
            <a:pPr algn="ctr">
              <a:lnSpc>
                <a:spcPct val="100000"/>
              </a:lnSpc>
              <a:defRPr sz="700" b="1">
                <a:solidFill>
                  <a:srgbClr val="A78BFA"/>
                </a:solidFill>
                <a:latin typeface="Inter"/>
              </a:defRPr>
            </a:pPr>
            <a:r>
              <a:t>I</a:t>
            </a:r>
          </a:p>
        </p:txBody>
      </p:sp>
      <p:sp>
        <p:nvSpPr>
          <p:cNvPr id="59" name="TextBox 58"/>
          <p:cNvSpPr txBox="1"/>
          <p:nvPr/>
        </p:nvSpPr>
        <p:spPr>
          <a:xfrm>
            <a:off x="8119871" y="2880360"/>
            <a:ext cx="1325880" cy="274320"/>
          </a:xfrm>
          <a:prstGeom prst="rect">
            <a:avLst/>
          </a:prstGeom>
          <a:noFill/>
        </p:spPr>
        <p:txBody>
          <a:bodyPr wrap="square" lIns="0" rIns="0" tIns="0" bIns="0" anchor="t">
            <a:spAutoFit/>
          </a:bodyPr>
          <a:lstStyle/>
          <a:p>
            <a:pPr algn="l">
              <a:lnSpc>
                <a:spcPct val="100000"/>
              </a:lnSpc>
              <a:defRPr sz="1050" b="1">
                <a:solidFill>
                  <a:srgbClr val="E4E4E7"/>
                </a:solidFill>
                <a:latin typeface="Inter"/>
              </a:defRPr>
            </a:pPr>
            <a:r>
              <a:t>Inventory Service</a:t>
            </a:r>
          </a:p>
        </p:txBody>
      </p:sp>
      <p:sp>
        <p:nvSpPr>
          <p:cNvPr id="60" name="TextBox 59"/>
          <p:cNvSpPr txBox="1"/>
          <p:nvPr/>
        </p:nvSpPr>
        <p:spPr>
          <a:xfrm>
            <a:off x="8119871" y="3191256"/>
            <a:ext cx="1325880" cy="548639"/>
          </a:xfrm>
          <a:prstGeom prst="rect">
            <a:avLst/>
          </a:prstGeom>
          <a:noFill/>
        </p:spPr>
        <p:txBody>
          <a:bodyPr wrap="square" lIns="0" rIns="0" tIns="0" bIns="0" anchor="t">
            <a:spAutoFit/>
          </a:bodyPr>
          <a:lstStyle/>
          <a:p>
            <a:pPr algn="l">
              <a:lnSpc>
                <a:spcPct val="100000"/>
              </a:lnSpc>
              <a:defRPr sz="819" b="0">
                <a:solidFill>
                  <a:srgbClr val="A1A1AA"/>
                </a:solidFill>
                <a:latin typeface="Inter"/>
              </a:defRPr>
            </a:pPr>
            <a:r>
              <a:t>Owns stock state</a:t>
            </a:r>
          </a:p>
        </p:txBody>
      </p:sp>
      <p:sp>
        <p:nvSpPr>
          <p:cNvPr id="61" name="Rounded Rectangle 60"/>
          <p:cNvSpPr/>
          <p:nvPr/>
        </p:nvSpPr>
        <p:spPr>
          <a:xfrm>
            <a:off x="8119871" y="3419856"/>
            <a:ext cx="1051560" cy="219456"/>
          </a:xfrm>
          <a:prstGeom prst="roundRect">
            <a:avLst>
              <a:gd name="adj" fmla="val 8000"/>
            </a:avLst>
          </a:prstGeom>
          <a:solidFill>
            <a:srgbClr val="202024"/>
          </a:solidFill>
          <a:ln w="7620">
            <a:solidFill>
              <a:srgbClr val="3838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156447" y="3429000"/>
            <a:ext cx="978407" cy="201168"/>
          </a:xfrm>
          <a:prstGeom prst="rect">
            <a:avLst/>
          </a:prstGeom>
          <a:noFill/>
        </p:spPr>
        <p:txBody>
          <a:bodyPr wrap="square" lIns="0" rIns="0" tIns="0" bIns="0" anchor="ctr">
            <a:spAutoFit/>
          </a:bodyPr>
          <a:lstStyle/>
          <a:p>
            <a:pPr algn="ctr">
              <a:lnSpc>
                <a:spcPct val="100000"/>
              </a:lnSpc>
              <a:defRPr sz="600" b="1">
                <a:solidFill>
                  <a:srgbClr val="A1A1AA"/>
                </a:solidFill>
                <a:latin typeface="Inter"/>
              </a:defRPr>
            </a:pPr>
            <a:r>
              <a:t>API + DATA</a:t>
            </a:r>
          </a:p>
        </p:txBody>
      </p:sp>
      <p:sp>
        <p:nvSpPr>
          <p:cNvPr id="63" name="Rounded Rectangle 62"/>
          <p:cNvSpPr/>
          <p:nvPr/>
        </p:nvSpPr>
        <p:spPr>
          <a:xfrm>
            <a:off x="9802367" y="2313432"/>
            <a:ext cx="1618488" cy="1508760"/>
          </a:xfrm>
          <a:prstGeom prst="roundRect">
            <a:avLst>
              <a:gd name="adj" fmla="val 8000"/>
            </a:avLst>
          </a:prstGeom>
          <a:solidFill>
            <a:srgbClr val="18181B"/>
          </a:solidFill>
          <a:ln w="9525">
            <a:solidFill>
              <a:srgbClr val="2B2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9948672" y="2459736"/>
            <a:ext cx="310896" cy="310896"/>
          </a:xfrm>
          <a:prstGeom prst="roundRect">
            <a:avLst>
              <a:gd name="adj" fmla="val 8000"/>
            </a:avLst>
          </a:prstGeom>
          <a:solidFill>
            <a:srgbClr val="211B35"/>
          </a:solidFill>
          <a:ln w="7620">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948672" y="2459736"/>
            <a:ext cx="310896" cy="310896"/>
          </a:xfrm>
          <a:prstGeom prst="rect">
            <a:avLst/>
          </a:prstGeom>
          <a:noFill/>
        </p:spPr>
        <p:txBody>
          <a:bodyPr wrap="square" lIns="0" rIns="0" tIns="0" bIns="0" anchor="ctr">
            <a:spAutoFit/>
          </a:bodyPr>
          <a:lstStyle/>
          <a:p>
            <a:pPr algn="ctr">
              <a:lnSpc>
                <a:spcPct val="100000"/>
              </a:lnSpc>
              <a:defRPr sz="700" b="1">
                <a:solidFill>
                  <a:srgbClr val="A78BFA"/>
                </a:solidFill>
                <a:latin typeface="Inter"/>
              </a:defRPr>
            </a:pPr>
            <a:r>
              <a:t>P</a:t>
            </a:r>
          </a:p>
        </p:txBody>
      </p:sp>
      <p:sp>
        <p:nvSpPr>
          <p:cNvPr id="66" name="TextBox 65"/>
          <p:cNvSpPr txBox="1"/>
          <p:nvPr/>
        </p:nvSpPr>
        <p:spPr>
          <a:xfrm>
            <a:off x="9948672" y="2880360"/>
            <a:ext cx="1325880" cy="274320"/>
          </a:xfrm>
          <a:prstGeom prst="rect">
            <a:avLst/>
          </a:prstGeom>
          <a:noFill/>
        </p:spPr>
        <p:txBody>
          <a:bodyPr wrap="square" lIns="0" rIns="0" tIns="0" bIns="0" anchor="t">
            <a:spAutoFit/>
          </a:bodyPr>
          <a:lstStyle/>
          <a:p>
            <a:pPr algn="l">
              <a:lnSpc>
                <a:spcPct val="100000"/>
              </a:lnSpc>
              <a:defRPr sz="1050" b="1">
                <a:solidFill>
                  <a:srgbClr val="E4E4E7"/>
                </a:solidFill>
                <a:latin typeface="Inter"/>
              </a:defRPr>
            </a:pPr>
            <a:r>
              <a:t>Payment Service</a:t>
            </a:r>
          </a:p>
        </p:txBody>
      </p:sp>
      <p:sp>
        <p:nvSpPr>
          <p:cNvPr id="67" name="TextBox 66"/>
          <p:cNvSpPr txBox="1"/>
          <p:nvPr/>
        </p:nvSpPr>
        <p:spPr>
          <a:xfrm>
            <a:off x="9948672" y="3191256"/>
            <a:ext cx="1325880" cy="548639"/>
          </a:xfrm>
          <a:prstGeom prst="rect">
            <a:avLst/>
          </a:prstGeom>
          <a:noFill/>
        </p:spPr>
        <p:txBody>
          <a:bodyPr wrap="square" lIns="0" rIns="0" tIns="0" bIns="0" anchor="t">
            <a:spAutoFit/>
          </a:bodyPr>
          <a:lstStyle/>
          <a:p>
            <a:pPr algn="l">
              <a:lnSpc>
                <a:spcPct val="100000"/>
              </a:lnSpc>
              <a:defRPr sz="819" b="0">
                <a:solidFill>
                  <a:srgbClr val="A1A1AA"/>
                </a:solidFill>
                <a:latin typeface="Inter"/>
              </a:defRPr>
            </a:pPr>
            <a:r>
              <a:t>Owns payment records</a:t>
            </a:r>
          </a:p>
        </p:txBody>
      </p:sp>
      <p:sp>
        <p:nvSpPr>
          <p:cNvPr id="68" name="Rounded Rectangle 67"/>
          <p:cNvSpPr/>
          <p:nvPr/>
        </p:nvSpPr>
        <p:spPr>
          <a:xfrm>
            <a:off x="9948672" y="3419856"/>
            <a:ext cx="1051560" cy="219456"/>
          </a:xfrm>
          <a:prstGeom prst="roundRect">
            <a:avLst>
              <a:gd name="adj" fmla="val 8000"/>
            </a:avLst>
          </a:prstGeom>
          <a:solidFill>
            <a:srgbClr val="202024"/>
          </a:solidFill>
          <a:ln w="7620">
            <a:solidFill>
              <a:srgbClr val="3838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9985247" y="3429000"/>
            <a:ext cx="978407" cy="201168"/>
          </a:xfrm>
          <a:prstGeom prst="rect">
            <a:avLst/>
          </a:prstGeom>
          <a:noFill/>
        </p:spPr>
        <p:txBody>
          <a:bodyPr wrap="square" lIns="0" rIns="0" tIns="0" bIns="0" anchor="ctr">
            <a:spAutoFit/>
          </a:bodyPr>
          <a:lstStyle/>
          <a:p>
            <a:pPr algn="ctr">
              <a:lnSpc>
                <a:spcPct val="100000"/>
              </a:lnSpc>
              <a:defRPr sz="600" b="1">
                <a:solidFill>
                  <a:srgbClr val="A1A1AA"/>
                </a:solidFill>
                <a:latin typeface="Inter"/>
              </a:defRPr>
            </a:pPr>
            <a:r>
              <a:t>API + DATA</a:t>
            </a:r>
          </a:p>
        </p:txBody>
      </p:sp>
      <p:sp>
        <p:nvSpPr>
          <p:cNvPr id="70" name="TextBox 69"/>
          <p:cNvSpPr txBox="1"/>
          <p:nvPr/>
        </p:nvSpPr>
        <p:spPr>
          <a:xfrm>
            <a:off x="4343400" y="4069080"/>
            <a:ext cx="6995160" cy="228600"/>
          </a:xfrm>
          <a:prstGeom prst="rect">
            <a:avLst/>
          </a:prstGeom>
          <a:noFill/>
        </p:spPr>
        <p:txBody>
          <a:bodyPr wrap="square" lIns="0" rIns="0" tIns="0" bIns="0" anchor="t">
            <a:spAutoFit/>
          </a:bodyPr>
          <a:lstStyle/>
          <a:p>
            <a:pPr algn="l">
              <a:lnSpc>
                <a:spcPct val="100000"/>
              </a:lnSpc>
              <a:defRPr sz="850" b="0">
                <a:solidFill>
                  <a:srgbClr val="A1A1AA"/>
                </a:solidFill>
                <a:latin typeface="Inter"/>
              </a:defRPr>
            </a:pPr>
            <a:r>
              <a:t>Dependency-aware sequence: extract the lowest-risk boundary first, preserve rollback, and review every phase.</a:t>
            </a:r>
          </a:p>
        </p:txBody>
      </p:sp>
      <p:sp>
        <p:nvSpPr>
          <p:cNvPr id="71" name="Rounded Rectangle 70"/>
          <p:cNvSpPr/>
          <p:nvPr/>
        </p:nvSpPr>
        <p:spPr>
          <a:xfrm>
            <a:off x="548640" y="4645152"/>
            <a:ext cx="6903720" cy="1133856"/>
          </a:xfrm>
          <a:prstGeom prst="roundRect">
            <a:avLst>
              <a:gd name="adj" fmla="val 8000"/>
            </a:avLst>
          </a:prstGeom>
          <a:solidFill>
            <a:srgbClr val="111114"/>
          </a:solidFill>
          <a:ln w="9525">
            <a:solidFill>
              <a:srgbClr val="2B2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777240" y="4828032"/>
            <a:ext cx="2194560" cy="201168"/>
          </a:xfrm>
          <a:prstGeom prst="rect">
            <a:avLst/>
          </a:prstGeom>
          <a:noFill/>
        </p:spPr>
        <p:txBody>
          <a:bodyPr wrap="square" lIns="0" rIns="0" tIns="0" bIns="0" anchor="t">
            <a:spAutoFit/>
          </a:bodyPr>
          <a:lstStyle/>
          <a:p>
            <a:pPr algn="l">
              <a:lnSpc>
                <a:spcPct val="100000"/>
              </a:lnSpc>
              <a:defRPr sz="700" b="1">
                <a:solidFill>
                  <a:srgbClr val="A78BFA"/>
                </a:solidFill>
                <a:latin typeface="Inter"/>
              </a:defRPr>
            </a:pPr>
            <a:r>
              <a:t>MIGRATION CAPABILITIES</a:t>
            </a:r>
          </a:p>
        </p:txBody>
      </p:sp>
      <p:sp>
        <p:nvSpPr>
          <p:cNvPr id="73" name="Oval 72"/>
          <p:cNvSpPr/>
          <p:nvPr/>
        </p:nvSpPr>
        <p:spPr>
          <a:xfrm>
            <a:off x="777240" y="5202936"/>
            <a:ext cx="54864" cy="54864"/>
          </a:xfrm>
          <a:prstGeom prst="ellipse">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914400" y="5166360"/>
            <a:ext cx="1874519" cy="182880"/>
          </a:xfrm>
          <a:prstGeom prst="rect">
            <a:avLst/>
          </a:prstGeom>
          <a:noFill/>
        </p:spPr>
        <p:txBody>
          <a:bodyPr wrap="square" lIns="0" rIns="0" tIns="0" bIns="0" anchor="t">
            <a:spAutoFit/>
          </a:bodyPr>
          <a:lstStyle/>
          <a:p>
            <a:pPr algn="l">
              <a:lnSpc>
                <a:spcPct val="100000"/>
              </a:lnSpc>
              <a:defRPr sz="780" b="0">
                <a:solidFill>
                  <a:srgbClr val="A1A1AA"/>
                </a:solidFill>
                <a:latin typeface="Inter"/>
              </a:defRPr>
            </a:pPr>
            <a:r>
              <a:t>Boundary evidence</a:t>
            </a:r>
          </a:p>
        </p:txBody>
      </p:sp>
      <p:sp>
        <p:nvSpPr>
          <p:cNvPr id="75" name="Oval 74"/>
          <p:cNvSpPr/>
          <p:nvPr/>
        </p:nvSpPr>
        <p:spPr>
          <a:xfrm>
            <a:off x="2926080" y="5202936"/>
            <a:ext cx="54864" cy="54864"/>
          </a:xfrm>
          <a:prstGeom prst="ellipse">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3063240" y="5166360"/>
            <a:ext cx="1874519" cy="182880"/>
          </a:xfrm>
          <a:prstGeom prst="rect">
            <a:avLst/>
          </a:prstGeom>
          <a:noFill/>
        </p:spPr>
        <p:txBody>
          <a:bodyPr wrap="square" lIns="0" rIns="0" tIns="0" bIns="0" anchor="t">
            <a:spAutoFit/>
          </a:bodyPr>
          <a:lstStyle/>
          <a:p>
            <a:pPr algn="l">
              <a:lnSpc>
                <a:spcPct val="100000"/>
              </a:lnSpc>
              <a:defRPr sz="780" b="0">
                <a:solidFill>
                  <a:srgbClr val="A1A1AA"/>
                </a:solidFill>
                <a:latin typeface="Inter"/>
              </a:defRPr>
            </a:pPr>
            <a:r>
              <a:t>API + event contracts</a:t>
            </a:r>
          </a:p>
        </p:txBody>
      </p:sp>
      <p:sp>
        <p:nvSpPr>
          <p:cNvPr id="77" name="Oval 76"/>
          <p:cNvSpPr/>
          <p:nvPr/>
        </p:nvSpPr>
        <p:spPr>
          <a:xfrm>
            <a:off x="5074920" y="5202936"/>
            <a:ext cx="54864" cy="54864"/>
          </a:xfrm>
          <a:prstGeom prst="ellipse">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5212080" y="5166360"/>
            <a:ext cx="1874519" cy="182880"/>
          </a:xfrm>
          <a:prstGeom prst="rect">
            <a:avLst/>
          </a:prstGeom>
          <a:noFill/>
        </p:spPr>
        <p:txBody>
          <a:bodyPr wrap="square" lIns="0" rIns="0" tIns="0" bIns="0" anchor="t">
            <a:spAutoFit/>
          </a:bodyPr>
          <a:lstStyle/>
          <a:p>
            <a:pPr algn="l">
              <a:lnSpc>
                <a:spcPct val="100000"/>
              </a:lnSpc>
              <a:defRPr sz="780" b="0">
                <a:solidFill>
                  <a:srgbClr val="A1A1AA"/>
                </a:solidFill>
                <a:latin typeface="Inter"/>
              </a:defRPr>
            </a:pPr>
            <a:r>
              <a:t>Data ownership</a:t>
            </a:r>
          </a:p>
        </p:txBody>
      </p:sp>
      <p:sp>
        <p:nvSpPr>
          <p:cNvPr id="79" name="Oval 78"/>
          <p:cNvSpPr/>
          <p:nvPr/>
        </p:nvSpPr>
        <p:spPr>
          <a:xfrm>
            <a:off x="777240" y="5495544"/>
            <a:ext cx="54864" cy="54864"/>
          </a:xfrm>
          <a:prstGeom prst="ellipse">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914400" y="5458968"/>
            <a:ext cx="1874519" cy="182880"/>
          </a:xfrm>
          <a:prstGeom prst="rect">
            <a:avLst/>
          </a:prstGeom>
          <a:noFill/>
        </p:spPr>
        <p:txBody>
          <a:bodyPr wrap="square" lIns="0" rIns="0" tIns="0" bIns="0" anchor="t">
            <a:spAutoFit/>
          </a:bodyPr>
          <a:lstStyle/>
          <a:p>
            <a:pPr algn="l">
              <a:lnSpc>
                <a:spcPct val="100000"/>
              </a:lnSpc>
              <a:defRPr sz="780" b="0">
                <a:solidFill>
                  <a:srgbClr val="A1A1AA"/>
                </a:solidFill>
                <a:latin typeface="Inter"/>
              </a:defRPr>
            </a:pPr>
            <a:r>
              <a:t>Incremental phases</a:t>
            </a:r>
          </a:p>
        </p:txBody>
      </p:sp>
      <p:sp>
        <p:nvSpPr>
          <p:cNvPr id="81" name="Oval 80"/>
          <p:cNvSpPr/>
          <p:nvPr/>
        </p:nvSpPr>
        <p:spPr>
          <a:xfrm>
            <a:off x="2926080" y="5495544"/>
            <a:ext cx="54864" cy="54864"/>
          </a:xfrm>
          <a:prstGeom prst="ellipse">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3063240" y="5458968"/>
            <a:ext cx="1874519" cy="182880"/>
          </a:xfrm>
          <a:prstGeom prst="rect">
            <a:avLst/>
          </a:prstGeom>
          <a:noFill/>
        </p:spPr>
        <p:txBody>
          <a:bodyPr wrap="square" lIns="0" rIns="0" tIns="0" bIns="0" anchor="t">
            <a:spAutoFit/>
          </a:bodyPr>
          <a:lstStyle/>
          <a:p>
            <a:pPr algn="l">
              <a:lnSpc>
                <a:spcPct val="100000"/>
              </a:lnSpc>
              <a:defRPr sz="780" b="0">
                <a:solidFill>
                  <a:srgbClr val="A1A1AA"/>
                </a:solidFill>
                <a:latin typeface="Inter"/>
              </a:defRPr>
            </a:pPr>
            <a:r>
              <a:t>Starter code + tests</a:t>
            </a:r>
          </a:p>
        </p:txBody>
      </p:sp>
      <p:sp>
        <p:nvSpPr>
          <p:cNvPr id="83" name="Oval 82"/>
          <p:cNvSpPr/>
          <p:nvPr/>
        </p:nvSpPr>
        <p:spPr>
          <a:xfrm>
            <a:off x="5074920" y="5495544"/>
            <a:ext cx="54864" cy="54864"/>
          </a:xfrm>
          <a:prstGeom prst="ellipse">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5212080" y="5458968"/>
            <a:ext cx="1874519" cy="182880"/>
          </a:xfrm>
          <a:prstGeom prst="rect">
            <a:avLst/>
          </a:prstGeom>
          <a:noFill/>
        </p:spPr>
        <p:txBody>
          <a:bodyPr wrap="square" lIns="0" rIns="0" tIns="0" bIns="0" anchor="t">
            <a:spAutoFit/>
          </a:bodyPr>
          <a:lstStyle/>
          <a:p>
            <a:pPr algn="l">
              <a:lnSpc>
                <a:spcPct val="100000"/>
              </a:lnSpc>
              <a:defRPr sz="780" b="0">
                <a:solidFill>
                  <a:srgbClr val="A1A1AA"/>
                </a:solidFill>
                <a:latin typeface="Inter"/>
              </a:defRPr>
            </a:pPr>
            <a:r>
              <a:t>Rollback planning</a:t>
            </a:r>
          </a:p>
        </p:txBody>
      </p:sp>
      <p:sp>
        <p:nvSpPr>
          <p:cNvPr id="85" name="Rounded Rectangle 84"/>
          <p:cNvSpPr/>
          <p:nvPr/>
        </p:nvSpPr>
        <p:spPr>
          <a:xfrm>
            <a:off x="7680960" y="4645152"/>
            <a:ext cx="3950208" cy="1133856"/>
          </a:xfrm>
          <a:prstGeom prst="roundRect">
            <a:avLst>
              <a:gd name="adj" fmla="val 8000"/>
            </a:avLst>
          </a:prstGeom>
          <a:solidFill>
            <a:srgbClr val="211B35"/>
          </a:solidFill>
          <a:ln w="9525">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7918704" y="4828032"/>
            <a:ext cx="2286000" cy="201168"/>
          </a:xfrm>
          <a:prstGeom prst="rect">
            <a:avLst/>
          </a:prstGeom>
          <a:noFill/>
        </p:spPr>
        <p:txBody>
          <a:bodyPr wrap="square" lIns="0" rIns="0" tIns="0" bIns="0" anchor="t">
            <a:spAutoFit/>
          </a:bodyPr>
          <a:lstStyle/>
          <a:p>
            <a:pPr algn="l">
              <a:lnSpc>
                <a:spcPct val="100000"/>
              </a:lnSpc>
              <a:defRPr sz="700" b="1">
                <a:solidFill>
                  <a:srgbClr val="A78BFA"/>
                </a:solidFill>
                <a:latin typeface="Inter"/>
              </a:defRPr>
            </a:pPr>
            <a:r>
              <a:t>ARCHITECTURE CHECKPOINT</a:t>
            </a:r>
          </a:p>
        </p:txBody>
      </p:sp>
      <p:sp>
        <p:nvSpPr>
          <p:cNvPr id="87" name="TextBox 86"/>
          <p:cNvSpPr txBox="1"/>
          <p:nvPr/>
        </p:nvSpPr>
        <p:spPr>
          <a:xfrm>
            <a:off x="7918704" y="5138928"/>
            <a:ext cx="3456432" cy="484632"/>
          </a:xfrm>
          <a:prstGeom prst="rect">
            <a:avLst/>
          </a:prstGeom>
          <a:noFill/>
        </p:spPr>
        <p:txBody>
          <a:bodyPr wrap="square" lIns="0" rIns="0" tIns="0" bIns="0" anchor="t">
            <a:spAutoFit/>
          </a:bodyPr>
          <a:lstStyle/>
          <a:p>
            <a:pPr algn="l">
              <a:lnSpc>
                <a:spcPct val="100000"/>
              </a:lnSpc>
              <a:defRPr sz="860" b="0">
                <a:solidFill>
                  <a:srgbClr val="E4E4E7"/>
                </a:solidFill>
                <a:latin typeface="Inter"/>
              </a:defRPr>
            </a:pPr>
            <a:r>
              <a:t>A modular monolith may remain the better intermediate architecture when an immediate split adds unnecessary complexity.</a:t>
            </a:r>
          </a:p>
        </p:txBody>
      </p:sp>
      <p:sp>
        <p:nvSpPr>
          <p:cNvPr id="88" name="TextBox 87"/>
          <p:cNvSpPr txBox="1"/>
          <p:nvPr/>
        </p:nvSpPr>
        <p:spPr>
          <a:xfrm>
            <a:off x="685800" y="6007608"/>
            <a:ext cx="10789920" cy="292608"/>
          </a:xfrm>
          <a:prstGeom prst="rect">
            <a:avLst/>
          </a:prstGeom>
          <a:noFill/>
        </p:spPr>
        <p:txBody>
          <a:bodyPr wrap="square" lIns="0" rIns="0" tIns="0" bIns="0" anchor="t">
            <a:spAutoFit/>
          </a:bodyPr>
          <a:lstStyle/>
          <a:p>
            <a:pPr algn="ctr">
              <a:lnSpc>
                <a:spcPct val="100000"/>
              </a:lnSpc>
              <a:defRPr sz="1250" b="1">
                <a:solidFill>
                  <a:srgbClr val="FAFAFA"/>
                </a:solidFill>
                <a:latin typeface="Inter"/>
              </a:defRPr>
            </a:pPr>
            <a:r>
              <a:t>Migration is not just splitting code into folders. It is defining clear business and data boundaries.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9090B"/>
        </a:solidFill>
        <a:effectLst/>
      </p:bgPr>
    </p:bg>
    <p:spTree>
      <p:nvGrpSpPr>
        <p:cNvPr id="1" name=""/>
        <p:cNvGrpSpPr/>
        <p:nvPr/>
      </p:nvGrpSpPr>
      <p:grpSpPr/>
      <p:cxnSp>
        <p:nvCxnSpPr>
          <p:cNvPr id="2" name="Connector 1"/>
          <p:cNvCxnSpPr/>
          <p:nvPr/>
        </p:nvCxnSpPr>
        <p:spPr>
          <a:xfrm>
            <a:off x="3044952" y="0"/>
            <a:ext cx="0" cy="6858000"/>
          </a:xfrm>
          <a:prstGeom prst="line">
            <a:avLst/>
          </a:prstGeom>
          <a:ln w="4445">
            <a:solidFill>
              <a:srgbClr val="111114"/>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6089904" y="0"/>
            <a:ext cx="0" cy="6858000"/>
          </a:xfrm>
          <a:prstGeom prst="line">
            <a:avLst/>
          </a:prstGeom>
          <a:ln w="4445">
            <a:solidFill>
              <a:srgbClr val="111114"/>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9134856" y="0"/>
            <a:ext cx="0" cy="6858000"/>
          </a:xfrm>
          <a:prstGeom prst="line">
            <a:avLst/>
          </a:prstGeom>
          <a:ln w="4445">
            <a:solidFill>
              <a:srgbClr val="111114"/>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02920" y="612648"/>
            <a:ext cx="11183112" cy="0"/>
          </a:xfrm>
          <a:prstGeom prst="line">
            <a:avLst/>
          </a:prstGeom>
          <a:ln w="6985">
            <a:solidFill>
              <a:srgbClr val="202024"/>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246888"/>
            <a:ext cx="228600" cy="228600"/>
          </a:xfrm>
          <a:prstGeom prst="roundRect">
            <a:avLst>
              <a:gd name="adj" fmla="val 8000"/>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46888"/>
            <a:ext cx="228600" cy="228600"/>
          </a:xfrm>
          <a:prstGeom prst="rect">
            <a:avLst/>
          </a:prstGeom>
          <a:noFill/>
        </p:spPr>
        <p:txBody>
          <a:bodyPr wrap="square" lIns="0" rIns="0" tIns="0" bIns="0" anchor="ctr">
            <a:spAutoFit/>
          </a:bodyPr>
          <a:lstStyle/>
          <a:p>
            <a:pPr algn="ctr">
              <a:lnSpc>
                <a:spcPct val="100000"/>
              </a:lnSpc>
              <a:defRPr sz="650" b="1">
                <a:solidFill>
                  <a:srgbClr val="09090B"/>
                </a:solidFill>
                <a:latin typeface="Inter"/>
              </a:defRPr>
            </a:pPr>
            <a:r>
              <a:t>LB</a:t>
            </a:r>
          </a:p>
        </p:txBody>
      </p:sp>
      <p:sp>
        <p:nvSpPr>
          <p:cNvPr id="8" name="TextBox 7"/>
          <p:cNvSpPr txBox="1"/>
          <p:nvPr/>
        </p:nvSpPr>
        <p:spPr>
          <a:xfrm>
            <a:off x="804672" y="269748"/>
            <a:ext cx="2011680" cy="201168"/>
          </a:xfrm>
          <a:prstGeom prst="rect">
            <a:avLst/>
          </a:prstGeom>
          <a:noFill/>
        </p:spPr>
        <p:txBody>
          <a:bodyPr wrap="square" lIns="0" rIns="0" tIns="0" bIns="0" anchor="t">
            <a:spAutoFit/>
          </a:bodyPr>
          <a:lstStyle/>
          <a:p>
            <a:pPr algn="l">
              <a:lnSpc>
                <a:spcPct val="100000"/>
              </a:lnSpc>
              <a:defRPr sz="850" b="1">
                <a:solidFill>
                  <a:srgbClr val="E4E4E7"/>
                </a:solidFill>
                <a:latin typeface="Inter"/>
              </a:defRPr>
            </a:pPr>
            <a:r>
              <a:t>LEGACYBRIDGE</a:t>
            </a:r>
          </a:p>
        </p:txBody>
      </p:sp>
      <p:sp>
        <p:nvSpPr>
          <p:cNvPr id="9" name="Rounded Rectangle 8"/>
          <p:cNvSpPr/>
          <p:nvPr/>
        </p:nvSpPr>
        <p:spPr>
          <a:xfrm>
            <a:off x="11045952" y="237744"/>
            <a:ext cx="640080" cy="256032"/>
          </a:xfrm>
          <a:prstGeom prst="roundRect">
            <a:avLst>
              <a:gd name="adj" fmla="val 8000"/>
            </a:avLst>
          </a:prstGeom>
          <a:solidFill>
            <a:srgbClr val="111114"/>
          </a:solidFill>
          <a:ln w="7620">
            <a:solidFill>
              <a:srgbClr val="2B2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082528" y="246888"/>
            <a:ext cx="566928" cy="237744"/>
          </a:xfrm>
          <a:prstGeom prst="rect">
            <a:avLst/>
          </a:prstGeom>
          <a:noFill/>
        </p:spPr>
        <p:txBody>
          <a:bodyPr wrap="square" lIns="0" rIns="0" tIns="0" bIns="0" anchor="ctr">
            <a:spAutoFit/>
          </a:bodyPr>
          <a:lstStyle/>
          <a:p>
            <a:pPr algn="ctr">
              <a:lnSpc>
                <a:spcPct val="100000"/>
              </a:lnSpc>
              <a:defRPr sz="700" b="1">
                <a:solidFill>
                  <a:srgbClr val="A1A1AA"/>
                </a:solidFill>
                <a:latin typeface="Inter"/>
              </a:defRPr>
            </a:pPr>
            <a:r>
              <a:t>07 / 10</a:t>
            </a:r>
          </a:p>
        </p:txBody>
      </p:sp>
      <p:sp>
        <p:nvSpPr>
          <p:cNvPr id="11" name="TextBox 10"/>
          <p:cNvSpPr txBox="1"/>
          <p:nvPr/>
        </p:nvSpPr>
        <p:spPr>
          <a:xfrm>
            <a:off x="548640" y="768096"/>
            <a:ext cx="6858000" cy="219456"/>
          </a:xfrm>
          <a:prstGeom prst="rect">
            <a:avLst/>
          </a:prstGeom>
          <a:noFill/>
        </p:spPr>
        <p:txBody>
          <a:bodyPr wrap="square" lIns="0" rIns="0" tIns="0" bIns="0" anchor="t">
            <a:spAutoFit/>
          </a:bodyPr>
          <a:lstStyle/>
          <a:p>
            <a:pPr algn="l">
              <a:lnSpc>
                <a:spcPct val="100000"/>
              </a:lnSpc>
              <a:defRPr sz="800" b="1">
                <a:solidFill>
                  <a:srgbClr val="A78BFA"/>
                </a:solidFill>
                <a:latin typeface="Inter"/>
              </a:defRPr>
            </a:pPr>
            <a:r>
              <a:t>TINYFISH MIGRATION RESEARCH AGENT</a:t>
            </a:r>
          </a:p>
        </p:txBody>
      </p:sp>
      <p:sp>
        <p:nvSpPr>
          <p:cNvPr id="12" name="TextBox 11"/>
          <p:cNvSpPr txBox="1"/>
          <p:nvPr/>
        </p:nvSpPr>
        <p:spPr>
          <a:xfrm>
            <a:off x="548640" y="996696"/>
            <a:ext cx="11064240" cy="585216"/>
          </a:xfrm>
          <a:prstGeom prst="rect">
            <a:avLst/>
          </a:prstGeom>
          <a:noFill/>
        </p:spPr>
        <p:txBody>
          <a:bodyPr wrap="square" lIns="0" rIns="0" tIns="0" bIns="0" anchor="t">
            <a:spAutoFit/>
          </a:bodyPr>
          <a:lstStyle/>
          <a:p>
            <a:pPr algn="l">
              <a:lnSpc>
                <a:spcPct val="95000"/>
              </a:lnSpc>
              <a:defRPr sz="2700" b="1">
                <a:solidFill>
                  <a:srgbClr val="FAFAFA"/>
                </a:solidFill>
                <a:latin typeface="Inter"/>
              </a:defRPr>
            </a:pPr>
            <a:r>
              <a:t>Ground Migration Decisions in Relevant Technical Documentation.</a:t>
            </a:r>
          </a:p>
        </p:txBody>
      </p:sp>
      <p:sp>
        <p:nvSpPr>
          <p:cNvPr id="13" name="TextBox 12"/>
          <p:cNvSpPr txBox="1"/>
          <p:nvPr/>
        </p:nvSpPr>
        <p:spPr>
          <a:xfrm>
            <a:off x="548640" y="1545336"/>
            <a:ext cx="10972800" cy="347472"/>
          </a:xfrm>
          <a:prstGeom prst="rect">
            <a:avLst/>
          </a:prstGeom>
          <a:noFill/>
        </p:spPr>
        <p:txBody>
          <a:bodyPr wrap="square" lIns="0" rIns="0" tIns="0" bIns="0" anchor="t">
            <a:spAutoFit/>
          </a:bodyPr>
          <a:lstStyle/>
          <a:p>
            <a:pPr algn="l">
              <a:lnSpc>
                <a:spcPct val="100000"/>
              </a:lnSpc>
              <a:defRPr sz="1050" b="0">
                <a:solidFill>
                  <a:srgbClr val="A1A1AA"/>
                </a:solidFill>
                <a:latin typeface="Inter"/>
              </a:defRPr>
            </a:pPr>
            <a:r>
              <a:t>External research is source-linked and reviewable; source-code analysis remains inside LegacyBridge.</a:t>
            </a:r>
          </a:p>
        </p:txBody>
      </p:sp>
      <p:cxnSp>
        <p:nvCxnSpPr>
          <p:cNvPr id="14" name="Connector 13"/>
          <p:cNvCxnSpPr/>
          <p:nvPr/>
        </p:nvCxnSpPr>
        <p:spPr>
          <a:xfrm>
            <a:off x="502920" y="6473952"/>
            <a:ext cx="11183112" cy="0"/>
          </a:xfrm>
          <a:prstGeom prst="line">
            <a:avLst/>
          </a:prstGeom>
          <a:ln w="6985">
            <a:solidFill>
              <a:srgbClr val="202024"/>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48640" y="6565392"/>
            <a:ext cx="7909560" cy="164592"/>
          </a:xfrm>
          <a:prstGeom prst="rect">
            <a:avLst/>
          </a:prstGeom>
          <a:noFill/>
        </p:spPr>
        <p:txBody>
          <a:bodyPr wrap="square" lIns="0" rIns="0" tIns="0" bIns="0" anchor="t">
            <a:spAutoFit/>
          </a:bodyPr>
          <a:lstStyle/>
          <a:p>
            <a:pPr algn="l">
              <a:lnSpc>
                <a:spcPct val="100000"/>
              </a:lnSpc>
              <a:defRPr sz="630" b="0">
                <a:solidFill>
                  <a:srgbClr val="71717A"/>
                </a:solidFill>
                <a:latin typeface="Inter"/>
              </a:defRPr>
            </a:pPr>
            <a:r>
              <a:t>Official: TinyFish Research API — https://docs.tinyfish.ai/research-api</a:t>
            </a:r>
          </a:p>
        </p:txBody>
      </p:sp>
      <p:sp>
        <p:nvSpPr>
          <p:cNvPr id="16" name="TextBox 15"/>
          <p:cNvSpPr txBox="1"/>
          <p:nvPr/>
        </p:nvSpPr>
        <p:spPr>
          <a:xfrm>
            <a:off x="8732520" y="6565392"/>
            <a:ext cx="2926080" cy="164592"/>
          </a:xfrm>
          <a:prstGeom prst="rect">
            <a:avLst/>
          </a:prstGeom>
          <a:noFill/>
        </p:spPr>
        <p:txBody>
          <a:bodyPr wrap="square" lIns="0" rIns="0" tIns="0" bIns="0" anchor="t">
            <a:spAutoFit/>
          </a:bodyPr>
          <a:lstStyle/>
          <a:p>
            <a:pPr algn="r">
              <a:lnSpc>
                <a:spcPct val="100000"/>
              </a:lnSpc>
              <a:defRPr sz="610" b="0">
                <a:solidFill>
                  <a:srgbClr val="71717A"/>
                </a:solidFill>
                <a:latin typeface="Inter"/>
              </a:defRPr>
            </a:pPr>
            <a:r>
              <a:t>PROPOSED PRODUCT • HACKATHON PRESENTATION</a:t>
            </a:r>
          </a:p>
        </p:txBody>
      </p:sp>
      <p:sp>
        <p:nvSpPr>
          <p:cNvPr id="17" name="Rounded Rectangle 16"/>
          <p:cNvSpPr/>
          <p:nvPr/>
        </p:nvSpPr>
        <p:spPr>
          <a:xfrm>
            <a:off x="548640" y="1965960"/>
            <a:ext cx="1938528" cy="749808"/>
          </a:xfrm>
          <a:prstGeom prst="roundRect">
            <a:avLst>
              <a:gd name="adj" fmla="val 8000"/>
            </a:avLst>
          </a:prstGeom>
          <a:solidFill>
            <a:srgbClr val="18181B"/>
          </a:solidFill>
          <a:ln w="9525">
            <a:solidFill>
              <a:srgbClr val="2B2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76656" y="2157984"/>
            <a:ext cx="310896" cy="310896"/>
          </a:xfrm>
          <a:prstGeom prst="roundRect">
            <a:avLst>
              <a:gd name="adj" fmla="val 8000"/>
            </a:avLst>
          </a:prstGeom>
          <a:solidFill>
            <a:srgbClr val="211B35"/>
          </a:solidFill>
          <a:ln w="7620">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6656" y="2157984"/>
            <a:ext cx="310896" cy="310896"/>
          </a:xfrm>
          <a:prstGeom prst="rect">
            <a:avLst/>
          </a:prstGeom>
          <a:noFill/>
        </p:spPr>
        <p:txBody>
          <a:bodyPr wrap="square" lIns="0" rIns="0" tIns="0" bIns="0" anchor="ctr">
            <a:spAutoFit/>
          </a:bodyPr>
          <a:lstStyle/>
          <a:p>
            <a:pPr algn="ctr">
              <a:lnSpc>
                <a:spcPct val="100000"/>
              </a:lnSpc>
              <a:defRPr sz="700" b="1">
                <a:solidFill>
                  <a:srgbClr val="A78BFA"/>
                </a:solidFill>
                <a:latin typeface="Inter"/>
              </a:defRPr>
            </a:pPr>
            <a:r>
              <a:t>1</a:t>
            </a:r>
          </a:p>
        </p:txBody>
      </p:sp>
      <p:sp>
        <p:nvSpPr>
          <p:cNvPr id="20" name="TextBox 19"/>
          <p:cNvSpPr txBox="1"/>
          <p:nvPr/>
        </p:nvSpPr>
        <p:spPr>
          <a:xfrm>
            <a:off x="1078992" y="2084831"/>
            <a:ext cx="1243584" cy="457200"/>
          </a:xfrm>
          <a:prstGeom prst="rect">
            <a:avLst/>
          </a:prstGeom>
          <a:noFill/>
        </p:spPr>
        <p:txBody>
          <a:bodyPr wrap="square" lIns="0" rIns="0" tIns="0" bIns="0" anchor="t">
            <a:spAutoFit/>
          </a:bodyPr>
          <a:lstStyle/>
          <a:p>
            <a:pPr algn="l">
              <a:lnSpc>
                <a:spcPct val="100000"/>
              </a:lnSpc>
              <a:defRPr sz="919" b="1">
                <a:solidFill>
                  <a:srgbClr val="E4E4E7"/>
                </a:solidFill>
                <a:latin typeface="Inter"/>
              </a:defRPr>
            </a:pPr>
            <a:r>
              <a:t>LegacyBridge</a:t>
            </a:r>
            <a:br/>
            <a:r>
              <a:t>Analysis</a:t>
            </a:r>
          </a:p>
        </p:txBody>
      </p:sp>
      <p:cxnSp>
        <p:nvCxnSpPr>
          <p:cNvPr id="21" name="Connector 20"/>
          <p:cNvCxnSpPr/>
          <p:nvPr/>
        </p:nvCxnSpPr>
        <p:spPr>
          <a:xfrm>
            <a:off x="2496312" y="2340864"/>
            <a:ext cx="164592" cy="0"/>
          </a:xfrm>
          <a:prstGeom prst="line">
            <a:avLst/>
          </a:prstGeom>
          <a:ln w="15240">
            <a:solidFill>
              <a:srgbClr val="312645"/>
            </a:solidFill>
          </a:ln>
        </p:spPr>
        <p:style>
          <a:lnRef idx="2">
            <a:schemeClr val="accent1"/>
          </a:lnRef>
          <a:fillRef idx="0">
            <a:schemeClr val="accent1"/>
          </a:fillRef>
          <a:effectRef idx="1">
            <a:schemeClr val="accent1"/>
          </a:effectRef>
          <a:fontRef idx="minor">
            <a:schemeClr val="tx1"/>
          </a:fontRef>
        </p:style>
      </p:cxnSp>
      <p:sp>
        <p:nvSpPr>
          <p:cNvPr id="22" name="Chevron 21"/>
          <p:cNvSpPr/>
          <p:nvPr/>
        </p:nvSpPr>
        <p:spPr>
          <a:xfrm>
            <a:off x="2615184" y="2258568"/>
            <a:ext cx="164592" cy="164592"/>
          </a:xfrm>
          <a:prstGeom prst="chevron">
            <a:avLst/>
          </a:prstGeom>
          <a:solidFill>
            <a:srgbClr val="3126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2816352" y="1965960"/>
            <a:ext cx="1938528" cy="749808"/>
          </a:xfrm>
          <a:prstGeom prst="roundRect">
            <a:avLst>
              <a:gd name="adj" fmla="val 8000"/>
            </a:avLst>
          </a:prstGeom>
          <a:solidFill>
            <a:srgbClr val="18181B"/>
          </a:solidFill>
          <a:ln w="9525">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944368" y="2157984"/>
            <a:ext cx="310896" cy="310896"/>
          </a:xfrm>
          <a:prstGeom prst="roundRect">
            <a:avLst>
              <a:gd name="adj" fmla="val 8000"/>
            </a:avLst>
          </a:prstGeom>
          <a:solidFill>
            <a:srgbClr val="211B35"/>
          </a:solidFill>
          <a:ln w="7620">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944368" y="2157984"/>
            <a:ext cx="310896" cy="310896"/>
          </a:xfrm>
          <a:prstGeom prst="rect">
            <a:avLst/>
          </a:prstGeom>
          <a:noFill/>
        </p:spPr>
        <p:txBody>
          <a:bodyPr wrap="square" lIns="0" rIns="0" tIns="0" bIns="0" anchor="ctr">
            <a:spAutoFit/>
          </a:bodyPr>
          <a:lstStyle/>
          <a:p>
            <a:pPr algn="ctr">
              <a:lnSpc>
                <a:spcPct val="100000"/>
              </a:lnSpc>
              <a:defRPr sz="700" b="1">
                <a:solidFill>
                  <a:srgbClr val="A78BFA"/>
                </a:solidFill>
                <a:latin typeface="Inter"/>
              </a:defRPr>
            </a:pPr>
            <a:r>
              <a:t>2</a:t>
            </a:r>
          </a:p>
        </p:txBody>
      </p:sp>
      <p:sp>
        <p:nvSpPr>
          <p:cNvPr id="26" name="TextBox 25"/>
          <p:cNvSpPr txBox="1"/>
          <p:nvPr/>
        </p:nvSpPr>
        <p:spPr>
          <a:xfrm>
            <a:off x="3346704" y="2084831"/>
            <a:ext cx="1243584" cy="457200"/>
          </a:xfrm>
          <a:prstGeom prst="rect">
            <a:avLst/>
          </a:prstGeom>
          <a:noFill/>
        </p:spPr>
        <p:txBody>
          <a:bodyPr wrap="square" lIns="0" rIns="0" tIns="0" bIns="0" anchor="t">
            <a:spAutoFit/>
          </a:bodyPr>
          <a:lstStyle/>
          <a:p>
            <a:pPr algn="l">
              <a:lnSpc>
                <a:spcPct val="100000"/>
              </a:lnSpc>
              <a:defRPr sz="919" b="1">
                <a:solidFill>
                  <a:srgbClr val="E4E4E7"/>
                </a:solidFill>
                <a:latin typeface="Inter"/>
              </a:defRPr>
            </a:pPr>
            <a:r>
              <a:t>TinyFish</a:t>
            </a:r>
            <a:br/>
            <a:r>
              <a:t>Research</a:t>
            </a:r>
          </a:p>
        </p:txBody>
      </p:sp>
      <p:cxnSp>
        <p:nvCxnSpPr>
          <p:cNvPr id="27" name="Connector 26"/>
          <p:cNvCxnSpPr/>
          <p:nvPr/>
        </p:nvCxnSpPr>
        <p:spPr>
          <a:xfrm>
            <a:off x="4764024" y="2340864"/>
            <a:ext cx="164592" cy="0"/>
          </a:xfrm>
          <a:prstGeom prst="line">
            <a:avLst/>
          </a:prstGeom>
          <a:ln w="15240">
            <a:solidFill>
              <a:srgbClr val="312645"/>
            </a:solidFill>
          </a:ln>
        </p:spPr>
        <p:style>
          <a:lnRef idx="2">
            <a:schemeClr val="accent1"/>
          </a:lnRef>
          <a:fillRef idx="0">
            <a:schemeClr val="accent1"/>
          </a:fillRef>
          <a:effectRef idx="1">
            <a:schemeClr val="accent1"/>
          </a:effectRef>
          <a:fontRef idx="minor">
            <a:schemeClr val="tx1"/>
          </a:fontRef>
        </p:style>
      </p:cxnSp>
      <p:sp>
        <p:nvSpPr>
          <p:cNvPr id="28" name="Chevron 27"/>
          <p:cNvSpPr/>
          <p:nvPr/>
        </p:nvSpPr>
        <p:spPr>
          <a:xfrm>
            <a:off x="4882896" y="2258568"/>
            <a:ext cx="164592" cy="164592"/>
          </a:xfrm>
          <a:prstGeom prst="chevron">
            <a:avLst/>
          </a:prstGeom>
          <a:solidFill>
            <a:srgbClr val="3126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5084064" y="1965960"/>
            <a:ext cx="1938528" cy="749808"/>
          </a:xfrm>
          <a:prstGeom prst="roundRect">
            <a:avLst>
              <a:gd name="adj" fmla="val 8000"/>
            </a:avLst>
          </a:prstGeom>
          <a:solidFill>
            <a:srgbClr val="18181B"/>
          </a:solidFill>
          <a:ln w="9525">
            <a:solidFill>
              <a:srgbClr val="2B2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212079" y="2157984"/>
            <a:ext cx="310896" cy="310896"/>
          </a:xfrm>
          <a:prstGeom prst="roundRect">
            <a:avLst>
              <a:gd name="adj" fmla="val 8000"/>
            </a:avLst>
          </a:prstGeom>
          <a:solidFill>
            <a:srgbClr val="211B35"/>
          </a:solidFill>
          <a:ln w="7620">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212079" y="2157984"/>
            <a:ext cx="310896" cy="310896"/>
          </a:xfrm>
          <a:prstGeom prst="rect">
            <a:avLst/>
          </a:prstGeom>
          <a:noFill/>
        </p:spPr>
        <p:txBody>
          <a:bodyPr wrap="square" lIns="0" rIns="0" tIns="0" bIns="0" anchor="ctr">
            <a:spAutoFit/>
          </a:bodyPr>
          <a:lstStyle/>
          <a:p>
            <a:pPr algn="ctr">
              <a:lnSpc>
                <a:spcPct val="100000"/>
              </a:lnSpc>
              <a:defRPr sz="700" b="1">
                <a:solidFill>
                  <a:srgbClr val="A78BFA"/>
                </a:solidFill>
                <a:latin typeface="Inter"/>
              </a:defRPr>
            </a:pPr>
            <a:r>
              <a:t>3</a:t>
            </a:r>
          </a:p>
        </p:txBody>
      </p:sp>
      <p:sp>
        <p:nvSpPr>
          <p:cNvPr id="32" name="TextBox 31"/>
          <p:cNvSpPr txBox="1"/>
          <p:nvPr/>
        </p:nvSpPr>
        <p:spPr>
          <a:xfrm>
            <a:off x="5614416" y="2084831"/>
            <a:ext cx="1243584" cy="457200"/>
          </a:xfrm>
          <a:prstGeom prst="rect">
            <a:avLst/>
          </a:prstGeom>
          <a:noFill/>
        </p:spPr>
        <p:txBody>
          <a:bodyPr wrap="square" lIns="0" rIns="0" tIns="0" bIns="0" anchor="t">
            <a:spAutoFit/>
          </a:bodyPr>
          <a:lstStyle/>
          <a:p>
            <a:pPr algn="l">
              <a:lnSpc>
                <a:spcPct val="100000"/>
              </a:lnSpc>
              <a:defRPr sz="919" b="1">
                <a:solidFill>
                  <a:srgbClr val="E4E4E7"/>
                </a:solidFill>
                <a:latin typeface="Inter"/>
              </a:defRPr>
            </a:pPr>
            <a:r>
              <a:t>Official</a:t>
            </a:r>
            <a:br/>
            <a:r>
              <a:t>Documentation</a:t>
            </a:r>
          </a:p>
        </p:txBody>
      </p:sp>
      <p:cxnSp>
        <p:nvCxnSpPr>
          <p:cNvPr id="33" name="Connector 32"/>
          <p:cNvCxnSpPr/>
          <p:nvPr/>
        </p:nvCxnSpPr>
        <p:spPr>
          <a:xfrm>
            <a:off x="7031736" y="2340864"/>
            <a:ext cx="164592" cy="0"/>
          </a:xfrm>
          <a:prstGeom prst="line">
            <a:avLst/>
          </a:prstGeom>
          <a:ln w="15240">
            <a:solidFill>
              <a:srgbClr val="312645"/>
            </a:solidFill>
          </a:ln>
        </p:spPr>
        <p:style>
          <a:lnRef idx="2">
            <a:schemeClr val="accent1"/>
          </a:lnRef>
          <a:fillRef idx="0">
            <a:schemeClr val="accent1"/>
          </a:fillRef>
          <a:effectRef idx="1">
            <a:schemeClr val="accent1"/>
          </a:effectRef>
          <a:fontRef idx="minor">
            <a:schemeClr val="tx1"/>
          </a:fontRef>
        </p:style>
      </p:cxnSp>
      <p:sp>
        <p:nvSpPr>
          <p:cNvPr id="34" name="Chevron 33"/>
          <p:cNvSpPr/>
          <p:nvPr/>
        </p:nvSpPr>
        <p:spPr>
          <a:xfrm>
            <a:off x="7150608" y="2258568"/>
            <a:ext cx="164592" cy="164592"/>
          </a:xfrm>
          <a:prstGeom prst="chevron">
            <a:avLst/>
          </a:prstGeom>
          <a:solidFill>
            <a:srgbClr val="3126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7351775" y="1965960"/>
            <a:ext cx="1938528" cy="749808"/>
          </a:xfrm>
          <a:prstGeom prst="roundRect">
            <a:avLst>
              <a:gd name="adj" fmla="val 8000"/>
            </a:avLst>
          </a:prstGeom>
          <a:solidFill>
            <a:srgbClr val="18181B"/>
          </a:solidFill>
          <a:ln w="9525">
            <a:solidFill>
              <a:srgbClr val="2B2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7479792" y="2157984"/>
            <a:ext cx="310896" cy="310896"/>
          </a:xfrm>
          <a:prstGeom prst="roundRect">
            <a:avLst>
              <a:gd name="adj" fmla="val 8000"/>
            </a:avLst>
          </a:prstGeom>
          <a:solidFill>
            <a:srgbClr val="211B35"/>
          </a:solidFill>
          <a:ln w="7620">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479792" y="2157984"/>
            <a:ext cx="310896" cy="310896"/>
          </a:xfrm>
          <a:prstGeom prst="rect">
            <a:avLst/>
          </a:prstGeom>
          <a:noFill/>
        </p:spPr>
        <p:txBody>
          <a:bodyPr wrap="square" lIns="0" rIns="0" tIns="0" bIns="0" anchor="ctr">
            <a:spAutoFit/>
          </a:bodyPr>
          <a:lstStyle/>
          <a:p>
            <a:pPr algn="ctr">
              <a:lnSpc>
                <a:spcPct val="100000"/>
              </a:lnSpc>
              <a:defRPr sz="700" b="1">
                <a:solidFill>
                  <a:srgbClr val="A78BFA"/>
                </a:solidFill>
                <a:latin typeface="Inter"/>
              </a:defRPr>
            </a:pPr>
            <a:r>
              <a:t>4</a:t>
            </a:r>
          </a:p>
        </p:txBody>
      </p:sp>
      <p:sp>
        <p:nvSpPr>
          <p:cNvPr id="38" name="TextBox 37"/>
          <p:cNvSpPr txBox="1"/>
          <p:nvPr/>
        </p:nvSpPr>
        <p:spPr>
          <a:xfrm>
            <a:off x="7882127" y="2084831"/>
            <a:ext cx="1243584" cy="457200"/>
          </a:xfrm>
          <a:prstGeom prst="rect">
            <a:avLst/>
          </a:prstGeom>
          <a:noFill/>
        </p:spPr>
        <p:txBody>
          <a:bodyPr wrap="square" lIns="0" rIns="0" tIns="0" bIns="0" anchor="t">
            <a:spAutoFit/>
          </a:bodyPr>
          <a:lstStyle/>
          <a:p>
            <a:pPr algn="l">
              <a:lnSpc>
                <a:spcPct val="100000"/>
              </a:lnSpc>
              <a:defRPr sz="919" b="1">
                <a:solidFill>
                  <a:srgbClr val="E4E4E7"/>
                </a:solidFill>
                <a:latin typeface="Inter"/>
              </a:defRPr>
            </a:pPr>
            <a:r>
              <a:t>Cited</a:t>
            </a:r>
            <a:br/>
            <a:r>
              <a:t>Recommendation</a:t>
            </a:r>
          </a:p>
        </p:txBody>
      </p:sp>
      <p:cxnSp>
        <p:nvCxnSpPr>
          <p:cNvPr id="39" name="Connector 38"/>
          <p:cNvCxnSpPr/>
          <p:nvPr/>
        </p:nvCxnSpPr>
        <p:spPr>
          <a:xfrm>
            <a:off x="9299447" y="2340864"/>
            <a:ext cx="164593" cy="0"/>
          </a:xfrm>
          <a:prstGeom prst="line">
            <a:avLst/>
          </a:prstGeom>
          <a:ln w="15240">
            <a:solidFill>
              <a:srgbClr val="312645"/>
            </a:solidFill>
          </a:ln>
        </p:spPr>
        <p:style>
          <a:lnRef idx="2">
            <a:schemeClr val="accent1"/>
          </a:lnRef>
          <a:fillRef idx="0">
            <a:schemeClr val="accent1"/>
          </a:fillRef>
          <a:effectRef idx="1">
            <a:schemeClr val="accent1"/>
          </a:effectRef>
          <a:fontRef idx="minor">
            <a:schemeClr val="tx1"/>
          </a:fontRef>
        </p:style>
      </p:cxnSp>
      <p:sp>
        <p:nvSpPr>
          <p:cNvPr id="40" name="Chevron 39"/>
          <p:cNvSpPr/>
          <p:nvPr/>
        </p:nvSpPr>
        <p:spPr>
          <a:xfrm>
            <a:off x="9418319" y="2258568"/>
            <a:ext cx="164592" cy="164592"/>
          </a:xfrm>
          <a:prstGeom prst="chevron">
            <a:avLst/>
          </a:prstGeom>
          <a:solidFill>
            <a:srgbClr val="3126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9619488" y="1965960"/>
            <a:ext cx="1938528" cy="749808"/>
          </a:xfrm>
          <a:prstGeom prst="roundRect">
            <a:avLst>
              <a:gd name="adj" fmla="val 8000"/>
            </a:avLst>
          </a:prstGeom>
          <a:solidFill>
            <a:srgbClr val="18181B"/>
          </a:solidFill>
          <a:ln w="9525">
            <a:solidFill>
              <a:srgbClr val="2B2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9747504" y="2157984"/>
            <a:ext cx="310896" cy="310896"/>
          </a:xfrm>
          <a:prstGeom prst="roundRect">
            <a:avLst>
              <a:gd name="adj" fmla="val 8000"/>
            </a:avLst>
          </a:prstGeom>
          <a:solidFill>
            <a:srgbClr val="211B35"/>
          </a:solidFill>
          <a:ln w="7620">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747504" y="2157984"/>
            <a:ext cx="310896" cy="310896"/>
          </a:xfrm>
          <a:prstGeom prst="rect">
            <a:avLst/>
          </a:prstGeom>
          <a:noFill/>
        </p:spPr>
        <p:txBody>
          <a:bodyPr wrap="square" lIns="0" rIns="0" tIns="0" bIns="0" anchor="ctr">
            <a:spAutoFit/>
          </a:bodyPr>
          <a:lstStyle/>
          <a:p>
            <a:pPr algn="ctr">
              <a:lnSpc>
                <a:spcPct val="100000"/>
              </a:lnSpc>
              <a:defRPr sz="700" b="1">
                <a:solidFill>
                  <a:srgbClr val="A78BFA"/>
                </a:solidFill>
                <a:latin typeface="Inter"/>
              </a:defRPr>
            </a:pPr>
            <a:r>
              <a:t>5</a:t>
            </a:r>
          </a:p>
        </p:txBody>
      </p:sp>
      <p:sp>
        <p:nvSpPr>
          <p:cNvPr id="44" name="TextBox 43"/>
          <p:cNvSpPr txBox="1"/>
          <p:nvPr/>
        </p:nvSpPr>
        <p:spPr>
          <a:xfrm>
            <a:off x="10149840" y="2084831"/>
            <a:ext cx="1243584" cy="457200"/>
          </a:xfrm>
          <a:prstGeom prst="rect">
            <a:avLst/>
          </a:prstGeom>
          <a:noFill/>
        </p:spPr>
        <p:txBody>
          <a:bodyPr wrap="square" lIns="0" rIns="0" tIns="0" bIns="0" anchor="t">
            <a:spAutoFit/>
          </a:bodyPr>
          <a:lstStyle/>
          <a:p>
            <a:pPr algn="l">
              <a:lnSpc>
                <a:spcPct val="100000"/>
              </a:lnSpc>
              <a:defRPr sz="919" b="1">
                <a:solidFill>
                  <a:srgbClr val="E4E4E7"/>
                </a:solidFill>
                <a:latin typeface="Inter"/>
              </a:defRPr>
            </a:pPr>
            <a:r>
              <a:t>Developer</a:t>
            </a:r>
            <a:br/>
            <a:r>
              <a:t>Review</a:t>
            </a:r>
          </a:p>
        </p:txBody>
      </p:sp>
      <p:sp>
        <p:nvSpPr>
          <p:cNvPr id="45" name="Rounded Rectangle 44"/>
          <p:cNvSpPr/>
          <p:nvPr/>
        </p:nvSpPr>
        <p:spPr>
          <a:xfrm>
            <a:off x="548640" y="2999232"/>
            <a:ext cx="7424927" cy="2816352"/>
          </a:xfrm>
          <a:prstGeom prst="roundRect">
            <a:avLst>
              <a:gd name="adj" fmla="val 8000"/>
            </a:avLst>
          </a:prstGeom>
          <a:solidFill>
            <a:srgbClr val="18181B"/>
          </a:solidFill>
          <a:ln w="9525">
            <a:solidFill>
              <a:srgbClr val="2B2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786384" y="3209544"/>
            <a:ext cx="2423160" cy="237744"/>
          </a:xfrm>
          <a:prstGeom prst="roundRect">
            <a:avLst>
              <a:gd name="adj" fmla="val 8000"/>
            </a:avLst>
          </a:prstGeom>
          <a:solidFill>
            <a:srgbClr val="2B2210"/>
          </a:solidFill>
          <a:ln w="7620">
            <a:solidFill>
              <a:srgbClr val="2B221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22960" y="3218687"/>
            <a:ext cx="2350008" cy="219456"/>
          </a:xfrm>
          <a:prstGeom prst="rect">
            <a:avLst/>
          </a:prstGeom>
          <a:noFill/>
        </p:spPr>
        <p:txBody>
          <a:bodyPr wrap="square" lIns="0" rIns="0" tIns="0" bIns="0" anchor="ctr">
            <a:spAutoFit/>
          </a:bodyPr>
          <a:lstStyle/>
          <a:p>
            <a:pPr algn="ctr">
              <a:lnSpc>
                <a:spcPct val="100000"/>
              </a:lnSpc>
              <a:defRPr sz="610" b="1">
                <a:solidFill>
                  <a:srgbClr val="FBBF24"/>
                </a:solidFill>
                <a:latin typeface="Inter"/>
              </a:defRPr>
            </a:pPr>
            <a:r>
              <a:t>ILLUSTRATIVE RESULT • NOT A LIVE QUERY</a:t>
            </a:r>
          </a:p>
        </p:txBody>
      </p:sp>
      <p:sp>
        <p:nvSpPr>
          <p:cNvPr id="48" name="TextBox 47"/>
          <p:cNvSpPr txBox="1"/>
          <p:nvPr/>
        </p:nvSpPr>
        <p:spPr>
          <a:xfrm>
            <a:off x="786384" y="3621024"/>
            <a:ext cx="1463040" cy="201168"/>
          </a:xfrm>
          <a:prstGeom prst="rect">
            <a:avLst/>
          </a:prstGeom>
          <a:noFill/>
        </p:spPr>
        <p:txBody>
          <a:bodyPr wrap="square" lIns="0" rIns="0" tIns="0" bIns="0" anchor="t">
            <a:spAutoFit/>
          </a:bodyPr>
          <a:lstStyle/>
          <a:p>
            <a:pPr algn="l">
              <a:lnSpc>
                <a:spcPct val="100000"/>
              </a:lnSpc>
              <a:defRPr sz="650" b="1">
                <a:solidFill>
                  <a:srgbClr val="71717A"/>
                </a:solidFill>
                <a:latin typeface="Inter"/>
              </a:defRPr>
            </a:pPr>
            <a:r>
              <a:t>RECOMMENDATION</a:t>
            </a:r>
          </a:p>
        </p:txBody>
      </p:sp>
      <p:sp>
        <p:nvSpPr>
          <p:cNvPr id="49" name="TextBox 48"/>
          <p:cNvSpPr txBox="1"/>
          <p:nvPr/>
        </p:nvSpPr>
        <p:spPr>
          <a:xfrm>
            <a:off x="786384" y="3867912"/>
            <a:ext cx="6812280" cy="457200"/>
          </a:xfrm>
          <a:prstGeom prst="rect">
            <a:avLst/>
          </a:prstGeom>
          <a:noFill/>
        </p:spPr>
        <p:txBody>
          <a:bodyPr wrap="square" lIns="0" rIns="0" tIns="0" bIns="0" anchor="t">
            <a:spAutoFit/>
          </a:bodyPr>
          <a:lstStyle/>
          <a:p>
            <a:pPr algn="l">
              <a:lnSpc>
                <a:spcPct val="100000"/>
              </a:lnSpc>
              <a:defRPr sz="1120" b="1">
                <a:solidFill>
                  <a:srgbClr val="E4E4E7"/>
                </a:solidFill>
                <a:latin typeface="Inter"/>
              </a:defRPr>
            </a:pPr>
            <a:r>
              <a:t>Review documented breaking changes for the selected framework version before approving the migration scaffold.</a:t>
            </a:r>
          </a:p>
        </p:txBody>
      </p:sp>
      <p:cxnSp>
        <p:nvCxnSpPr>
          <p:cNvPr id="50" name="Connector 49"/>
          <p:cNvCxnSpPr/>
          <p:nvPr/>
        </p:nvCxnSpPr>
        <p:spPr>
          <a:xfrm>
            <a:off x="786384" y="4434840"/>
            <a:ext cx="6940295" cy="0"/>
          </a:xfrm>
          <a:prstGeom prst="line">
            <a:avLst/>
          </a:prstGeom>
          <a:ln w="6985">
            <a:solidFill>
              <a:srgbClr val="2B2B33"/>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786384" y="4590288"/>
            <a:ext cx="2011680" cy="201168"/>
          </a:xfrm>
          <a:prstGeom prst="rect">
            <a:avLst/>
          </a:prstGeom>
          <a:noFill/>
        </p:spPr>
        <p:txBody>
          <a:bodyPr wrap="square" lIns="0" rIns="0" tIns="0" bIns="0" anchor="t">
            <a:spAutoFit/>
          </a:bodyPr>
          <a:lstStyle/>
          <a:p>
            <a:pPr algn="l">
              <a:lnSpc>
                <a:spcPct val="100000"/>
              </a:lnSpc>
              <a:defRPr sz="620" b="1">
                <a:solidFill>
                  <a:srgbClr val="71717A"/>
                </a:solidFill>
                <a:latin typeface="Inter"/>
              </a:defRPr>
            </a:pPr>
            <a:r>
              <a:t>DOCUMENTATION TITLE + URL</a:t>
            </a:r>
          </a:p>
        </p:txBody>
      </p:sp>
      <p:sp>
        <p:nvSpPr>
          <p:cNvPr id="52" name="TextBox 51"/>
          <p:cNvSpPr txBox="1"/>
          <p:nvPr/>
        </p:nvSpPr>
        <p:spPr>
          <a:xfrm>
            <a:off x="786384" y="4828032"/>
            <a:ext cx="3200400" cy="201168"/>
          </a:xfrm>
          <a:prstGeom prst="rect">
            <a:avLst/>
          </a:prstGeom>
          <a:noFill/>
        </p:spPr>
        <p:txBody>
          <a:bodyPr wrap="square" lIns="0" rIns="0" tIns="0" bIns="0" anchor="t">
            <a:spAutoFit/>
          </a:bodyPr>
          <a:lstStyle/>
          <a:p>
            <a:pPr algn="l">
              <a:lnSpc>
                <a:spcPct val="100000"/>
              </a:lnSpc>
              <a:defRPr sz="860" b="1">
                <a:solidFill>
                  <a:srgbClr val="A78BFA"/>
                </a:solidFill>
                <a:latin typeface="Inter"/>
              </a:defRPr>
            </a:pPr>
            <a:r>
              <a:t>Next.js Documentation</a:t>
            </a:r>
          </a:p>
        </p:txBody>
      </p:sp>
      <p:sp>
        <p:nvSpPr>
          <p:cNvPr id="53" name="TextBox 52"/>
          <p:cNvSpPr txBox="1"/>
          <p:nvPr/>
        </p:nvSpPr>
        <p:spPr>
          <a:xfrm>
            <a:off x="786384" y="5074920"/>
            <a:ext cx="6263640" cy="182880"/>
          </a:xfrm>
          <a:prstGeom prst="rect">
            <a:avLst/>
          </a:prstGeom>
          <a:noFill/>
        </p:spPr>
        <p:txBody>
          <a:bodyPr wrap="square" lIns="0" rIns="0" tIns="0" bIns="0" anchor="t">
            <a:spAutoFit/>
          </a:bodyPr>
          <a:lstStyle/>
          <a:p>
            <a:pPr algn="l">
              <a:lnSpc>
                <a:spcPct val="100000"/>
              </a:lnSpc>
              <a:defRPr sz="740" b="0">
                <a:solidFill>
                  <a:srgbClr val="A1A1AA"/>
                </a:solidFill>
                <a:latin typeface="Liberation Mono"/>
              </a:defRPr>
            </a:pPr>
            <a:r>
              <a:t>https://nextjs.org/docs  •  source domain: nextjs.org</a:t>
            </a:r>
          </a:p>
        </p:txBody>
      </p:sp>
      <p:sp>
        <p:nvSpPr>
          <p:cNvPr id="54" name="TextBox 53"/>
          <p:cNvSpPr txBox="1"/>
          <p:nvPr/>
        </p:nvSpPr>
        <p:spPr>
          <a:xfrm>
            <a:off x="786384" y="5385816"/>
            <a:ext cx="1280160" cy="201168"/>
          </a:xfrm>
          <a:prstGeom prst="rect">
            <a:avLst/>
          </a:prstGeom>
          <a:noFill/>
        </p:spPr>
        <p:txBody>
          <a:bodyPr wrap="square" lIns="0" rIns="0" tIns="0" bIns="0" anchor="t">
            <a:spAutoFit/>
          </a:bodyPr>
          <a:lstStyle/>
          <a:p>
            <a:pPr algn="l">
              <a:lnSpc>
                <a:spcPct val="100000"/>
              </a:lnSpc>
              <a:defRPr sz="620" b="1">
                <a:solidFill>
                  <a:srgbClr val="71717A"/>
                </a:solidFill>
                <a:latin typeface="Inter"/>
              </a:defRPr>
            </a:pPr>
            <a:r>
              <a:t>SUPPORTING NOTE</a:t>
            </a:r>
          </a:p>
        </p:txBody>
      </p:sp>
      <p:sp>
        <p:nvSpPr>
          <p:cNvPr id="55" name="TextBox 54"/>
          <p:cNvSpPr txBox="1"/>
          <p:nvPr/>
        </p:nvSpPr>
        <p:spPr>
          <a:xfrm>
            <a:off x="2121408" y="5358384"/>
            <a:ext cx="5349240" cy="228600"/>
          </a:xfrm>
          <a:prstGeom prst="rect">
            <a:avLst/>
          </a:prstGeom>
          <a:noFill/>
        </p:spPr>
        <p:txBody>
          <a:bodyPr wrap="square" lIns="0" rIns="0" tIns="0" bIns="0" anchor="t">
            <a:spAutoFit/>
          </a:bodyPr>
          <a:lstStyle/>
          <a:p>
            <a:pPr algn="l">
              <a:lnSpc>
                <a:spcPct val="100000"/>
              </a:lnSpc>
              <a:defRPr sz="770" b="0">
                <a:solidFill>
                  <a:srgbClr val="A1A1AA"/>
                </a:solidFill>
                <a:latin typeface="Inter"/>
              </a:defRPr>
            </a:pPr>
            <a:r>
              <a:t>Paraphrased: use the official guide relevant to the current and target versions.</a:t>
            </a:r>
          </a:p>
        </p:txBody>
      </p:sp>
      <p:sp>
        <p:nvSpPr>
          <p:cNvPr id="56" name="TextBox 55"/>
          <p:cNvSpPr txBox="1"/>
          <p:nvPr/>
        </p:nvSpPr>
        <p:spPr>
          <a:xfrm>
            <a:off x="786384" y="5641848"/>
            <a:ext cx="6812280" cy="164592"/>
          </a:xfrm>
          <a:prstGeom prst="rect">
            <a:avLst/>
          </a:prstGeom>
          <a:noFill/>
        </p:spPr>
        <p:txBody>
          <a:bodyPr wrap="square" lIns="0" rIns="0" tIns="0" bIns="0" anchor="t">
            <a:spAutoFit/>
          </a:bodyPr>
          <a:lstStyle/>
          <a:p>
            <a:pPr algn="l">
              <a:lnSpc>
                <a:spcPct val="100000"/>
              </a:lnSpc>
              <a:defRPr sz="640" b="0">
                <a:solidFill>
                  <a:srgbClr val="71717A"/>
                </a:solidFill>
                <a:latin typeface="Inter"/>
              </a:defRPr>
            </a:pPr>
            <a:r>
              <a:t>Timestamp: [populated at runtime]  •  Relevance: framework selected by analysis  •  Limitations: does not establish project compatibility</a:t>
            </a:r>
          </a:p>
        </p:txBody>
      </p:sp>
      <p:sp>
        <p:nvSpPr>
          <p:cNvPr id="57" name="Rounded Rectangle 56"/>
          <p:cNvSpPr/>
          <p:nvPr/>
        </p:nvSpPr>
        <p:spPr>
          <a:xfrm>
            <a:off x="8229600" y="2999232"/>
            <a:ext cx="3401568" cy="2816352"/>
          </a:xfrm>
          <a:prstGeom prst="roundRect">
            <a:avLst>
              <a:gd name="adj" fmla="val 8000"/>
            </a:avLst>
          </a:prstGeom>
          <a:solidFill>
            <a:srgbClr val="111114"/>
          </a:solidFill>
          <a:ln w="9525">
            <a:solidFill>
              <a:srgbClr val="2B2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467344" y="3227832"/>
            <a:ext cx="2606040" cy="201168"/>
          </a:xfrm>
          <a:prstGeom prst="rect">
            <a:avLst/>
          </a:prstGeom>
          <a:noFill/>
        </p:spPr>
        <p:txBody>
          <a:bodyPr wrap="square" lIns="0" rIns="0" tIns="0" bIns="0" anchor="t">
            <a:spAutoFit/>
          </a:bodyPr>
          <a:lstStyle/>
          <a:p>
            <a:pPr algn="l">
              <a:lnSpc>
                <a:spcPct val="100000"/>
              </a:lnSpc>
              <a:defRPr sz="700" b="1">
                <a:solidFill>
                  <a:srgbClr val="A78BFA"/>
                </a:solidFill>
                <a:latin typeface="Inter"/>
              </a:defRPr>
            </a:pPr>
            <a:r>
              <a:t>SEPARATION OF RESPONSIBILITIES</a:t>
            </a:r>
          </a:p>
        </p:txBody>
      </p:sp>
      <p:sp>
        <p:nvSpPr>
          <p:cNvPr id="59" name="TextBox 58"/>
          <p:cNvSpPr txBox="1"/>
          <p:nvPr/>
        </p:nvSpPr>
        <p:spPr>
          <a:xfrm>
            <a:off x="8467344" y="3611880"/>
            <a:ext cx="2560320" cy="219456"/>
          </a:xfrm>
          <a:prstGeom prst="rect">
            <a:avLst/>
          </a:prstGeom>
          <a:noFill/>
        </p:spPr>
        <p:txBody>
          <a:bodyPr wrap="square" lIns="0" rIns="0" tIns="0" bIns="0" anchor="t">
            <a:spAutoFit/>
          </a:bodyPr>
          <a:lstStyle/>
          <a:p>
            <a:pPr algn="l">
              <a:lnSpc>
                <a:spcPct val="100000"/>
              </a:lnSpc>
              <a:defRPr sz="1050" b="1">
                <a:solidFill>
                  <a:srgbClr val="FAFAFA"/>
                </a:solidFill>
                <a:latin typeface="Inter"/>
              </a:defRPr>
            </a:pPr>
            <a:r>
              <a:t>TinyFish</a:t>
            </a:r>
          </a:p>
        </p:txBody>
      </p:sp>
      <p:sp>
        <p:nvSpPr>
          <p:cNvPr id="60" name="TextBox 59"/>
          <p:cNvSpPr txBox="1"/>
          <p:nvPr/>
        </p:nvSpPr>
        <p:spPr>
          <a:xfrm>
            <a:off x="8467344" y="3886200"/>
            <a:ext cx="2788920" cy="603504"/>
          </a:xfrm>
          <a:prstGeom prst="rect">
            <a:avLst/>
          </a:prstGeom>
          <a:noFill/>
        </p:spPr>
        <p:txBody>
          <a:bodyPr wrap="square" lIns="0" rIns="0" tIns="0" bIns="0" anchor="t">
            <a:spAutoFit/>
          </a:bodyPr>
          <a:lstStyle/>
          <a:p>
            <a:pPr algn="l">
              <a:lnSpc>
                <a:spcPct val="100000"/>
              </a:lnSpc>
              <a:defRPr sz="860" b="0">
                <a:solidFill>
                  <a:srgbClr val="A1A1AA"/>
                </a:solidFill>
                <a:latin typeface="Inter"/>
              </a:defRPr>
            </a:pPr>
            <a:r>
              <a:t>Searches and evaluates external sources, then synthesizes cited research for migration context.</a:t>
            </a:r>
          </a:p>
        </p:txBody>
      </p:sp>
      <p:sp>
        <p:nvSpPr>
          <p:cNvPr id="61" name="TextBox 60"/>
          <p:cNvSpPr txBox="1"/>
          <p:nvPr/>
        </p:nvSpPr>
        <p:spPr>
          <a:xfrm>
            <a:off x="8467344" y="4590288"/>
            <a:ext cx="2560320" cy="219456"/>
          </a:xfrm>
          <a:prstGeom prst="rect">
            <a:avLst/>
          </a:prstGeom>
          <a:noFill/>
        </p:spPr>
        <p:txBody>
          <a:bodyPr wrap="square" lIns="0" rIns="0" tIns="0" bIns="0" anchor="t">
            <a:spAutoFit/>
          </a:bodyPr>
          <a:lstStyle/>
          <a:p>
            <a:pPr algn="l">
              <a:lnSpc>
                <a:spcPct val="100000"/>
              </a:lnSpc>
              <a:defRPr sz="1050" b="1">
                <a:solidFill>
                  <a:srgbClr val="FAFAFA"/>
                </a:solidFill>
                <a:latin typeface="Inter"/>
              </a:defRPr>
            </a:pPr>
            <a:r>
              <a:t>LegacyBridge</a:t>
            </a:r>
          </a:p>
        </p:txBody>
      </p:sp>
      <p:sp>
        <p:nvSpPr>
          <p:cNvPr id="62" name="TextBox 61"/>
          <p:cNvSpPr txBox="1"/>
          <p:nvPr/>
        </p:nvSpPr>
        <p:spPr>
          <a:xfrm>
            <a:off x="8467344" y="4864608"/>
            <a:ext cx="2788920" cy="530352"/>
          </a:xfrm>
          <a:prstGeom prst="rect">
            <a:avLst/>
          </a:prstGeom>
          <a:noFill/>
        </p:spPr>
        <p:txBody>
          <a:bodyPr wrap="square" lIns="0" rIns="0" tIns="0" bIns="0" anchor="t">
            <a:spAutoFit/>
          </a:bodyPr>
          <a:lstStyle/>
          <a:p>
            <a:pPr algn="l">
              <a:lnSpc>
                <a:spcPct val="100000"/>
              </a:lnSpc>
              <a:defRPr sz="860" b="0">
                <a:solidFill>
                  <a:srgbClr val="A1A1AA"/>
                </a:solidFill>
                <a:latin typeface="Inter"/>
              </a:defRPr>
            </a:pPr>
            <a:r>
              <a:t>Inspects authorized source code, proposes architecture changes, and runs supported tests.</a:t>
            </a:r>
          </a:p>
        </p:txBody>
      </p:sp>
      <p:sp>
        <p:nvSpPr>
          <p:cNvPr id="63" name="Rounded Rectangle 62"/>
          <p:cNvSpPr/>
          <p:nvPr/>
        </p:nvSpPr>
        <p:spPr>
          <a:xfrm>
            <a:off x="8467344" y="5486400"/>
            <a:ext cx="2057400" cy="228600"/>
          </a:xfrm>
          <a:prstGeom prst="roundRect">
            <a:avLst>
              <a:gd name="adj" fmla="val 8000"/>
            </a:avLst>
          </a:prstGeom>
          <a:solidFill>
            <a:srgbClr val="202024"/>
          </a:solidFill>
          <a:ln w="7620">
            <a:solidFill>
              <a:srgbClr val="3838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503919" y="5495544"/>
            <a:ext cx="1984248" cy="210312"/>
          </a:xfrm>
          <a:prstGeom prst="rect">
            <a:avLst/>
          </a:prstGeom>
          <a:noFill/>
        </p:spPr>
        <p:txBody>
          <a:bodyPr wrap="square" lIns="0" rIns="0" tIns="0" bIns="0" anchor="ctr">
            <a:spAutoFit/>
          </a:bodyPr>
          <a:lstStyle/>
          <a:p>
            <a:pPr algn="ctr">
              <a:lnSpc>
                <a:spcPct val="100000"/>
              </a:lnSpc>
              <a:defRPr sz="610" b="1">
                <a:solidFill>
                  <a:srgbClr val="FBBF24"/>
                </a:solidFill>
                <a:latin typeface="Inter"/>
              </a:defRPr>
            </a:pPr>
            <a:r>
              <a:t>NO AUTOMATIC CONVERSION</a:t>
            </a:r>
          </a:p>
        </p:txBody>
      </p:sp>
      <p:sp>
        <p:nvSpPr>
          <p:cNvPr id="65" name="Rounded Rectangle 64"/>
          <p:cNvSpPr/>
          <p:nvPr/>
        </p:nvSpPr>
        <p:spPr>
          <a:xfrm>
            <a:off x="548640" y="5989320"/>
            <a:ext cx="11082528" cy="301752"/>
          </a:xfrm>
          <a:prstGeom prst="roundRect">
            <a:avLst>
              <a:gd name="adj" fmla="val 8000"/>
            </a:avLst>
          </a:prstGeom>
          <a:solidFill>
            <a:srgbClr val="111114"/>
          </a:solidFill>
          <a:ln w="9525">
            <a:solidFill>
              <a:srgbClr val="2B2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13232" y="6062472"/>
            <a:ext cx="10744200" cy="164592"/>
          </a:xfrm>
          <a:prstGeom prst="rect">
            <a:avLst/>
          </a:prstGeom>
          <a:noFill/>
        </p:spPr>
        <p:txBody>
          <a:bodyPr wrap="square" lIns="0" rIns="0" tIns="0" bIns="0" anchor="t">
            <a:spAutoFit/>
          </a:bodyPr>
          <a:lstStyle/>
          <a:p>
            <a:pPr algn="ctr">
              <a:lnSpc>
                <a:spcPct val="100000"/>
              </a:lnSpc>
              <a:defRPr sz="710" b="0">
                <a:solidFill>
                  <a:srgbClr val="A1A1AA"/>
                </a:solidFill>
                <a:latin typeface="Inter"/>
              </a:defRPr>
            </a:pPr>
            <a:r>
              <a:t>SECURITY  •  Server-side credentials  •  Never send confidential source code or secrets to the external research agent  •  Verify source relevance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9090B"/>
        </a:solidFill>
        <a:effectLst/>
      </p:bgPr>
    </p:bg>
    <p:spTree>
      <p:nvGrpSpPr>
        <p:cNvPr id="1" name=""/>
        <p:cNvGrpSpPr/>
        <p:nvPr/>
      </p:nvGrpSpPr>
      <p:grpSpPr/>
      <p:cxnSp>
        <p:nvCxnSpPr>
          <p:cNvPr id="2" name="Connector 1"/>
          <p:cNvCxnSpPr/>
          <p:nvPr/>
        </p:nvCxnSpPr>
        <p:spPr>
          <a:xfrm>
            <a:off x="3044952" y="0"/>
            <a:ext cx="0" cy="6858000"/>
          </a:xfrm>
          <a:prstGeom prst="line">
            <a:avLst/>
          </a:prstGeom>
          <a:ln w="4445">
            <a:solidFill>
              <a:srgbClr val="111114"/>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6089904" y="0"/>
            <a:ext cx="0" cy="6858000"/>
          </a:xfrm>
          <a:prstGeom prst="line">
            <a:avLst/>
          </a:prstGeom>
          <a:ln w="4445">
            <a:solidFill>
              <a:srgbClr val="111114"/>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9134856" y="0"/>
            <a:ext cx="0" cy="6858000"/>
          </a:xfrm>
          <a:prstGeom prst="line">
            <a:avLst/>
          </a:prstGeom>
          <a:ln w="4445">
            <a:solidFill>
              <a:srgbClr val="111114"/>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02920" y="612648"/>
            <a:ext cx="11183112" cy="0"/>
          </a:xfrm>
          <a:prstGeom prst="line">
            <a:avLst/>
          </a:prstGeom>
          <a:ln w="6985">
            <a:solidFill>
              <a:srgbClr val="202024"/>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246888"/>
            <a:ext cx="228600" cy="228600"/>
          </a:xfrm>
          <a:prstGeom prst="roundRect">
            <a:avLst>
              <a:gd name="adj" fmla="val 8000"/>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46888"/>
            <a:ext cx="228600" cy="228600"/>
          </a:xfrm>
          <a:prstGeom prst="rect">
            <a:avLst/>
          </a:prstGeom>
          <a:noFill/>
        </p:spPr>
        <p:txBody>
          <a:bodyPr wrap="square" lIns="0" rIns="0" tIns="0" bIns="0" anchor="ctr">
            <a:spAutoFit/>
          </a:bodyPr>
          <a:lstStyle/>
          <a:p>
            <a:pPr algn="ctr">
              <a:lnSpc>
                <a:spcPct val="100000"/>
              </a:lnSpc>
              <a:defRPr sz="650" b="1">
                <a:solidFill>
                  <a:srgbClr val="09090B"/>
                </a:solidFill>
                <a:latin typeface="Inter"/>
              </a:defRPr>
            </a:pPr>
            <a:r>
              <a:t>LB</a:t>
            </a:r>
          </a:p>
        </p:txBody>
      </p:sp>
      <p:sp>
        <p:nvSpPr>
          <p:cNvPr id="8" name="TextBox 7"/>
          <p:cNvSpPr txBox="1"/>
          <p:nvPr/>
        </p:nvSpPr>
        <p:spPr>
          <a:xfrm>
            <a:off x="804672" y="269748"/>
            <a:ext cx="2011680" cy="201168"/>
          </a:xfrm>
          <a:prstGeom prst="rect">
            <a:avLst/>
          </a:prstGeom>
          <a:noFill/>
        </p:spPr>
        <p:txBody>
          <a:bodyPr wrap="square" lIns="0" rIns="0" tIns="0" bIns="0" anchor="t">
            <a:spAutoFit/>
          </a:bodyPr>
          <a:lstStyle/>
          <a:p>
            <a:pPr algn="l">
              <a:lnSpc>
                <a:spcPct val="100000"/>
              </a:lnSpc>
              <a:defRPr sz="850" b="1">
                <a:solidFill>
                  <a:srgbClr val="E4E4E7"/>
                </a:solidFill>
                <a:latin typeface="Inter"/>
              </a:defRPr>
            </a:pPr>
            <a:r>
              <a:t>LEGACYBRIDGE</a:t>
            </a:r>
          </a:p>
        </p:txBody>
      </p:sp>
      <p:sp>
        <p:nvSpPr>
          <p:cNvPr id="9" name="Rounded Rectangle 8"/>
          <p:cNvSpPr/>
          <p:nvPr/>
        </p:nvSpPr>
        <p:spPr>
          <a:xfrm>
            <a:off x="11045952" y="237744"/>
            <a:ext cx="640080" cy="256032"/>
          </a:xfrm>
          <a:prstGeom prst="roundRect">
            <a:avLst>
              <a:gd name="adj" fmla="val 8000"/>
            </a:avLst>
          </a:prstGeom>
          <a:solidFill>
            <a:srgbClr val="111114"/>
          </a:solidFill>
          <a:ln w="7620">
            <a:solidFill>
              <a:srgbClr val="2B2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082528" y="246888"/>
            <a:ext cx="566928" cy="237744"/>
          </a:xfrm>
          <a:prstGeom prst="rect">
            <a:avLst/>
          </a:prstGeom>
          <a:noFill/>
        </p:spPr>
        <p:txBody>
          <a:bodyPr wrap="square" lIns="0" rIns="0" tIns="0" bIns="0" anchor="ctr">
            <a:spAutoFit/>
          </a:bodyPr>
          <a:lstStyle/>
          <a:p>
            <a:pPr algn="ctr">
              <a:lnSpc>
                <a:spcPct val="100000"/>
              </a:lnSpc>
              <a:defRPr sz="700" b="1">
                <a:solidFill>
                  <a:srgbClr val="A1A1AA"/>
                </a:solidFill>
                <a:latin typeface="Inter"/>
              </a:defRPr>
            </a:pPr>
            <a:r>
              <a:t>08 / 10</a:t>
            </a:r>
          </a:p>
        </p:txBody>
      </p:sp>
      <p:sp>
        <p:nvSpPr>
          <p:cNvPr id="11" name="TextBox 10"/>
          <p:cNvSpPr txBox="1"/>
          <p:nvPr/>
        </p:nvSpPr>
        <p:spPr>
          <a:xfrm>
            <a:off x="548640" y="768096"/>
            <a:ext cx="6858000" cy="219456"/>
          </a:xfrm>
          <a:prstGeom prst="rect">
            <a:avLst/>
          </a:prstGeom>
          <a:noFill/>
        </p:spPr>
        <p:txBody>
          <a:bodyPr wrap="square" lIns="0" rIns="0" tIns="0" bIns="0" anchor="t">
            <a:spAutoFit/>
          </a:bodyPr>
          <a:lstStyle/>
          <a:p>
            <a:pPr algn="l">
              <a:lnSpc>
                <a:spcPct val="100000"/>
              </a:lnSpc>
              <a:defRPr sz="800" b="1">
                <a:solidFill>
                  <a:srgbClr val="A78BFA"/>
                </a:solidFill>
                <a:latin typeface="Inter"/>
              </a:defRPr>
            </a:pPr>
            <a:r>
              <a:t>TECHNICAL ARCHITECTURE AND TECH STACK</a:t>
            </a:r>
          </a:p>
        </p:txBody>
      </p:sp>
      <p:sp>
        <p:nvSpPr>
          <p:cNvPr id="12" name="TextBox 11"/>
          <p:cNvSpPr txBox="1"/>
          <p:nvPr/>
        </p:nvSpPr>
        <p:spPr>
          <a:xfrm>
            <a:off x="548640" y="996696"/>
            <a:ext cx="11064240" cy="585216"/>
          </a:xfrm>
          <a:prstGeom prst="rect">
            <a:avLst/>
          </a:prstGeom>
          <a:noFill/>
        </p:spPr>
        <p:txBody>
          <a:bodyPr wrap="square" lIns="0" rIns="0" tIns="0" bIns="0" anchor="t">
            <a:spAutoFit/>
          </a:bodyPr>
          <a:lstStyle/>
          <a:p>
            <a:pPr algn="l">
              <a:lnSpc>
                <a:spcPct val="95000"/>
              </a:lnSpc>
              <a:defRPr sz="2600" b="1">
                <a:solidFill>
                  <a:srgbClr val="FAFAFA"/>
                </a:solidFill>
                <a:latin typeface="Inter"/>
              </a:defRPr>
            </a:pPr>
            <a:r>
              <a:t>An Extensible Architecture Built for Safe Modernization.</a:t>
            </a:r>
          </a:p>
        </p:txBody>
      </p:sp>
      <p:sp>
        <p:nvSpPr>
          <p:cNvPr id="13" name="TextBox 12"/>
          <p:cNvSpPr txBox="1"/>
          <p:nvPr/>
        </p:nvSpPr>
        <p:spPr>
          <a:xfrm>
            <a:off x="548640" y="1545336"/>
            <a:ext cx="10972800" cy="347472"/>
          </a:xfrm>
          <a:prstGeom prst="rect">
            <a:avLst/>
          </a:prstGeom>
          <a:noFill/>
        </p:spPr>
        <p:txBody>
          <a:bodyPr wrap="square" lIns="0" rIns="0" tIns="0" bIns="0" anchor="t">
            <a:spAutoFit/>
          </a:bodyPr>
          <a:lstStyle/>
          <a:p>
            <a:pPr algn="l">
              <a:lnSpc>
                <a:spcPct val="100000"/>
              </a:lnSpc>
              <a:defRPr sz="1050" b="0">
                <a:solidFill>
                  <a:srgbClr val="A1A1AA"/>
                </a:solidFill>
                <a:latin typeface="Inter"/>
              </a:defRPr>
            </a:pPr>
            <a:r>
              <a:t>Proposed architecture • each technology has a specific responsibility</a:t>
            </a:r>
          </a:p>
        </p:txBody>
      </p:sp>
      <p:cxnSp>
        <p:nvCxnSpPr>
          <p:cNvPr id="14" name="Connector 13"/>
          <p:cNvCxnSpPr/>
          <p:nvPr/>
        </p:nvCxnSpPr>
        <p:spPr>
          <a:xfrm>
            <a:off x="502920" y="6473952"/>
            <a:ext cx="11183112" cy="0"/>
          </a:xfrm>
          <a:prstGeom prst="line">
            <a:avLst/>
          </a:prstGeom>
          <a:ln w="6985">
            <a:solidFill>
              <a:srgbClr val="202024"/>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48640" y="6565392"/>
            <a:ext cx="7909560" cy="164592"/>
          </a:xfrm>
          <a:prstGeom prst="rect">
            <a:avLst/>
          </a:prstGeom>
          <a:noFill/>
        </p:spPr>
        <p:txBody>
          <a:bodyPr wrap="square" lIns="0" rIns="0" tIns="0" bIns="0" anchor="t">
            <a:spAutoFit/>
          </a:bodyPr>
          <a:lstStyle/>
          <a:p>
            <a:pPr algn="l">
              <a:lnSpc>
                <a:spcPct val="100000"/>
              </a:lnSpc>
              <a:defRPr sz="630" b="0">
                <a:solidFill>
                  <a:srgbClr val="71717A"/>
                </a:solidFill>
                <a:latin typeface="Inter"/>
              </a:defRPr>
            </a:pPr>
            <a:r>
              <a:t>Docs: nextjs.org/docs • supabase.com/docs • clerk.com/docs • docs.github.com/actions</a:t>
            </a:r>
          </a:p>
        </p:txBody>
      </p:sp>
      <p:sp>
        <p:nvSpPr>
          <p:cNvPr id="16" name="TextBox 15"/>
          <p:cNvSpPr txBox="1"/>
          <p:nvPr/>
        </p:nvSpPr>
        <p:spPr>
          <a:xfrm>
            <a:off x="8732520" y="6565392"/>
            <a:ext cx="2926080" cy="164592"/>
          </a:xfrm>
          <a:prstGeom prst="rect">
            <a:avLst/>
          </a:prstGeom>
          <a:noFill/>
        </p:spPr>
        <p:txBody>
          <a:bodyPr wrap="square" lIns="0" rIns="0" tIns="0" bIns="0" anchor="t">
            <a:spAutoFit/>
          </a:bodyPr>
          <a:lstStyle/>
          <a:p>
            <a:pPr algn="r">
              <a:lnSpc>
                <a:spcPct val="100000"/>
              </a:lnSpc>
              <a:defRPr sz="610" b="0">
                <a:solidFill>
                  <a:srgbClr val="71717A"/>
                </a:solidFill>
                <a:latin typeface="Inter"/>
              </a:defRPr>
            </a:pPr>
            <a:r>
              <a:t>PROPOSED PRODUCT • HACKATHON PRESENTATION</a:t>
            </a:r>
          </a:p>
        </p:txBody>
      </p:sp>
      <p:sp>
        <p:nvSpPr>
          <p:cNvPr id="17" name="Rounded Rectangle 16"/>
          <p:cNvSpPr/>
          <p:nvPr/>
        </p:nvSpPr>
        <p:spPr>
          <a:xfrm>
            <a:off x="548640" y="1938528"/>
            <a:ext cx="7973568" cy="694944"/>
          </a:xfrm>
          <a:prstGeom prst="roundRect">
            <a:avLst>
              <a:gd name="adj" fmla="val 8000"/>
            </a:avLst>
          </a:prstGeom>
          <a:solidFill>
            <a:srgbClr val="18181B"/>
          </a:solidFill>
          <a:ln w="9525">
            <a:solidFill>
              <a:srgbClr val="2B2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22376" y="2112264"/>
            <a:ext cx="329184" cy="329184"/>
          </a:xfrm>
          <a:prstGeom prst="roundRect">
            <a:avLst>
              <a:gd name="adj" fmla="val 8000"/>
            </a:avLst>
          </a:prstGeom>
          <a:solidFill>
            <a:srgbClr val="211B35"/>
          </a:solidFill>
          <a:ln w="7620">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2376" y="2112264"/>
            <a:ext cx="329184" cy="329184"/>
          </a:xfrm>
          <a:prstGeom prst="rect">
            <a:avLst/>
          </a:prstGeom>
          <a:noFill/>
        </p:spPr>
        <p:txBody>
          <a:bodyPr wrap="square" lIns="0" rIns="0" tIns="0" bIns="0" anchor="ctr">
            <a:spAutoFit/>
          </a:bodyPr>
          <a:lstStyle/>
          <a:p>
            <a:pPr algn="ctr">
              <a:lnSpc>
                <a:spcPct val="100000"/>
              </a:lnSpc>
              <a:defRPr sz="680" b="1">
                <a:solidFill>
                  <a:srgbClr val="A78BFA"/>
                </a:solidFill>
                <a:latin typeface="Inter"/>
              </a:defRPr>
            </a:pPr>
            <a:r>
              <a:t>01</a:t>
            </a:r>
          </a:p>
        </p:txBody>
      </p:sp>
      <p:sp>
        <p:nvSpPr>
          <p:cNvPr id="20" name="TextBox 19"/>
          <p:cNvSpPr txBox="1"/>
          <p:nvPr/>
        </p:nvSpPr>
        <p:spPr>
          <a:xfrm>
            <a:off x="1188720" y="2048256"/>
            <a:ext cx="2057400" cy="201168"/>
          </a:xfrm>
          <a:prstGeom prst="rect">
            <a:avLst/>
          </a:prstGeom>
          <a:noFill/>
        </p:spPr>
        <p:txBody>
          <a:bodyPr wrap="square" lIns="0" rIns="0" tIns="0" bIns="0" anchor="t">
            <a:spAutoFit/>
          </a:bodyPr>
          <a:lstStyle/>
          <a:p>
            <a:pPr algn="l">
              <a:lnSpc>
                <a:spcPct val="100000"/>
              </a:lnSpc>
              <a:defRPr sz="830" b="1">
                <a:solidFill>
                  <a:srgbClr val="FAFAFA"/>
                </a:solidFill>
                <a:latin typeface="Inter"/>
              </a:defRPr>
            </a:pPr>
            <a:r>
              <a:t>USER EXPERIENCE</a:t>
            </a:r>
          </a:p>
        </p:txBody>
      </p:sp>
      <p:sp>
        <p:nvSpPr>
          <p:cNvPr id="21" name="TextBox 20"/>
          <p:cNvSpPr txBox="1"/>
          <p:nvPr/>
        </p:nvSpPr>
        <p:spPr>
          <a:xfrm>
            <a:off x="1188720" y="2313432"/>
            <a:ext cx="2194560" cy="201168"/>
          </a:xfrm>
          <a:prstGeom prst="rect">
            <a:avLst/>
          </a:prstGeom>
          <a:noFill/>
        </p:spPr>
        <p:txBody>
          <a:bodyPr wrap="square" lIns="0" rIns="0" tIns="0" bIns="0" anchor="t">
            <a:spAutoFit/>
          </a:bodyPr>
          <a:lstStyle/>
          <a:p>
            <a:pPr algn="l">
              <a:lnSpc>
                <a:spcPct val="100000"/>
              </a:lnSpc>
              <a:defRPr sz="720" b="0">
                <a:solidFill>
                  <a:srgbClr val="A1A1AA"/>
                </a:solidFill>
                <a:latin typeface="Inter"/>
              </a:defRPr>
            </a:pPr>
            <a:r>
              <a:t>Accessible project workspace and review flows</a:t>
            </a:r>
          </a:p>
        </p:txBody>
      </p:sp>
      <p:cxnSp>
        <p:nvCxnSpPr>
          <p:cNvPr id="22" name="Connector 21"/>
          <p:cNvCxnSpPr/>
          <p:nvPr/>
        </p:nvCxnSpPr>
        <p:spPr>
          <a:xfrm>
            <a:off x="3520440" y="2057400"/>
            <a:ext cx="0" cy="457200"/>
          </a:xfrm>
          <a:prstGeom prst="line">
            <a:avLst/>
          </a:prstGeom>
          <a:ln w="6985">
            <a:solidFill>
              <a:srgbClr val="2B2B33"/>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712463" y="2084832"/>
            <a:ext cx="4553712" cy="411480"/>
          </a:xfrm>
          <a:prstGeom prst="rect">
            <a:avLst/>
          </a:prstGeom>
          <a:noFill/>
        </p:spPr>
        <p:txBody>
          <a:bodyPr wrap="square" lIns="0" rIns="0" tIns="0" bIns="0" anchor="t">
            <a:spAutoFit/>
          </a:bodyPr>
          <a:lstStyle/>
          <a:p>
            <a:pPr algn="l">
              <a:lnSpc>
                <a:spcPct val="105000"/>
              </a:lnSpc>
              <a:defRPr sz="760" b="0">
                <a:solidFill>
                  <a:srgbClr val="E4E4E7"/>
                </a:solidFill>
                <a:latin typeface="Inter"/>
              </a:defRPr>
            </a:pPr>
            <a:r>
              <a:t>Next.js • React • TypeScript • Tailwind • Framer Motion</a:t>
            </a:r>
          </a:p>
        </p:txBody>
      </p:sp>
      <p:cxnSp>
        <p:nvCxnSpPr>
          <p:cNvPr id="24" name="Connector 23"/>
          <p:cNvCxnSpPr/>
          <p:nvPr/>
        </p:nvCxnSpPr>
        <p:spPr>
          <a:xfrm>
            <a:off x="4489704" y="2633472"/>
            <a:ext cx="0" cy="128016"/>
          </a:xfrm>
          <a:prstGeom prst="line">
            <a:avLst/>
          </a:prstGeom>
          <a:ln w="12700">
            <a:solidFill>
              <a:srgbClr val="312645"/>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548640" y="2761488"/>
            <a:ext cx="7973568" cy="694944"/>
          </a:xfrm>
          <a:prstGeom prst="roundRect">
            <a:avLst>
              <a:gd name="adj" fmla="val 8000"/>
            </a:avLst>
          </a:prstGeom>
          <a:solidFill>
            <a:srgbClr val="18181B"/>
          </a:solidFill>
          <a:ln w="9525">
            <a:solidFill>
              <a:srgbClr val="2B2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22376" y="2935224"/>
            <a:ext cx="329184" cy="329184"/>
          </a:xfrm>
          <a:prstGeom prst="roundRect">
            <a:avLst>
              <a:gd name="adj" fmla="val 8000"/>
            </a:avLst>
          </a:prstGeom>
          <a:solidFill>
            <a:srgbClr val="211B35"/>
          </a:solidFill>
          <a:ln w="7620">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2376" y="2935224"/>
            <a:ext cx="329184" cy="329184"/>
          </a:xfrm>
          <a:prstGeom prst="rect">
            <a:avLst/>
          </a:prstGeom>
          <a:noFill/>
        </p:spPr>
        <p:txBody>
          <a:bodyPr wrap="square" lIns="0" rIns="0" tIns="0" bIns="0" anchor="ctr">
            <a:spAutoFit/>
          </a:bodyPr>
          <a:lstStyle/>
          <a:p>
            <a:pPr algn="ctr">
              <a:lnSpc>
                <a:spcPct val="100000"/>
              </a:lnSpc>
              <a:defRPr sz="680" b="1">
                <a:solidFill>
                  <a:srgbClr val="60A5FA"/>
                </a:solidFill>
                <a:latin typeface="Inter"/>
              </a:defRPr>
            </a:pPr>
            <a:r>
              <a:t>02</a:t>
            </a:r>
          </a:p>
        </p:txBody>
      </p:sp>
      <p:sp>
        <p:nvSpPr>
          <p:cNvPr id="28" name="TextBox 27"/>
          <p:cNvSpPr txBox="1"/>
          <p:nvPr/>
        </p:nvSpPr>
        <p:spPr>
          <a:xfrm>
            <a:off x="1188720" y="2871216"/>
            <a:ext cx="2057400" cy="201168"/>
          </a:xfrm>
          <a:prstGeom prst="rect">
            <a:avLst/>
          </a:prstGeom>
          <a:noFill/>
        </p:spPr>
        <p:txBody>
          <a:bodyPr wrap="square" lIns="0" rIns="0" tIns="0" bIns="0" anchor="t">
            <a:spAutoFit/>
          </a:bodyPr>
          <a:lstStyle/>
          <a:p>
            <a:pPr algn="l">
              <a:lnSpc>
                <a:spcPct val="100000"/>
              </a:lnSpc>
              <a:defRPr sz="830" b="1">
                <a:solidFill>
                  <a:srgbClr val="FAFAFA"/>
                </a:solidFill>
                <a:latin typeface="Inter"/>
              </a:defRPr>
            </a:pPr>
            <a:r>
              <a:t>APPLICATION SERVICES</a:t>
            </a:r>
          </a:p>
        </p:txBody>
      </p:sp>
      <p:sp>
        <p:nvSpPr>
          <p:cNvPr id="29" name="TextBox 28"/>
          <p:cNvSpPr txBox="1"/>
          <p:nvPr/>
        </p:nvSpPr>
        <p:spPr>
          <a:xfrm>
            <a:off x="1188720" y="3136392"/>
            <a:ext cx="2194560" cy="201168"/>
          </a:xfrm>
          <a:prstGeom prst="rect">
            <a:avLst/>
          </a:prstGeom>
          <a:noFill/>
        </p:spPr>
        <p:txBody>
          <a:bodyPr wrap="square" lIns="0" rIns="0" tIns="0" bIns="0" anchor="t">
            <a:spAutoFit/>
          </a:bodyPr>
          <a:lstStyle/>
          <a:p>
            <a:pPr algn="l">
              <a:lnSpc>
                <a:spcPct val="100000"/>
              </a:lnSpc>
              <a:defRPr sz="720" b="0">
                <a:solidFill>
                  <a:srgbClr val="A1A1AA"/>
                </a:solidFill>
                <a:latin typeface="Inter"/>
              </a:defRPr>
            </a:pPr>
            <a:r>
              <a:t>Validation, orchestration, permissions, and jobs</a:t>
            </a:r>
          </a:p>
        </p:txBody>
      </p:sp>
      <p:cxnSp>
        <p:nvCxnSpPr>
          <p:cNvPr id="30" name="Connector 29"/>
          <p:cNvCxnSpPr/>
          <p:nvPr/>
        </p:nvCxnSpPr>
        <p:spPr>
          <a:xfrm>
            <a:off x="3520440" y="2880360"/>
            <a:ext cx="0" cy="457200"/>
          </a:xfrm>
          <a:prstGeom prst="line">
            <a:avLst/>
          </a:prstGeom>
          <a:ln w="6985">
            <a:solidFill>
              <a:srgbClr val="2B2B33"/>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3712463" y="2907792"/>
            <a:ext cx="4553712" cy="411480"/>
          </a:xfrm>
          <a:prstGeom prst="rect">
            <a:avLst/>
          </a:prstGeom>
          <a:noFill/>
        </p:spPr>
        <p:txBody>
          <a:bodyPr wrap="square" lIns="0" rIns="0" tIns="0" bIns="0" anchor="t">
            <a:spAutoFit/>
          </a:bodyPr>
          <a:lstStyle/>
          <a:p>
            <a:pPr algn="l">
              <a:lnSpc>
                <a:spcPct val="105000"/>
              </a:lnSpc>
              <a:defRPr sz="760" b="0">
                <a:solidFill>
                  <a:srgbClr val="E4E4E7"/>
                </a:solidFill>
                <a:latin typeface="Inter"/>
              </a:defRPr>
            </a:pPr>
            <a:r>
              <a:t>Route Handlers • Zod • migration planner • job coordination</a:t>
            </a:r>
          </a:p>
        </p:txBody>
      </p:sp>
      <p:cxnSp>
        <p:nvCxnSpPr>
          <p:cNvPr id="32" name="Connector 31"/>
          <p:cNvCxnSpPr/>
          <p:nvPr/>
        </p:nvCxnSpPr>
        <p:spPr>
          <a:xfrm>
            <a:off x="4489704" y="3456432"/>
            <a:ext cx="0" cy="128016"/>
          </a:xfrm>
          <a:prstGeom prst="line">
            <a:avLst/>
          </a:prstGeom>
          <a:ln w="12700">
            <a:solidFill>
              <a:srgbClr val="312645"/>
            </a:solidFill>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548640" y="3584448"/>
            <a:ext cx="7973568" cy="694944"/>
          </a:xfrm>
          <a:prstGeom prst="roundRect">
            <a:avLst>
              <a:gd name="adj" fmla="val 8000"/>
            </a:avLst>
          </a:prstGeom>
          <a:solidFill>
            <a:srgbClr val="18181B"/>
          </a:solidFill>
          <a:ln w="9525">
            <a:solidFill>
              <a:srgbClr val="2B2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722376" y="3758184"/>
            <a:ext cx="329184" cy="329184"/>
          </a:xfrm>
          <a:prstGeom prst="roundRect">
            <a:avLst>
              <a:gd name="adj" fmla="val 8000"/>
            </a:avLst>
          </a:prstGeom>
          <a:solidFill>
            <a:srgbClr val="2B2210"/>
          </a:solidFill>
          <a:ln w="7620">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22376" y="3758184"/>
            <a:ext cx="329184" cy="329184"/>
          </a:xfrm>
          <a:prstGeom prst="rect">
            <a:avLst/>
          </a:prstGeom>
          <a:noFill/>
        </p:spPr>
        <p:txBody>
          <a:bodyPr wrap="square" lIns="0" rIns="0" tIns="0" bIns="0" anchor="ctr">
            <a:spAutoFit/>
          </a:bodyPr>
          <a:lstStyle/>
          <a:p>
            <a:pPr algn="ctr">
              <a:lnSpc>
                <a:spcPct val="100000"/>
              </a:lnSpc>
              <a:defRPr sz="680" b="1">
                <a:solidFill>
                  <a:srgbClr val="FBBF24"/>
                </a:solidFill>
                <a:latin typeface="Inter"/>
              </a:defRPr>
            </a:pPr>
            <a:r>
              <a:t>03</a:t>
            </a:r>
          </a:p>
        </p:txBody>
      </p:sp>
      <p:sp>
        <p:nvSpPr>
          <p:cNvPr id="36" name="TextBox 35"/>
          <p:cNvSpPr txBox="1"/>
          <p:nvPr/>
        </p:nvSpPr>
        <p:spPr>
          <a:xfrm>
            <a:off x="1188720" y="3694176"/>
            <a:ext cx="2057400" cy="201168"/>
          </a:xfrm>
          <a:prstGeom prst="rect">
            <a:avLst/>
          </a:prstGeom>
          <a:noFill/>
        </p:spPr>
        <p:txBody>
          <a:bodyPr wrap="square" lIns="0" rIns="0" tIns="0" bIns="0" anchor="t">
            <a:spAutoFit/>
          </a:bodyPr>
          <a:lstStyle/>
          <a:p>
            <a:pPr algn="l">
              <a:lnSpc>
                <a:spcPct val="100000"/>
              </a:lnSpc>
              <a:defRPr sz="830" b="1">
                <a:solidFill>
                  <a:srgbClr val="FAFAFA"/>
                </a:solidFill>
                <a:latin typeface="Inter"/>
              </a:defRPr>
            </a:pPr>
            <a:r>
              <a:t>ANALYSIS + INTELLIGENCE</a:t>
            </a:r>
          </a:p>
        </p:txBody>
      </p:sp>
      <p:sp>
        <p:nvSpPr>
          <p:cNvPr id="37" name="TextBox 36"/>
          <p:cNvSpPr txBox="1"/>
          <p:nvPr/>
        </p:nvSpPr>
        <p:spPr>
          <a:xfrm>
            <a:off x="1188720" y="3959352"/>
            <a:ext cx="2194560" cy="201168"/>
          </a:xfrm>
          <a:prstGeom prst="rect">
            <a:avLst/>
          </a:prstGeom>
          <a:noFill/>
        </p:spPr>
        <p:txBody>
          <a:bodyPr wrap="square" lIns="0" rIns="0" tIns="0" bIns="0" anchor="t">
            <a:spAutoFit/>
          </a:bodyPr>
          <a:lstStyle/>
          <a:p>
            <a:pPr algn="l">
              <a:lnSpc>
                <a:spcPct val="100000"/>
              </a:lnSpc>
              <a:defRPr sz="720" b="0">
                <a:solidFill>
                  <a:srgbClr val="A1A1AA"/>
                </a:solidFill>
                <a:latin typeface="Inter"/>
              </a:defRPr>
            </a:pPr>
            <a:r>
              <a:t>Parse, reason, compare, research, and test</a:t>
            </a:r>
          </a:p>
        </p:txBody>
      </p:sp>
      <p:cxnSp>
        <p:nvCxnSpPr>
          <p:cNvPr id="38" name="Connector 37"/>
          <p:cNvCxnSpPr/>
          <p:nvPr/>
        </p:nvCxnSpPr>
        <p:spPr>
          <a:xfrm>
            <a:off x="3520440" y="3703320"/>
            <a:ext cx="0" cy="457200"/>
          </a:xfrm>
          <a:prstGeom prst="line">
            <a:avLst/>
          </a:prstGeom>
          <a:ln w="6985">
            <a:solidFill>
              <a:srgbClr val="2B2B33"/>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3712463" y="3730752"/>
            <a:ext cx="4553712" cy="411480"/>
          </a:xfrm>
          <a:prstGeom prst="rect">
            <a:avLst/>
          </a:prstGeom>
          <a:noFill/>
        </p:spPr>
        <p:txBody>
          <a:bodyPr wrap="square" lIns="0" rIns="0" tIns="0" bIns="0" anchor="t">
            <a:spAutoFit/>
          </a:bodyPr>
          <a:lstStyle/>
          <a:p>
            <a:pPr algn="l">
              <a:lnSpc>
                <a:spcPct val="105000"/>
              </a:lnSpc>
              <a:defRPr sz="760" b="0">
                <a:solidFill>
                  <a:srgbClr val="E4E4E7"/>
                </a:solidFill>
                <a:latin typeface="Inter"/>
              </a:defRPr>
            </a:pPr>
            <a:r>
              <a:t>Parsers • OpenRouter • Drift Detector • TinyFish • isolated workers</a:t>
            </a:r>
          </a:p>
        </p:txBody>
      </p:sp>
      <p:cxnSp>
        <p:nvCxnSpPr>
          <p:cNvPr id="40" name="Connector 39"/>
          <p:cNvCxnSpPr/>
          <p:nvPr/>
        </p:nvCxnSpPr>
        <p:spPr>
          <a:xfrm>
            <a:off x="4489704" y="4279392"/>
            <a:ext cx="0" cy="128016"/>
          </a:xfrm>
          <a:prstGeom prst="line">
            <a:avLst/>
          </a:prstGeom>
          <a:ln w="12700">
            <a:solidFill>
              <a:srgbClr val="312645"/>
            </a:solidFill>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548640" y="4407408"/>
            <a:ext cx="7973568" cy="694944"/>
          </a:xfrm>
          <a:prstGeom prst="roundRect">
            <a:avLst>
              <a:gd name="adj" fmla="val 8000"/>
            </a:avLst>
          </a:prstGeom>
          <a:solidFill>
            <a:srgbClr val="18181B"/>
          </a:solidFill>
          <a:ln w="9525">
            <a:solidFill>
              <a:srgbClr val="2B2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722376" y="4581144"/>
            <a:ext cx="329184" cy="329184"/>
          </a:xfrm>
          <a:prstGeom prst="roundRect">
            <a:avLst>
              <a:gd name="adj" fmla="val 8000"/>
            </a:avLst>
          </a:prstGeom>
          <a:solidFill>
            <a:srgbClr val="211B35"/>
          </a:solidFill>
          <a:ln w="7620">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22376" y="4581144"/>
            <a:ext cx="329184" cy="329184"/>
          </a:xfrm>
          <a:prstGeom prst="rect">
            <a:avLst/>
          </a:prstGeom>
          <a:noFill/>
        </p:spPr>
        <p:txBody>
          <a:bodyPr wrap="square" lIns="0" rIns="0" tIns="0" bIns="0" anchor="ctr">
            <a:spAutoFit/>
          </a:bodyPr>
          <a:lstStyle/>
          <a:p>
            <a:pPr algn="ctr">
              <a:lnSpc>
                <a:spcPct val="100000"/>
              </a:lnSpc>
              <a:defRPr sz="680" b="1">
                <a:solidFill>
                  <a:srgbClr val="34D399"/>
                </a:solidFill>
                <a:latin typeface="Inter"/>
              </a:defRPr>
            </a:pPr>
            <a:r>
              <a:t>04</a:t>
            </a:r>
          </a:p>
        </p:txBody>
      </p:sp>
      <p:sp>
        <p:nvSpPr>
          <p:cNvPr id="44" name="TextBox 43"/>
          <p:cNvSpPr txBox="1"/>
          <p:nvPr/>
        </p:nvSpPr>
        <p:spPr>
          <a:xfrm>
            <a:off x="1188720" y="4517136"/>
            <a:ext cx="2057400" cy="201168"/>
          </a:xfrm>
          <a:prstGeom prst="rect">
            <a:avLst/>
          </a:prstGeom>
          <a:noFill/>
        </p:spPr>
        <p:txBody>
          <a:bodyPr wrap="square" lIns="0" rIns="0" tIns="0" bIns="0" anchor="t">
            <a:spAutoFit/>
          </a:bodyPr>
          <a:lstStyle/>
          <a:p>
            <a:pPr algn="l">
              <a:lnSpc>
                <a:spcPct val="100000"/>
              </a:lnSpc>
              <a:defRPr sz="830" b="1">
                <a:solidFill>
                  <a:srgbClr val="FAFAFA"/>
                </a:solidFill>
                <a:latin typeface="Inter"/>
              </a:defRPr>
            </a:pPr>
            <a:r>
              <a:t>DATA + IDENTITY</a:t>
            </a:r>
          </a:p>
        </p:txBody>
      </p:sp>
      <p:sp>
        <p:nvSpPr>
          <p:cNvPr id="45" name="TextBox 44"/>
          <p:cNvSpPr txBox="1"/>
          <p:nvPr/>
        </p:nvSpPr>
        <p:spPr>
          <a:xfrm>
            <a:off x="1188720" y="4782312"/>
            <a:ext cx="2194560" cy="201168"/>
          </a:xfrm>
          <a:prstGeom prst="rect">
            <a:avLst/>
          </a:prstGeom>
          <a:noFill/>
        </p:spPr>
        <p:txBody>
          <a:bodyPr wrap="square" lIns="0" rIns="0" tIns="0" bIns="0" anchor="t">
            <a:spAutoFit/>
          </a:bodyPr>
          <a:lstStyle/>
          <a:p>
            <a:pPr algn="l">
              <a:lnSpc>
                <a:spcPct val="100000"/>
              </a:lnSpc>
              <a:defRPr sz="720" b="0">
                <a:solidFill>
                  <a:srgbClr val="A1A1AA"/>
                </a:solidFill>
                <a:latin typeface="Inter"/>
              </a:defRPr>
            </a:pPr>
            <a:r>
              <a:t>Private projects, identity, and traceable evidence</a:t>
            </a:r>
          </a:p>
        </p:txBody>
      </p:sp>
      <p:cxnSp>
        <p:nvCxnSpPr>
          <p:cNvPr id="46" name="Connector 45"/>
          <p:cNvCxnSpPr/>
          <p:nvPr/>
        </p:nvCxnSpPr>
        <p:spPr>
          <a:xfrm>
            <a:off x="3520440" y="4526280"/>
            <a:ext cx="0" cy="457200"/>
          </a:xfrm>
          <a:prstGeom prst="line">
            <a:avLst/>
          </a:prstGeom>
          <a:ln w="6985">
            <a:solidFill>
              <a:srgbClr val="2B2B33"/>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3712463" y="4553712"/>
            <a:ext cx="4553712" cy="411480"/>
          </a:xfrm>
          <a:prstGeom prst="rect">
            <a:avLst/>
          </a:prstGeom>
          <a:noFill/>
        </p:spPr>
        <p:txBody>
          <a:bodyPr wrap="square" lIns="0" rIns="0" tIns="0" bIns="0" anchor="t">
            <a:spAutoFit/>
          </a:bodyPr>
          <a:lstStyle/>
          <a:p>
            <a:pPr algn="l">
              <a:lnSpc>
                <a:spcPct val="105000"/>
              </a:lnSpc>
              <a:defRPr sz="760" b="0">
                <a:solidFill>
                  <a:srgbClr val="E4E4E7"/>
                </a:solidFill>
                <a:latin typeface="Inter"/>
              </a:defRPr>
            </a:pPr>
            <a:r>
              <a:t>Clerk • Supabase PostgreSQL • private Storage • RLS • Pinecone optional</a:t>
            </a:r>
          </a:p>
        </p:txBody>
      </p:sp>
      <p:cxnSp>
        <p:nvCxnSpPr>
          <p:cNvPr id="48" name="Connector 47"/>
          <p:cNvCxnSpPr/>
          <p:nvPr/>
        </p:nvCxnSpPr>
        <p:spPr>
          <a:xfrm>
            <a:off x="4489704" y="5102352"/>
            <a:ext cx="0" cy="128016"/>
          </a:xfrm>
          <a:prstGeom prst="line">
            <a:avLst/>
          </a:prstGeom>
          <a:ln w="12700">
            <a:solidFill>
              <a:srgbClr val="312645"/>
            </a:solidFill>
          </a:ln>
        </p:spPr>
        <p:style>
          <a:lnRef idx="2">
            <a:schemeClr val="accent1"/>
          </a:lnRef>
          <a:fillRef idx="0">
            <a:schemeClr val="accent1"/>
          </a:fillRef>
          <a:effectRef idx="1">
            <a:schemeClr val="accent1"/>
          </a:effectRef>
          <a:fontRef idx="minor">
            <a:schemeClr val="tx1"/>
          </a:fontRef>
        </p:style>
      </p:cxnSp>
      <p:sp>
        <p:nvSpPr>
          <p:cNvPr id="49" name="Rounded Rectangle 48"/>
          <p:cNvSpPr/>
          <p:nvPr/>
        </p:nvSpPr>
        <p:spPr>
          <a:xfrm>
            <a:off x="548640" y="5230368"/>
            <a:ext cx="7973568" cy="694944"/>
          </a:xfrm>
          <a:prstGeom prst="roundRect">
            <a:avLst>
              <a:gd name="adj" fmla="val 8000"/>
            </a:avLst>
          </a:prstGeom>
          <a:solidFill>
            <a:srgbClr val="18181B"/>
          </a:solidFill>
          <a:ln w="9525">
            <a:solidFill>
              <a:srgbClr val="2B2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722376" y="5404104"/>
            <a:ext cx="329184" cy="329184"/>
          </a:xfrm>
          <a:prstGeom prst="roundRect">
            <a:avLst>
              <a:gd name="adj" fmla="val 8000"/>
            </a:avLst>
          </a:prstGeom>
          <a:solidFill>
            <a:srgbClr val="211B35"/>
          </a:solidFill>
          <a:ln w="7620">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22376" y="5404104"/>
            <a:ext cx="329184" cy="329184"/>
          </a:xfrm>
          <a:prstGeom prst="rect">
            <a:avLst/>
          </a:prstGeom>
          <a:noFill/>
        </p:spPr>
        <p:txBody>
          <a:bodyPr wrap="square" lIns="0" rIns="0" tIns="0" bIns="0" anchor="ctr">
            <a:spAutoFit/>
          </a:bodyPr>
          <a:lstStyle/>
          <a:p>
            <a:pPr algn="ctr">
              <a:lnSpc>
                <a:spcPct val="100000"/>
              </a:lnSpc>
              <a:defRPr sz="680" b="1">
                <a:solidFill>
                  <a:srgbClr val="A1A1AA"/>
                </a:solidFill>
                <a:latin typeface="Inter"/>
              </a:defRPr>
            </a:pPr>
            <a:r>
              <a:t>05</a:t>
            </a:r>
          </a:p>
        </p:txBody>
      </p:sp>
      <p:sp>
        <p:nvSpPr>
          <p:cNvPr id="52" name="TextBox 51"/>
          <p:cNvSpPr txBox="1"/>
          <p:nvPr/>
        </p:nvSpPr>
        <p:spPr>
          <a:xfrm>
            <a:off x="1188720" y="5340096"/>
            <a:ext cx="2057400" cy="201168"/>
          </a:xfrm>
          <a:prstGeom prst="rect">
            <a:avLst/>
          </a:prstGeom>
          <a:noFill/>
        </p:spPr>
        <p:txBody>
          <a:bodyPr wrap="square" lIns="0" rIns="0" tIns="0" bIns="0" anchor="t">
            <a:spAutoFit/>
          </a:bodyPr>
          <a:lstStyle/>
          <a:p>
            <a:pPr algn="l">
              <a:lnSpc>
                <a:spcPct val="100000"/>
              </a:lnSpc>
              <a:defRPr sz="830" b="1">
                <a:solidFill>
                  <a:srgbClr val="FAFAFA"/>
                </a:solidFill>
                <a:latin typeface="Inter"/>
              </a:defRPr>
            </a:pPr>
            <a:r>
              <a:t>DELIVERY + OBSERVABILITY</a:t>
            </a:r>
          </a:p>
        </p:txBody>
      </p:sp>
      <p:sp>
        <p:nvSpPr>
          <p:cNvPr id="53" name="TextBox 52"/>
          <p:cNvSpPr txBox="1"/>
          <p:nvPr/>
        </p:nvSpPr>
        <p:spPr>
          <a:xfrm>
            <a:off x="1188720" y="5605272"/>
            <a:ext cx="2194560" cy="201168"/>
          </a:xfrm>
          <a:prstGeom prst="rect">
            <a:avLst/>
          </a:prstGeom>
          <a:noFill/>
        </p:spPr>
        <p:txBody>
          <a:bodyPr wrap="square" lIns="0" rIns="0" tIns="0" bIns="0" anchor="t">
            <a:spAutoFit/>
          </a:bodyPr>
          <a:lstStyle/>
          <a:p>
            <a:pPr algn="l">
              <a:lnSpc>
                <a:spcPct val="100000"/>
              </a:lnSpc>
              <a:defRPr sz="720" b="0">
                <a:solidFill>
                  <a:srgbClr val="A1A1AA"/>
                </a:solidFill>
                <a:latin typeface="Inter"/>
              </a:defRPr>
            </a:pPr>
            <a:r>
              <a:t>CI/CD, deployment, monitoring, and test tooling</a:t>
            </a:r>
          </a:p>
        </p:txBody>
      </p:sp>
      <p:cxnSp>
        <p:nvCxnSpPr>
          <p:cNvPr id="54" name="Connector 53"/>
          <p:cNvCxnSpPr/>
          <p:nvPr/>
        </p:nvCxnSpPr>
        <p:spPr>
          <a:xfrm>
            <a:off x="3520440" y="5349240"/>
            <a:ext cx="0" cy="457200"/>
          </a:xfrm>
          <a:prstGeom prst="line">
            <a:avLst/>
          </a:prstGeom>
          <a:ln w="6985">
            <a:solidFill>
              <a:srgbClr val="2B2B33"/>
            </a:solidFill>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3712463" y="5376672"/>
            <a:ext cx="4553712" cy="411480"/>
          </a:xfrm>
          <a:prstGeom prst="rect">
            <a:avLst/>
          </a:prstGeom>
          <a:noFill/>
        </p:spPr>
        <p:txBody>
          <a:bodyPr wrap="square" lIns="0" rIns="0" tIns="0" bIns="0" anchor="t">
            <a:spAutoFit/>
          </a:bodyPr>
          <a:lstStyle/>
          <a:p>
            <a:pPr algn="l">
              <a:lnSpc>
                <a:spcPct val="105000"/>
              </a:lnSpc>
              <a:defRPr sz="760" b="0">
                <a:solidFill>
                  <a:srgbClr val="E4E4E7"/>
                </a:solidFill>
                <a:latin typeface="Inter"/>
              </a:defRPr>
            </a:pPr>
            <a:r>
              <a:t>GitHub Actions • Vercel • Cloudflare • Resend • PostHog • Sentry • Docker • Vitest • Playwright</a:t>
            </a:r>
          </a:p>
        </p:txBody>
      </p:sp>
      <p:sp>
        <p:nvSpPr>
          <p:cNvPr id="56" name="Rounded Rectangle 55"/>
          <p:cNvSpPr/>
          <p:nvPr/>
        </p:nvSpPr>
        <p:spPr>
          <a:xfrm>
            <a:off x="932688" y="6062472"/>
            <a:ext cx="7178040" cy="256032"/>
          </a:xfrm>
          <a:prstGeom prst="roundRect">
            <a:avLst>
              <a:gd name="adj" fmla="val 8000"/>
            </a:avLst>
          </a:prstGeom>
          <a:solidFill>
            <a:srgbClr val="2B2210"/>
          </a:solidFill>
          <a:ln w="7620">
            <a:solidFill>
              <a:srgbClr val="2B221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69264" y="6071616"/>
            <a:ext cx="7104888" cy="237744"/>
          </a:xfrm>
          <a:prstGeom prst="rect">
            <a:avLst/>
          </a:prstGeom>
          <a:noFill/>
        </p:spPr>
        <p:txBody>
          <a:bodyPr wrap="square" lIns="0" rIns="0" tIns="0" bIns="0" anchor="ctr">
            <a:spAutoFit/>
          </a:bodyPr>
          <a:lstStyle/>
          <a:p>
            <a:pPr algn="ctr">
              <a:lnSpc>
                <a:spcPct val="100000"/>
              </a:lnSpc>
              <a:defRPr sz="670" b="1">
                <a:solidFill>
                  <a:srgbClr val="FBBF24"/>
                </a:solidFill>
                <a:latin typeface="Inter"/>
              </a:defRPr>
            </a:pPr>
            <a:r>
              <a:t>UNTRUSTED CODE → ISOLATED WORKER • NEVER ORDINARY WEB REQUESTS</a:t>
            </a:r>
          </a:p>
        </p:txBody>
      </p:sp>
      <p:sp>
        <p:nvSpPr>
          <p:cNvPr id="58" name="Rounded Rectangle 57"/>
          <p:cNvSpPr/>
          <p:nvPr/>
        </p:nvSpPr>
        <p:spPr>
          <a:xfrm>
            <a:off x="8796528" y="1938528"/>
            <a:ext cx="2834640" cy="4379976"/>
          </a:xfrm>
          <a:prstGeom prst="roundRect">
            <a:avLst>
              <a:gd name="adj" fmla="val 8000"/>
            </a:avLst>
          </a:prstGeom>
          <a:solidFill>
            <a:srgbClr val="111114"/>
          </a:solidFill>
          <a:ln w="9525">
            <a:solidFill>
              <a:srgbClr val="2B2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052560" y="2185416"/>
            <a:ext cx="1920240" cy="201168"/>
          </a:xfrm>
          <a:prstGeom prst="rect">
            <a:avLst/>
          </a:prstGeom>
          <a:noFill/>
        </p:spPr>
        <p:txBody>
          <a:bodyPr wrap="square" lIns="0" rIns="0" tIns="0" bIns="0" anchor="t">
            <a:spAutoFit/>
          </a:bodyPr>
          <a:lstStyle/>
          <a:p>
            <a:pPr algn="l">
              <a:lnSpc>
                <a:spcPct val="100000"/>
              </a:lnSpc>
              <a:defRPr sz="750" b="1">
                <a:solidFill>
                  <a:srgbClr val="A78BFA"/>
                </a:solidFill>
                <a:latin typeface="Inter"/>
              </a:defRPr>
            </a:pPr>
            <a:r>
              <a:t>SECURITY STRIP</a:t>
            </a:r>
          </a:p>
        </p:txBody>
      </p:sp>
      <p:sp>
        <p:nvSpPr>
          <p:cNvPr id="60" name="Rounded Rectangle 59"/>
          <p:cNvSpPr/>
          <p:nvPr/>
        </p:nvSpPr>
        <p:spPr>
          <a:xfrm>
            <a:off x="9052560" y="2606040"/>
            <a:ext cx="256032" cy="256032"/>
          </a:xfrm>
          <a:prstGeom prst="roundRect">
            <a:avLst>
              <a:gd name="adj" fmla="val 8000"/>
            </a:avLst>
          </a:prstGeom>
          <a:solidFill>
            <a:srgbClr val="211B35"/>
          </a:solidFill>
          <a:ln w="7620">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9052560" y="2606040"/>
            <a:ext cx="256032" cy="256032"/>
          </a:xfrm>
          <a:prstGeom prst="rect">
            <a:avLst/>
          </a:prstGeom>
          <a:noFill/>
        </p:spPr>
        <p:txBody>
          <a:bodyPr wrap="square" lIns="0" rIns="0" tIns="0" bIns="0" anchor="ctr">
            <a:spAutoFit/>
          </a:bodyPr>
          <a:lstStyle/>
          <a:p>
            <a:pPr algn="ctr">
              <a:lnSpc>
                <a:spcPct val="100000"/>
              </a:lnSpc>
              <a:defRPr sz="620" b="1">
                <a:solidFill>
                  <a:srgbClr val="A78BFA"/>
                </a:solidFill>
                <a:latin typeface="Inter"/>
              </a:defRPr>
            </a:pPr>
            <a:r>
              <a:t>1</a:t>
            </a:r>
          </a:p>
        </p:txBody>
      </p:sp>
      <p:sp>
        <p:nvSpPr>
          <p:cNvPr id="62" name="TextBox 61"/>
          <p:cNvSpPr txBox="1"/>
          <p:nvPr/>
        </p:nvSpPr>
        <p:spPr>
          <a:xfrm>
            <a:off x="9436608" y="2624328"/>
            <a:ext cx="1490472" cy="182880"/>
          </a:xfrm>
          <a:prstGeom prst="rect">
            <a:avLst/>
          </a:prstGeom>
          <a:noFill/>
        </p:spPr>
        <p:txBody>
          <a:bodyPr wrap="square" lIns="0" rIns="0" tIns="0" bIns="0" anchor="t">
            <a:spAutoFit/>
          </a:bodyPr>
          <a:lstStyle/>
          <a:p>
            <a:pPr algn="l">
              <a:lnSpc>
                <a:spcPct val="100000"/>
              </a:lnSpc>
              <a:defRPr sz="819" b="1">
                <a:solidFill>
                  <a:srgbClr val="E4E4E7"/>
                </a:solidFill>
                <a:latin typeface="Inter"/>
              </a:defRPr>
            </a:pPr>
            <a:r>
              <a:t>Private source storage</a:t>
            </a:r>
          </a:p>
        </p:txBody>
      </p:sp>
      <p:sp>
        <p:nvSpPr>
          <p:cNvPr id="63" name="TextBox 62"/>
          <p:cNvSpPr txBox="1"/>
          <p:nvPr/>
        </p:nvSpPr>
        <p:spPr>
          <a:xfrm>
            <a:off x="10899648" y="2633472"/>
            <a:ext cx="457200" cy="164592"/>
          </a:xfrm>
          <a:prstGeom prst="rect">
            <a:avLst/>
          </a:prstGeom>
          <a:noFill/>
        </p:spPr>
        <p:txBody>
          <a:bodyPr wrap="square" lIns="0" rIns="0" tIns="0" bIns="0" anchor="t">
            <a:spAutoFit/>
          </a:bodyPr>
          <a:lstStyle/>
          <a:p>
            <a:pPr algn="r">
              <a:lnSpc>
                <a:spcPct val="100000"/>
              </a:lnSpc>
              <a:defRPr sz="620" b="0">
                <a:solidFill>
                  <a:srgbClr val="71717A"/>
                </a:solidFill>
                <a:latin typeface="Inter"/>
              </a:defRPr>
            </a:pPr>
            <a:r>
              <a:t>PROJECT</a:t>
            </a:r>
          </a:p>
        </p:txBody>
      </p:sp>
      <p:sp>
        <p:nvSpPr>
          <p:cNvPr id="64" name="Rounded Rectangle 63"/>
          <p:cNvSpPr/>
          <p:nvPr/>
        </p:nvSpPr>
        <p:spPr>
          <a:xfrm>
            <a:off x="9052560" y="3081528"/>
            <a:ext cx="256032" cy="256032"/>
          </a:xfrm>
          <a:prstGeom prst="roundRect">
            <a:avLst>
              <a:gd name="adj" fmla="val 8000"/>
            </a:avLst>
          </a:prstGeom>
          <a:solidFill>
            <a:srgbClr val="211B35"/>
          </a:solidFill>
          <a:ln w="7620">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052560" y="3081528"/>
            <a:ext cx="256032" cy="256032"/>
          </a:xfrm>
          <a:prstGeom prst="rect">
            <a:avLst/>
          </a:prstGeom>
          <a:noFill/>
        </p:spPr>
        <p:txBody>
          <a:bodyPr wrap="square" lIns="0" rIns="0" tIns="0" bIns="0" anchor="ctr">
            <a:spAutoFit/>
          </a:bodyPr>
          <a:lstStyle/>
          <a:p>
            <a:pPr algn="ctr">
              <a:lnSpc>
                <a:spcPct val="100000"/>
              </a:lnSpc>
              <a:defRPr sz="620" b="1">
                <a:solidFill>
                  <a:srgbClr val="A78BFA"/>
                </a:solidFill>
                <a:latin typeface="Inter"/>
              </a:defRPr>
            </a:pPr>
            <a:r>
              <a:t>2</a:t>
            </a:r>
          </a:p>
        </p:txBody>
      </p:sp>
      <p:sp>
        <p:nvSpPr>
          <p:cNvPr id="66" name="TextBox 65"/>
          <p:cNvSpPr txBox="1"/>
          <p:nvPr/>
        </p:nvSpPr>
        <p:spPr>
          <a:xfrm>
            <a:off x="9436608" y="3099816"/>
            <a:ext cx="1490472" cy="182880"/>
          </a:xfrm>
          <a:prstGeom prst="rect">
            <a:avLst/>
          </a:prstGeom>
          <a:noFill/>
        </p:spPr>
        <p:txBody>
          <a:bodyPr wrap="square" lIns="0" rIns="0" tIns="0" bIns="0" anchor="t">
            <a:spAutoFit/>
          </a:bodyPr>
          <a:lstStyle/>
          <a:p>
            <a:pPr algn="l">
              <a:lnSpc>
                <a:spcPct val="100000"/>
              </a:lnSpc>
              <a:defRPr sz="819" b="1">
                <a:solidFill>
                  <a:srgbClr val="E4E4E7"/>
                </a:solidFill>
                <a:latin typeface="Inter"/>
              </a:defRPr>
            </a:pPr>
            <a:r>
              <a:t>Server-side secrets</a:t>
            </a:r>
          </a:p>
        </p:txBody>
      </p:sp>
      <p:sp>
        <p:nvSpPr>
          <p:cNvPr id="67" name="TextBox 66"/>
          <p:cNvSpPr txBox="1"/>
          <p:nvPr/>
        </p:nvSpPr>
        <p:spPr>
          <a:xfrm>
            <a:off x="10899648" y="3108960"/>
            <a:ext cx="457200" cy="164592"/>
          </a:xfrm>
          <a:prstGeom prst="rect">
            <a:avLst/>
          </a:prstGeom>
          <a:noFill/>
        </p:spPr>
        <p:txBody>
          <a:bodyPr wrap="square" lIns="0" rIns="0" tIns="0" bIns="0" anchor="t">
            <a:spAutoFit/>
          </a:bodyPr>
          <a:lstStyle/>
          <a:p>
            <a:pPr algn="r">
              <a:lnSpc>
                <a:spcPct val="100000"/>
              </a:lnSpc>
              <a:defRPr sz="620" b="0">
                <a:solidFill>
                  <a:srgbClr val="71717A"/>
                </a:solidFill>
                <a:latin typeface="Inter"/>
              </a:defRPr>
            </a:pPr>
            <a:r>
              <a:t>ENV</a:t>
            </a:r>
          </a:p>
        </p:txBody>
      </p:sp>
      <p:sp>
        <p:nvSpPr>
          <p:cNvPr id="68" name="Rounded Rectangle 67"/>
          <p:cNvSpPr/>
          <p:nvPr/>
        </p:nvSpPr>
        <p:spPr>
          <a:xfrm>
            <a:off x="9052560" y="3557016"/>
            <a:ext cx="256032" cy="256032"/>
          </a:xfrm>
          <a:prstGeom prst="roundRect">
            <a:avLst>
              <a:gd name="adj" fmla="val 8000"/>
            </a:avLst>
          </a:prstGeom>
          <a:solidFill>
            <a:srgbClr val="211B35"/>
          </a:solidFill>
          <a:ln w="7620">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9052560" y="3557016"/>
            <a:ext cx="256032" cy="256032"/>
          </a:xfrm>
          <a:prstGeom prst="rect">
            <a:avLst/>
          </a:prstGeom>
          <a:noFill/>
        </p:spPr>
        <p:txBody>
          <a:bodyPr wrap="square" lIns="0" rIns="0" tIns="0" bIns="0" anchor="ctr">
            <a:spAutoFit/>
          </a:bodyPr>
          <a:lstStyle/>
          <a:p>
            <a:pPr algn="ctr">
              <a:lnSpc>
                <a:spcPct val="100000"/>
              </a:lnSpc>
              <a:defRPr sz="620" b="1">
                <a:solidFill>
                  <a:srgbClr val="A78BFA"/>
                </a:solidFill>
                <a:latin typeface="Inter"/>
              </a:defRPr>
            </a:pPr>
            <a:r>
              <a:t>3</a:t>
            </a:r>
          </a:p>
        </p:txBody>
      </p:sp>
      <p:sp>
        <p:nvSpPr>
          <p:cNvPr id="70" name="TextBox 69"/>
          <p:cNvSpPr txBox="1"/>
          <p:nvPr/>
        </p:nvSpPr>
        <p:spPr>
          <a:xfrm>
            <a:off x="9436608" y="3575304"/>
            <a:ext cx="1490472" cy="182880"/>
          </a:xfrm>
          <a:prstGeom prst="rect">
            <a:avLst/>
          </a:prstGeom>
          <a:noFill/>
        </p:spPr>
        <p:txBody>
          <a:bodyPr wrap="square" lIns="0" rIns="0" tIns="0" bIns="0" anchor="t">
            <a:spAutoFit/>
          </a:bodyPr>
          <a:lstStyle/>
          <a:p>
            <a:pPr algn="l">
              <a:lnSpc>
                <a:spcPct val="100000"/>
              </a:lnSpc>
              <a:defRPr sz="819" b="1">
                <a:solidFill>
                  <a:srgbClr val="E4E4E7"/>
                </a:solidFill>
                <a:latin typeface="Inter"/>
              </a:defRPr>
            </a:pPr>
            <a:r>
              <a:t>Project-level access</a:t>
            </a:r>
          </a:p>
        </p:txBody>
      </p:sp>
      <p:sp>
        <p:nvSpPr>
          <p:cNvPr id="71" name="TextBox 70"/>
          <p:cNvSpPr txBox="1"/>
          <p:nvPr/>
        </p:nvSpPr>
        <p:spPr>
          <a:xfrm>
            <a:off x="10899648" y="3584448"/>
            <a:ext cx="457200" cy="164592"/>
          </a:xfrm>
          <a:prstGeom prst="rect">
            <a:avLst/>
          </a:prstGeom>
          <a:noFill/>
        </p:spPr>
        <p:txBody>
          <a:bodyPr wrap="square" lIns="0" rIns="0" tIns="0" bIns="0" anchor="t">
            <a:spAutoFit/>
          </a:bodyPr>
          <a:lstStyle/>
          <a:p>
            <a:pPr algn="r">
              <a:lnSpc>
                <a:spcPct val="100000"/>
              </a:lnSpc>
              <a:defRPr sz="620" b="0">
                <a:solidFill>
                  <a:srgbClr val="71717A"/>
                </a:solidFill>
                <a:latin typeface="Inter"/>
              </a:defRPr>
            </a:pPr>
            <a:r>
              <a:t>RLS</a:t>
            </a:r>
          </a:p>
        </p:txBody>
      </p:sp>
      <p:sp>
        <p:nvSpPr>
          <p:cNvPr id="72" name="Rounded Rectangle 71"/>
          <p:cNvSpPr/>
          <p:nvPr/>
        </p:nvSpPr>
        <p:spPr>
          <a:xfrm>
            <a:off x="9052560" y="4032504"/>
            <a:ext cx="256032" cy="256032"/>
          </a:xfrm>
          <a:prstGeom prst="roundRect">
            <a:avLst>
              <a:gd name="adj" fmla="val 8000"/>
            </a:avLst>
          </a:prstGeom>
          <a:solidFill>
            <a:srgbClr val="211B35"/>
          </a:solidFill>
          <a:ln w="7620">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052560" y="4032504"/>
            <a:ext cx="256032" cy="256032"/>
          </a:xfrm>
          <a:prstGeom prst="rect">
            <a:avLst/>
          </a:prstGeom>
          <a:noFill/>
        </p:spPr>
        <p:txBody>
          <a:bodyPr wrap="square" lIns="0" rIns="0" tIns="0" bIns="0" anchor="ctr">
            <a:spAutoFit/>
          </a:bodyPr>
          <a:lstStyle/>
          <a:p>
            <a:pPr algn="ctr">
              <a:lnSpc>
                <a:spcPct val="100000"/>
              </a:lnSpc>
              <a:defRPr sz="620" b="1">
                <a:solidFill>
                  <a:srgbClr val="A78BFA"/>
                </a:solidFill>
                <a:latin typeface="Inter"/>
              </a:defRPr>
            </a:pPr>
            <a:r>
              <a:t>4</a:t>
            </a:r>
          </a:p>
        </p:txBody>
      </p:sp>
      <p:sp>
        <p:nvSpPr>
          <p:cNvPr id="74" name="TextBox 73"/>
          <p:cNvSpPr txBox="1"/>
          <p:nvPr/>
        </p:nvSpPr>
        <p:spPr>
          <a:xfrm>
            <a:off x="9436608" y="4050791"/>
            <a:ext cx="1490472" cy="182880"/>
          </a:xfrm>
          <a:prstGeom prst="rect">
            <a:avLst/>
          </a:prstGeom>
          <a:noFill/>
        </p:spPr>
        <p:txBody>
          <a:bodyPr wrap="square" lIns="0" rIns="0" tIns="0" bIns="0" anchor="t">
            <a:spAutoFit/>
          </a:bodyPr>
          <a:lstStyle/>
          <a:p>
            <a:pPr algn="l">
              <a:lnSpc>
                <a:spcPct val="100000"/>
              </a:lnSpc>
              <a:defRPr sz="819" b="1">
                <a:solidFill>
                  <a:srgbClr val="E4E4E7"/>
                </a:solidFill>
                <a:latin typeface="Inter"/>
              </a:defRPr>
            </a:pPr>
            <a:r>
              <a:t>Isolated execution</a:t>
            </a:r>
          </a:p>
        </p:txBody>
      </p:sp>
      <p:sp>
        <p:nvSpPr>
          <p:cNvPr id="75" name="TextBox 74"/>
          <p:cNvSpPr txBox="1"/>
          <p:nvPr/>
        </p:nvSpPr>
        <p:spPr>
          <a:xfrm>
            <a:off x="10899648" y="4059936"/>
            <a:ext cx="457200" cy="164592"/>
          </a:xfrm>
          <a:prstGeom prst="rect">
            <a:avLst/>
          </a:prstGeom>
          <a:noFill/>
        </p:spPr>
        <p:txBody>
          <a:bodyPr wrap="square" lIns="0" rIns="0" tIns="0" bIns="0" anchor="t">
            <a:spAutoFit/>
          </a:bodyPr>
          <a:lstStyle/>
          <a:p>
            <a:pPr algn="r">
              <a:lnSpc>
                <a:spcPct val="100000"/>
              </a:lnSpc>
              <a:defRPr sz="620" b="0">
                <a:solidFill>
                  <a:srgbClr val="71717A"/>
                </a:solidFill>
                <a:latin typeface="Inter"/>
              </a:defRPr>
            </a:pPr>
            <a:r>
              <a:t>WORKER</a:t>
            </a:r>
          </a:p>
        </p:txBody>
      </p:sp>
      <p:sp>
        <p:nvSpPr>
          <p:cNvPr id="76" name="Rounded Rectangle 75"/>
          <p:cNvSpPr/>
          <p:nvPr/>
        </p:nvSpPr>
        <p:spPr>
          <a:xfrm>
            <a:off x="9052560" y="4507992"/>
            <a:ext cx="256032" cy="256032"/>
          </a:xfrm>
          <a:prstGeom prst="roundRect">
            <a:avLst>
              <a:gd name="adj" fmla="val 8000"/>
            </a:avLst>
          </a:prstGeom>
          <a:solidFill>
            <a:srgbClr val="211B35"/>
          </a:solidFill>
          <a:ln w="7620">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9052560" y="4507992"/>
            <a:ext cx="256032" cy="256032"/>
          </a:xfrm>
          <a:prstGeom prst="rect">
            <a:avLst/>
          </a:prstGeom>
          <a:noFill/>
        </p:spPr>
        <p:txBody>
          <a:bodyPr wrap="square" lIns="0" rIns="0" tIns="0" bIns="0" anchor="ctr">
            <a:spAutoFit/>
          </a:bodyPr>
          <a:lstStyle/>
          <a:p>
            <a:pPr algn="ctr">
              <a:lnSpc>
                <a:spcPct val="100000"/>
              </a:lnSpc>
              <a:defRPr sz="620" b="1">
                <a:solidFill>
                  <a:srgbClr val="A78BFA"/>
                </a:solidFill>
                <a:latin typeface="Inter"/>
              </a:defRPr>
            </a:pPr>
            <a:r>
              <a:t>5</a:t>
            </a:r>
          </a:p>
        </p:txBody>
      </p:sp>
      <p:sp>
        <p:nvSpPr>
          <p:cNvPr id="78" name="TextBox 77"/>
          <p:cNvSpPr txBox="1"/>
          <p:nvPr/>
        </p:nvSpPr>
        <p:spPr>
          <a:xfrm>
            <a:off x="9436608" y="4526279"/>
            <a:ext cx="1490472" cy="182880"/>
          </a:xfrm>
          <a:prstGeom prst="rect">
            <a:avLst/>
          </a:prstGeom>
          <a:noFill/>
        </p:spPr>
        <p:txBody>
          <a:bodyPr wrap="square" lIns="0" rIns="0" tIns="0" bIns="0" anchor="t">
            <a:spAutoFit/>
          </a:bodyPr>
          <a:lstStyle/>
          <a:p>
            <a:pPr algn="l">
              <a:lnSpc>
                <a:spcPct val="100000"/>
              </a:lnSpc>
              <a:defRPr sz="819" b="1">
                <a:solidFill>
                  <a:srgbClr val="E4E4E7"/>
                </a:solidFill>
                <a:latin typeface="Inter"/>
              </a:defRPr>
            </a:pPr>
            <a:r>
              <a:t>Human approvals</a:t>
            </a:r>
          </a:p>
        </p:txBody>
      </p:sp>
      <p:sp>
        <p:nvSpPr>
          <p:cNvPr id="79" name="TextBox 78"/>
          <p:cNvSpPr txBox="1"/>
          <p:nvPr/>
        </p:nvSpPr>
        <p:spPr>
          <a:xfrm>
            <a:off x="10899648" y="4535424"/>
            <a:ext cx="457200" cy="164592"/>
          </a:xfrm>
          <a:prstGeom prst="rect">
            <a:avLst/>
          </a:prstGeom>
          <a:noFill/>
        </p:spPr>
        <p:txBody>
          <a:bodyPr wrap="square" lIns="0" rIns="0" tIns="0" bIns="0" anchor="t">
            <a:spAutoFit/>
          </a:bodyPr>
          <a:lstStyle/>
          <a:p>
            <a:pPr algn="r">
              <a:lnSpc>
                <a:spcPct val="100000"/>
              </a:lnSpc>
              <a:defRPr sz="620" b="0">
                <a:solidFill>
                  <a:srgbClr val="71717A"/>
                </a:solidFill>
                <a:latin typeface="Inter"/>
              </a:defRPr>
            </a:pPr>
            <a:r>
              <a:t>REVIEW</a:t>
            </a:r>
          </a:p>
        </p:txBody>
      </p:sp>
      <p:sp>
        <p:nvSpPr>
          <p:cNvPr id="80" name="Rounded Rectangle 79"/>
          <p:cNvSpPr/>
          <p:nvPr/>
        </p:nvSpPr>
        <p:spPr>
          <a:xfrm>
            <a:off x="9052560" y="4983480"/>
            <a:ext cx="256032" cy="256032"/>
          </a:xfrm>
          <a:prstGeom prst="roundRect">
            <a:avLst>
              <a:gd name="adj" fmla="val 8000"/>
            </a:avLst>
          </a:prstGeom>
          <a:solidFill>
            <a:srgbClr val="211B35"/>
          </a:solidFill>
          <a:ln w="7620">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9052560" y="4983480"/>
            <a:ext cx="256032" cy="256032"/>
          </a:xfrm>
          <a:prstGeom prst="rect">
            <a:avLst/>
          </a:prstGeom>
          <a:noFill/>
        </p:spPr>
        <p:txBody>
          <a:bodyPr wrap="square" lIns="0" rIns="0" tIns="0" bIns="0" anchor="ctr">
            <a:spAutoFit/>
          </a:bodyPr>
          <a:lstStyle/>
          <a:p>
            <a:pPr algn="ctr">
              <a:lnSpc>
                <a:spcPct val="100000"/>
              </a:lnSpc>
              <a:defRPr sz="620" b="1">
                <a:solidFill>
                  <a:srgbClr val="A78BFA"/>
                </a:solidFill>
                <a:latin typeface="Inter"/>
              </a:defRPr>
            </a:pPr>
            <a:r>
              <a:t>6</a:t>
            </a:r>
          </a:p>
        </p:txBody>
      </p:sp>
      <p:sp>
        <p:nvSpPr>
          <p:cNvPr id="82" name="TextBox 81"/>
          <p:cNvSpPr txBox="1"/>
          <p:nvPr/>
        </p:nvSpPr>
        <p:spPr>
          <a:xfrm>
            <a:off x="9436608" y="5001768"/>
            <a:ext cx="1490472" cy="182880"/>
          </a:xfrm>
          <a:prstGeom prst="rect">
            <a:avLst/>
          </a:prstGeom>
          <a:noFill/>
        </p:spPr>
        <p:txBody>
          <a:bodyPr wrap="square" lIns="0" rIns="0" tIns="0" bIns="0" anchor="t">
            <a:spAutoFit/>
          </a:bodyPr>
          <a:lstStyle/>
          <a:p>
            <a:pPr algn="l">
              <a:lnSpc>
                <a:spcPct val="100000"/>
              </a:lnSpc>
              <a:defRPr sz="819" b="1">
                <a:solidFill>
                  <a:srgbClr val="E4E4E7"/>
                </a:solidFill>
                <a:latin typeface="Inter"/>
              </a:defRPr>
            </a:pPr>
            <a:r>
              <a:t>Traceable results</a:t>
            </a:r>
          </a:p>
        </p:txBody>
      </p:sp>
      <p:sp>
        <p:nvSpPr>
          <p:cNvPr id="83" name="TextBox 82"/>
          <p:cNvSpPr txBox="1"/>
          <p:nvPr/>
        </p:nvSpPr>
        <p:spPr>
          <a:xfrm>
            <a:off x="10899648" y="5010912"/>
            <a:ext cx="457200" cy="164592"/>
          </a:xfrm>
          <a:prstGeom prst="rect">
            <a:avLst/>
          </a:prstGeom>
          <a:noFill/>
        </p:spPr>
        <p:txBody>
          <a:bodyPr wrap="square" lIns="0" rIns="0" tIns="0" bIns="0" anchor="t">
            <a:spAutoFit/>
          </a:bodyPr>
          <a:lstStyle/>
          <a:p>
            <a:pPr algn="r">
              <a:lnSpc>
                <a:spcPct val="100000"/>
              </a:lnSpc>
              <a:defRPr sz="620" b="0">
                <a:solidFill>
                  <a:srgbClr val="71717A"/>
                </a:solidFill>
                <a:latin typeface="Inter"/>
              </a:defRPr>
            </a:pPr>
            <a:r>
              <a:t>AUDIT</a:t>
            </a:r>
          </a:p>
        </p:txBody>
      </p:sp>
      <p:cxnSp>
        <p:nvCxnSpPr>
          <p:cNvPr id="84" name="Connector 83"/>
          <p:cNvCxnSpPr/>
          <p:nvPr/>
        </p:nvCxnSpPr>
        <p:spPr>
          <a:xfrm>
            <a:off x="9052560" y="5532120"/>
            <a:ext cx="2313432" cy="0"/>
          </a:xfrm>
          <a:prstGeom prst="line">
            <a:avLst/>
          </a:prstGeom>
          <a:ln w="6985">
            <a:solidFill>
              <a:srgbClr val="2B2B33"/>
            </a:solidFill>
          </a:ln>
        </p:spPr>
        <p:style>
          <a:lnRef idx="2">
            <a:schemeClr val="accent1"/>
          </a:lnRef>
          <a:fillRef idx="0">
            <a:schemeClr val="accent1"/>
          </a:fillRef>
          <a:effectRef idx="1">
            <a:schemeClr val="accent1"/>
          </a:effectRef>
          <a:fontRef idx="minor">
            <a:schemeClr val="tx1"/>
          </a:fontRef>
        </p:style>
      </p:cxnSp>
      <p:sp>
        <p:nvSpPr>
          <p:cNvPr id="85" name="TextBox 84"/>
          <p:cNvSpPr txBox="1"/>
          <p:nvPr/>
        </p:nvSpPr>
        <p:spPr>
          <a:xfrm>
            <a:off x="9052560" y="5687568"/>
            <a:ext cx="731520" cy="164592"/>
          </a:xfrm>
          <a:prstGeom prst="rect">
            <a:avLst/>
          </a:prstGeom>
          <a:noFill/>
        </p:spPr>
        <p:txBody>
          <a:bodyPr wrap="square" lIns="0" rIns="0" tIns="0" bIns="0" anchor="t">
            <a:spAutoFit/>
          </a:bodyPr>
          <a:lstStyle/>
          <a:p>
            <a:pPr algn="l">
              <a:lnSpc>
                <a:spcPct val="100000"/>
              </a:lnSpc>
              <a:defRPr sz="650" b="1">
                <a:solidFill>
                  <a:srgbClr val="71717A"/>
                </a:solidFill>
                <a:latin typeface="Inter"/>
              </a:defRPr>
            </a:pPr>
            <a:r>
              <a:t>OPTIONAL</a:t>
            </a:r>
          </a:p>
        </p:txBody>
      </p:sp>
      <p:sp>
        <p:nvSpPr>
          <p:cNvPr id="86" name="TextBox 85"/>
          <p:cNvSpPr txBox="1"/>
          <p:nvPr/>
        </p:nvSpPr>
        <p:spPr>
          <a:xfrm>
            <a:off x="9052560" y="5925312"/>
            <a:ext cx="2148840" cy="365760"/>
          </a:xfrm>
          <a:prstGeom prst="rect">
            <a:avLst/>
          </a:prstGeom>
          <a:noFill/>
        </p:spPr>
        <p:txBody>
          <a:bodyPr wrap="square" lIns="0" rIns="0" tIns="0" bIns="0" anchor="t">
            <a:spAutoFit/>
          </a:bodyPr>
          <a:lstStyle/>
          <a:p>
            <a:pPr algn="l">
              <a:lnSpc>
                <a:spcPct val="100000"/>
              </a:lnSpc>
              <a:defRPr sz="730" b="0">
                <a:solidFill>
                  <a:srgbClr val="A1A1AA"/>
                </a:solidFill>
                <a:latin typeface="Inter"/>
              </a:defRPr>
            </a:pPr>
            <a:r>
              <a:t>Pinecone for semantic retrieval</a:t>
            </a:r>
            <a:br/>
            <a:r>
              <a:t>Stripe only if payments launch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9090B"/>
        </a:solidFill>
        <a:effectLst/>
      </p:bgPr>
    </p:bg>
    <p:spTree>
      <p:nvGrpSpPr>
        <p:cNvPr id="1" name=""/>
        <p:cNvGrpSpPr/>
        <p:nvPr/>
      </p:nvGrpSpPr>
      <p:grpSpPr/>
      <p:cxnSp>
        <p:nvCxnSpPr>
          <p:cNvPr id="2" name="Connector 1"/>
          <p:cNvCxnSpPr/>
          <p:nvPr/>
        </p:nvCxnSpPr>
        <p:spPr>
          <a:xfrm>
            <a:off x="3044952" y="0"/>
            <a:ext cx="0" cy="6858000"/>
          </a:xfrm>
          <a:prstGeom prst="line">
            <a:avLst/>
          </a:prstGeom>
          <a:ln w="4445">
            <a:solidFill>
              <a:srgbClr val="111114"/>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6089904" y="0"/>
            <a:ext cx="0" cy="6858000"/>
          </a:xfrm>
          <a:prstGeom prst="line">
            <a:avLst/>
          </a:prstGeom>
          <a:ln w="4445">
            <a:solidFill>
              <a:srgbClr val="111114"/>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9134856" y="0"/>
            <a:ext cx="0" cy="6858000"/>
          </a:xfrm>
          <a:prstGeom prst="line">
            <a:avLst/>
          </a:prstGeom>
          <a:ln w="4445">
            <a:solidFill>
              <a:srgbClr val="111114"/>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02920" y="612648"/>
            <a:ext cx="11183112" cy="0"/>
          </a:xfrm>
          <a:prstGeom prst="line">
            <a:avLst/>
          </a:prstGeom>
          <a:ln w="6985">
            <a:solidFill>
              <a:srgbClr val="202024"/>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246888"/>
            <a:ext cx="228600" cy="228600"/>
          </a:xfrm>
          <a:prstGeom prst="roundRect">
            <a:avLst>
              <a:gd name="adj" fmla="val 8000"/>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46888"/>
            <a:ext cx="228600" cy="228600"/>
          </a:xfrm>
          <a:prstGeom prst="rect">
            <a:avLst/>
          </a:prstGeom>
          <a:noFill/>
        </p:spPr>
        <p:txBody>
          <a:bodyPr wrap="square" lIns="0" rIns="0" tIns="0" bIns="0" anchor="ctr">
            <a:spAutoFit/>
          </a:bodyPr>
          <a:lstStyle/>
          <a:p>
            <a:pPr algn="ctr">
              <a:lnSpc>
                <a:spcPct val="100000"/>
              </a:lnSpc>
              <a:defRPr sz="650" b="1">
                <a:solidFill>
                  <a:srgbClr val="09090B"/>
                </a:solidFill>
                <a:latin typeface="Inter"/>
              </a:defRPr>
            </a:pPr>
            <a:r>
              <a:t>LB</a:t>
            </a:r>
          </a:p>
        </p:txBody>
      </p:sp>
      <p:sp>
        <p:nvSpPr>
          <p:cNvPr id="8" name="TextBox 7"/>
          <p:cNvSpPr txBox="1"/>
          <p:nvPr/>
        </p:nvSpPr>
        <p:spPr>
          <a:xfrm>
            <a:off x="804672" y="269748"/>
            <a:ext cx="2011680" cy="201168"/>
          </a:xfrm>
          <a:prstGeom prst="rect">
            <a:avLst/>
          </a:prstGeom>
          <a:noFill/>
        </p:spPr>
        <p:txBody>
          <a:bodyPr wrap="square" lIns="0" rIns="0" tIns="0" bIns="0" anchor="t">
            <a:spAutoFit/>
          </a:bodyPr>
          <a:lstStyle/>
          <a:p>
            <a:pPr algn="l">
              <a:lnSpc>
                <a:spcPct val="100000"/>
              </a:lnSpc>
              <a:defRPr sz="850" b="1">
                <a:solidFill>
                  <a:srgbClr val="E4E4E7"/>
                </a:solidFill>
                <a:latin typeface="Inter"/>
              </a:defRPr>
            </a:pPr>
            <a:r>
              <a:t>LEGACYBRIDGE</a:t>
            </a:r>
          </a:p>
        </p:txBody>
      </p:sp>
      <p:sp>
        <p:nvSpPr>
          <p:cNvPr id="9" name="Rounded Rectangle 8"/>
          <p:cNvSpPr/>
          <p:nvPr/>
        </p:nvSpPr>
        <p:spPr>
          <a:xfrm>
            <a:off x="11045952" y="237744"/>
            <a:ext cx="640080" cy="256032"/>
          </a:xfrm>
          <a:prstGeom prst="roundRect">
            <a:avLst>
              <a:gd name="adj" fmla="val 8000"/>
            </a:avLst>
          </a:prstGeom>
          <a:solidFill>
            <a:srgbClr val="111114"/>
          </a:solidFill>
          <a:ln w="7620">
            <a:solidFill>
              <a:srgbClr val="2B2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082528" y="246888"/>
            <a:ext cx="566928" cy="237744"/>
          </a:xfrm>
          <a:prstGeom prst="rect">
            <a:avLst/>
          </a:prstGeom>
          <a:noFill/>
        </p:spPr>
        <p:txBody>
          <a:bodyPr wrap="square" lIns="0" rIns="0" tIns="0" bIns="0" anchor="ctr">
            <a:spAutoFit/>
          </a:bodyPr>
          <a:lstStyle/>
          <a:p>
            <a:pPr algn="ctr">
              <a:lnSpc>
                <a:spcPct val="100000"/>
              </a:lnSpc>
              <a:defRPr sz="700" b="1">
                <a:solidFill>
                  <a:srgbClr val="A1A1AA"/>
                </a:solidFill>
                <a:latin typeface="Inter"/>
              </a:defRPr>
            </a:pPr>
            <a:r>
              <a:t>09 / 10</a:t>
            </a:r>
          </a:p>
        </p:txBody>
      </p:sp>
      <p:sp>
        <p:nvSpPr>
          <p:cNvPr id="11" name="TextBox 10"/>
          <p:cNvSpPr txBox="1"/>
          <p:nvPr/>
        </p:nvSpPr>
        <p:spPr>
          <a:xfrm>
            <a:off x="548640" y="768096"/>
            <a:ext cx="6858000" cy="219456"/>
          </a:xfrm>
          <a:prstGeom prst="rect">
            <a:avLst/>
          </a:prstGeom>
          <a:noFill/>
        </p:spPr>
        <p:txBody>
          <a:bodyPr wrap="square" lIns="0" rIns="0" tIns="0" bIns="0" anchor="t">
            <a:spAutoFit/>
          </a:bodyPr>
          <a:lstStyle/>
          <a:p>
            <a:pPr algn="l">
              <a:lnSpc>
                <a:spcPct val="100000"/>
              </a:lnSpc>
              <a:defRPr sz="800" b="1">
                <a:solidFill>
                  <a:srgbClr val="A78BFA"/>
                </a:solidFill>
                <a:latin typeface="Inter"/>
              </a:defRPr>
            </a:pPr>
            <a:r>
              <a:t>SECURITY, GOVERNANCE AND LIVE DEMONSTRATION</a:t>
            </a:r>
          </a:p>
        </p:txBody>
      </p:sp>
      <p:sp>
        <p:nvSpPr>
          <p:cNvPr id="12" name="TextBox 11"/>
          <p:cNvSpPr txBox="1"/>
          <p:nvPr/>
        </p:nvSpPr>
        <p:spPr>
          <a:xfrm>
            <a:off x="548640" y="996696"/>
            <a:ext cx="11064240" cy="585216"/>
          </a:xfrm>
          <a:prstGeom prst="rect">
            <a:avLst/>
          </a:prstGeom>
          <a:noFill/>
        </p:spPr>
        <p:txBody>
          <a:bodyPr wrap="square" lIns="0" rIns="0" tIns="0" bIns="0" anchor="t">
            <a:spAutoFit/>
          </a:bodyPr>
          <a:lstStyle/>
          <a:p>
            <a:pPr algn="l">
              <a:lnSpc>
                <a:spcPct val="95000"/>
              </a:lnSpc>
              <a:defRPr sz="2700" b="1">
                <a:solidFill>
                  <a:srgbClr val="FAFAFA"/>
                </a:solidFill>
                <a:latin typeface="Inter"/>
              </a:defRPr>
            </a:pPr>
            <a:r>
              <a:t>Trust Through Evidence, Isolation, and Human Oversight.</a:t>
            </a:r>
          </a:p>
        </p:txBody>
      </p:sp>
      <p:sp>
        <p:nvSpPr>
          <p:cNvPr id="13" name="TextBox 12"/>
          <p:cNvSpPr txBox="1"/>
          <p:nvPr/>
        </p:nvSpPr>
        <p:spPr>
          <a:xfrm>
            <a:off x="548640" y="1545336"/>
            <a:ext cx="10972800" cy="347472"/>
          </a:xfrm>
          <a:prstGeom prst="rect">
            <a:avLst/>
          </a:prstGeom>
          <a:noFill/>
        </p:spPr>
        <p:txBody>
          <a:bodyPr wrap="square" lIns="0" rIns="0" tIns="0" bIns="0" anchor="t">
            <a:spAutoFit/>
          </a:bodyPr>
          <a:lstStyle/>
          <a:p>
            <a:pPr algn="l">
              <a:lnSpc>
                <a:spcPct val="100000"/>
              </a:lnSpc>
              <a:defRPr sz="1050" b="0">
                <a:solidFill>
                  <a:srgbClr val="A1A1AA"/>
                </a:solidFill>
                <a:latin typeface="Inter"/>
              </a:defRPr>
            </a:pPr>
            <a:r>
              <a:t>A credible demo distinguishes working UI, simulated states, planned execution, and unavailable integrations.</a:t>
            </a:r>
          </a:p>
        </p:txBody>
      </p:sp>
      <p:cxnSp>
        <p:nvCxnSpPr>
          <p:cNvPr id="14" name="Connector 13"/>
          <p:cNvCxnSpPr/>
          <p:nvPr/>
        </p:nvCxnSpPr>
        <p:spPr>
          <a:xfrm>
            <a:off x="502920" y="6473952"/>
            <a:ext cx="11183112" cy="0"/>
          </a:xfrm>
          <a:prstGeom prst="line">
            <a:avLst/>
          </a:prstGeom>
          <a:ln w="6985">
            <a:solidFill>
              <a:srgbClr val="202024"/>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48640" y="6565392"/>
            <a:ext cx="7909560" cy="164592"/>
          </a:xfrm>
          <a:prstGeom prst="rect">
            <a:avLst/>
          </a:prstGeom>
          <a:noFill/>
        </p:spPr>
        <p:txBody>
          <a:bodyPr wrap="square" lIns="0" rIns="0" tIns="0" bIns="0" anchor="t">
            <a:spAutoFit/>
          </a:bodyPr>
          <a:lstStyle/>
          <a:p>
            <a:pPr algn="l">
              <a:lnSpc>
                <a:spcPct val="100000"/>
              </a:lnSpc>
              <a:defRPr sz="630" b="0">
                <a:solidFill>
                  <a:srgbClr val="71717A"/>
                </a:solidFill>
                <a:latin typeface="Inter"/>
              </a:defRPr>
            </a:pPr>
            <a:r>
              <a:t>Repository status reviewed 25 Oct 2026 • front-end prototype; external execution not verified</a:t>
            </a:r>
          </a:p>
        </p:txBody>
      </p:sp>
      <p:sp>
        <p:nvSpPr>
          <p:cNvPr id="16" name="TextBox 15"/>
          <p:cNvSpPr txBox="1"/>
          <p:nvPr/>
        </p:nvSpPr>
        <p:spPr>
          <a:xfrm>
            <a:off x="8732520" y="6565392"/>
            <a:ext cx="2926080" cy="164592"/>
          </a:xfrm>
          <a:prstGeom prst="rect">
            <a:avLst/>
          </a:prstGeom>
          <a:noFill/>
        </p:spPr>
        <p:txBody>
          <a:bodyPr wrap="square" lIns="0" rIns="0" tIns="0" bIns="0" anchor="t">
            <a:spAutoFit/>
          </a:bodyPr>
          <a:lstStyle/>
          <a:p>
            <a:pPr algn="r">
              <a:lnSpc>
                <a:spcPct val="100000"/>
              </a:lnSpc>
              <a:defRPr sz="610" b="0">
                <a:solidFill>
                  <a:srgbClr val="71717A"/>
                </a:solidFill>
                <a:latin typeface="Inter"/>
              </a:defRPr>
            </a:pPr>
            <a:r>
              <a:t>PROPOSED PRODUCT • HACKATHON PRESENTATION</a:t>
            </a:r>
          </a:p>
        </p:txBody>
      </p:sp>
      <p:sp>
        <p:nvSpPr>
          <p:cNvPr id="17" name="Rounded Rectangle 16"/>
          <p:cNvSpPr/>
          <p:nvPr/>
        </p:nvSpPr>
        <p:spPr>
          <a:xfrm>
            <a:off x="548640" y="1947672"/>
            <a:ext cx="3493008" cy="4224528"/>
          </a:xfrm>
          <a:prstGeom prst="roundRect">
            <a:avLst>
              <a:gd name="adj" fmla="val 8000"/>
            </a:avLst>
          </a:prstGeom>
          <a:solidFill>
            <a:srgbClr val="111114"/>
          </a:solidFill>
          <a:ln w="9525">
            <a:solidFill>
              <a:srgbClr val="2B2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2185416"/>
            <a:ext cx="2286000" cy="201168"/>
          </a:xfrm>
          <a:prstGeom prst="rect">
            <a:avLst/>
          </a:prstGeom>
          <a:noFill/>
        </p:spPr>
        <p:txBody>
          <a:bodyPr wrap="square" lIns="0" rIns="0" tIns="0" bIns="0" anchor="t">
            <a:spAutoFit/>
          </a:bodyPr>
          <a:lstStyle/>
          <a:p>
            <a:pPr algn="l">
              <a:lnSpc>
                <a:spcPct val="100000"/>
              </a:lnSpc>
              <a:defRPr sz="730" b="1">
                <a:solidFill>
                  <a:srgbClr val="A78BFA"/>
                </a:solidFill>
                <a:latin typeface="Inter"/>
              </a:defRPr>
            </a:pPr>
            <a:r>
              <a:t>SAFEGUARDS BY DESIGN</a:t>
            </a:r>
          </a:p>
        </p:txBody>
      </p:sp>
      <p:sp>
        <p:nvSpPr>
          <p:cNvPr id="19" name="Rounded Rectangle 18"/>
          <p:cNvSpPr/>
          <p:nvPr/>
        </p:nvSpPr>
        <p:spPr>
          <a:xfrm>
            <a:off x="786384" y="2578608"/>
            <a:ext cx="228600" cy="228600"/>
          </a:xfrm>
          <a:prstGeom prst="roundRect">
            <a:avLst>
              <a:gd name="adj" fmla="val 8000"/>
            </a:avLst>
          </a:prstGeom>
          <a:solidFill>
            <a:srgbClr val="10291F"/>
          </a:solidFill>
          <a:ln w="7620">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6384" y="2578608"/>
            <a:ext cx="228600" cy="228600"/>
          </a:xfrm>
          <a:prstGeom prst="rect">
            <a:avLst/>
          </a:prstGeom>
          <a:noFill/>
        </p:spPr>
        <p:txBody>
          <a:bodyPr wrap="square" lIns="0" rIns="0" tIns="0" bIns="0" anchor="ctr">
            <a:spAutoFit/>
          </a:bodyPr>
          <a:lstStyle/>
          <a:p>
            <a:pPr algn="ctr">
              <a:lnSpc>
                <a:spcPct val="100000"/>
              </a:lnSpc>
              <a:defRPr sz="650" b="1">
                <a:solidFill>
                  <a:srgbClr val="34D399"/>
                </a:solidFill>
                <a:latin typeface="Inter"/>
              </a:defRPr>
            </a:pPr>
            <a:r>
              <a:t>✓</a:t>
            </a:r>
          </a:p>
        </p:txBody>
      </p:sp>
      <p:sp>
        <p:nvSpPr>
          <p:cNvPr id="21" name="TextBox 20"/>
          <p:cNvSpPr txBox="1"/>
          <p:nvPr/>
        </p:nvSpPr>
        <p:spPr>
          <a:xfrm>
            <a:off x="1143000" y="2596896"/>
            <a:ext cx="2514600" cy="237744"/>
          </a:xfrm>
          <a:prstGeom prst="rect">
            <a:avLst/>
          </a:prstGeom>
          <a:noFill/>
        </p:spPr>
        <p:txBody>
          <a:bodyPr wrap="square" lIns="0" rIns="0" tIns="0" bIns="0" anchor="t">
            <a:spAutoFit/>
          </a:bodyPr>
          <a:lstStyle/>
          <a:p>
            <a:pPr algn="l">
              <a:lnSpc>
                <a:spcPct val="100000"/>
              </a:lnSpc>
              <a:defRPr sz="819" b="0">
                <a:solidFill>
                  <a:srgbClr val="E4E4E7"/>
                </a:solidFill>
                <a:latin typeface="Inter"/>
              </a:defRPr>
            </a:pPr>
            <a:r>
              <a:t>Authorized repository access</a:t>
            </a:r>
          </a:p>
        </p:txBody>
      </p:sp>
      <p:sp>
        <p:nvSpPr>
          <p:cNvPr id="22" name="Rounded Rectangle 21"/>
          <p:cNvSpPr/>
          <p:nvPr/>
        </p:nvSpPr>
        <p:spPr>
          <a:xfrm>
            <a:off x="786384" y="2990088"/>
            <a:ext cx="228600" cy="228600"/>
          </a:xfrm>
          <a:prstGeom prst="roundRect">
            <a:avLst>
              <a:gd name="adj" fmla="val 8000"/>
            </a:avLst>
          </a:prstGeom>
          <a:solidFill>
            <a:srgbClr val="10291F"/>
          </a:solidFill>
          <a:ln w="7620">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 y="2990088"/>
            <a:ext cx="228600" cy="228600"/>
          </a:xfrm>
          <a:prstGeom prst="rect">
            <a:avLst/>
          </a:prstGeom>
          <a:noFill/>
        </p:spPr>
        <p:txBody>
          <a:bodyPr wrap="square" lIns="0" rIns="0" tIns="0" bIns="0" anchor="ctr">
            <a:spAutoFit/>
          </a:bodyPr>
          <a:lstStyle/>
          <a:p>
            <a:pPr algn="ctr">
              <a:lnSpc>
                <a:spcPct val="100000"/>
              </a:lnSpc>
              <a:defRPr sz="650" b="1">
                <a:solidFill>
                  <a:srgbClr val="34D399"/>
                </a:solidFill>
                <a:latin typeface="Inter"/>
              </a:defRPr>
            </a:pPr>
            <a:r>
              <a:t>✓</a:t>
            </a:r>
          </a:p>
        </p:txBody>
      </p:sp>
      <p:sp>
        <p:nvSpPr>
          <p:cNvPr id="24" name="TextBox 23"/>
          <p:cNvSpPr txBox="1"/>
          <p:nvPr/>
        </p:nvSpPr>
        <p:spPr>
          <a:xfrm>
            <a:off x="1143000" y="3008376"/>
            <a:ext cx="2514600" cy="237744"/>
          </a:xfrm>
          <a:prstGeom prst="rect">
            <a:avLst/>
          </a:prstGeom>
          <a:noFill/>
        </p:spPr>
        <p:txBody>
          <a:bodyPr wrap="square" lIns="0" rIns="0" tIns="0" bIns="0" anchor="t">
            <a:spAutoFit/>
          </a:bodyPr>
          <a:lstStyle/>
          <a:p>
            <a:pPr algn="l">
              <a:lnSpc>
                <a:spcPct val="100000"/>
              </a:lnSpc>
              <a:defRPr sz="819" b="0">
                <a:solidFill>
                  <a:srgbClr val="E4E4E7"/>
                </a:solidFill>
                <a:latin typeface="Inter"/>
              </a:defRPr>
            </a:pPr>
            <a:r>
              <a:t>Private project storage + policies</a:t>
            </a:r>
          </a:p>
        </p:txBody>
      </p:sp>
      <p:sp>
        <p:nvSpPr>
          <p:cNvPr id="25" name="Rounded Rectangle 24"/>
          <p:cNvSpPr/>
          <p:nvPr/>
        </p:nvSpPr>
        <p:spPr>
          <a:xfrm>
            <a:off x="786384" y="3401568"/>
            <a:ext cx="228600" cy="228600"/>
          </a:xfrm>
          <a:prstGeom prst="roundRect">
            <a:avLst>
              <a:gd name="adj" fmla="val 8000"/>
            </a:avLst>
          </a:prstGeom>
          <a:solidFill>
            <a:srgbClr val="10291F"/>
          </a:solidFill>
          <a:ln w="7620">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6384" y="3401568"/>
            <a:ext cx="228600" cy="228600"/>
          </a:xfrm>
          <a:prstGeom prst="rect">
            <a:avLst/>
          </a:prstGeom>
          <a:noFill/>
        </p:spPr>
        <p:txBody>
          <a:bodyPr wrap="square" lIns="0" rIns="0" tIns="0" bIns="0" anchor="ctr">
            <a:spAutoFit/>
          </a:bodyPr>
          <a:lstStyle/>
          <a:p>
            <a:pPr algn="ctr">
              <a:lnSpc>
                <a:spcPct val="100000"/>
              </a:lnSpc>
              <a:defRPr sz="650" b="1">
                <a:solidFill>
                  <a:srgbClr val="34D399"/>
                </a:solidFill>
                <a:latin typeface="Inter"/>
              </a:defRPr>
            </a:pPr>
            <a:r>
              <a:t>✓</a:t>
            </a:r>
          </a:p>
        </p:txBody>
      </p:sp>
      <p:sp>
        <p:nvSpPr>
          <p:cNvPr id="27" name="TextBox 26"/>
          <p:cNvSpPr txBox="1"/>
          <p:nvPr/>
        </p:nvSpPr>
        <p:spPr>
          <a:xfrm>
            <a:off x="1143000" y="3419856"/>
            <a:ext cx="2514600" cy="237744"/>
          </a:xfrm>
          <a:prstGeom prst="rect">
            <a:avLst/>
          </a:prstGeom>
          <a:noFill/>
        </p:spPr>
        <p:txBody>
          <a:bodyPr wrap="square" lIns="0" rIns="0" tIns="0" bIns="0" anchor="t">
            <a:spAutoFit/>
          </a:bodyPr>
          <a:lstStyle/>
          <a:p>
            <a:pPr algn="l">
              <a:lnSpc>
                <a:spcPct val="100000"/>
              </a:lnSpc>
              <a:defRPr sz="819" b="0">
                <a:solidFill>
                  <a:srgbClr val="E4E4E7"/>
                </a:solidFill>
                <a:latin typeface="Inter"/>
              </a:defRPr>
            </a:pPr>
            <a:r>
              <a:t>Secret redaction for permitted AI</a:t>
            </a:r>
          </a:p>
        </p:txBody>
      </p:sp>
      <p:sp>
        <p:nvSpPr>
          <p:cNvPr id="28" name="Rounded Rectangle 27"/>
          <p:cNvSpPr/>
          <p:nvPr/>
        </p:nvSpPr>
        <p:spPr>
          <a:xfrm>
            <a:off x="786384" y="3813048"/>
            <a:ext cx="228600" cy="228600"/>
          </a:xfrm>
          <a:prstGeom prst="roundRect">
            <a:avLst>
              <a:gd name="adj" fmla="val 8000"/>
            </a:avLst>
          </a:prstGeom>
          <a:solidFill>
            <a:srgbClr val="10291F"/>
          </a:solidFill>
          <a:ln w="7620">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6384" y="3813048"/>
            <a:ext cx="228600" cy="228600"/>
          </a:xfrm>
          <a:prstGeom prst="rect">
            <a:avLst/>
          </a:prstGeom>
          <a:noFill/>
        </p:spPr>
        <p:txBody>
          <a:bodyPr wrap="square" lIns="0" rIns="0" tIns="0" bIns="0" anchor="ctr">
            <a:spAutoFit/>
          </a:bodyPr>
          <a:lstStyle/>
          <a:p>
            <a:pPr algn="ctr">
              <a:lnSpc>
                <a:spcPct val="100000"/>
              </a:lnSpc>
              <a:defRPr sz="650" b="1">
                <a:solidFill>
                  <a:srgbClr val="34D399"/>
                </a:solidFill>
                <a:latin typeface="Inter"/>
              </a:defRPr>
            </a:pPr>
            <a:r>
              <a:t>✓</a:t>
            </a:r>
          </a:p>
        </p:txBody>
      </p:sp>
      <p:sp>
        <p:nvSpPr>
          <p:cNvPr id="30" name="TextBox 29"/>
          <p:cNvSpPr txBox="1"/>
          <p:nvPr/>
        </p:nvSpPr>
        <p:spPr>
          <a:xfrm>
            <a:off x="1143000" y="3831335"/>
            <a:ext cx="2514600" cy="237744"/>
          </a:xfrm>
          <a:prstGeom prst="rect">
            <a:avLst/>
          </a:prstGeom>
          <a:noFill/>
        </p:spPr>
        <p:txBody>
          <a:bodyPr wrap="square" lIns="0" rIns="0" tIns="0" bIns="0" anchor="t">
            <a:spAutoFit/>
          </a:bodyPr>
          <a:lstStyle/>
          <a:p>
            <a:pPr algn="l">
              <a:lnSpc>
                <a:spcPct val="100000"/>
              </a:lnSpc>
              <a:defRPr sz="819" b="0">
                <a:solidFill>
                  <a:srgbClr val="E4E4E7"/>
                </a:solidFill>
                <a:latin typeface="Inter"/>
              </a:defRPr>
            </a:pPr>
            <a:r>
              <a:t>Controlled archive handling</a:t>
            </a:r>
          </a:p>
        </p:txBody>
      </p:sp>
      <p:sp>
        <p:nvSpPr>
          <p:cNvPr id="31" name="Rounded Rectangle 30"/>
          <p:cNvSpPr/>
          <p:nvPr/>
        </p:nvSpPr>
        <p:spPr>
          <a:xfrm>
            <a:off x="786384" y="4224528"/>
            <a:ext cx="228600" cy="228600"/>
          </a:xfrm>
          <a:prstGeom prst="roundRect">
            <a:avLst>
              <a:gd name="adj" fmla="val 8000"/>
            </a:avLst>
          </a:prstGeom>
          <a:solidFill>
            <a:srgbClr val="10291F"/>
          </a:solidFill>
          <a:ln w="7620">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6384" y="4224528"/>
            <a:ext cx="228600" cy="228600"/>
          </a:xfrm>
          <a:prstGeom prst="rect">
            <a:avLst/>
          </a:prstGeom>
          <a:noFill/>
        </p:spPr>
        <p:txBody>
          <a:bodyPr wrap="square" lIns="0" rIns="0" tIns="0" bIns="0" anchor="ctr">
            <a:spAutoFit/>
          </a:bodyPr>
          <a:lstStyle/>
          <a:p>
            <a:pPr algn="ctr">
              <a:lnSpc>
                <a:spcPct val="100000"/>
              </a:lnSpc>
              <a:defRPr sz="650" b="1">
                <a:solidFill>
                  <a:srgbClr val="34D399"/>
                </a:solidFill>
                <a:latin typeface="Inter"/>
              </a:defRPr>
            </a:pPr>
            <a:r>
              <a:t>✓</a:t>
            </a:r>
          </a:p>
        </p:txBody>
      </p:sp>
      <p:sp>
        <p:nvSpPr>
          <p:cNvPr id="33" name="TextBox 32"/>
          <p:cNvSpPr txBox="1"/>
          <p:nvPr/>
        </p:nvSpPr>
        <p:spPr>
          <a:xfrm>
            <a:off x="1143000" y="4242816"/>
            <a:ext cx="2514600" cy="237744"/>
          </a:xfrm>
          <a:prstGeom prst="rect">
            <a:avLst/>
          </a:prstGeom>
          <a:noFill/>
        </p:spPr>
        <p:txBody>
          <a:bodyPr wrap="square" lIns="0" rIns="0" tIns="0" bIns="0" anchor="t">
            <a:spAutoFit/>
          </a:bodyPr>
          <a:lstStyle/>
          <a:p>
            <a:pPr algn="l">
              <a:lnSpc>
                <a:spcPct val="100000"/>
              </a:lnSpc>
              <a:defRPr sz="819" b="0">
                <a:solidFill>
                  <a:srgbClr val="E4E4E7"/>
                </a:solidFill>
                <a:latin typeface="Inter"/>
              </a:defRPr>
            </a:pPr>
            <a:r>
              <a:t>Isolated untrusted-code execution</a:t>
            </a:r>
          </a:p>
        </p:txBody>
      </p:sp>
      <p:sp>
        <p:nvSpPr>
          <p:cNvPr id="34" name="Rounded Rectangle 33"/>
          <p:cNvSpPr/>
          <p:nvPr/>
        </p:nvSpPr>
        <p:spPr>
          <a:xfrm>
            <a:off x="786384" y="4636008"/>
            <a:ext cx="228600" cy="228600"/>
          </a:xfrm>
          <a:prstGeom prst="roundRect">
            <a:avLst>
              <a:gd name="adj" fmla="val 8000"/>
            </a:avLst>
          </a:prstGeom>
          <a:solidFill>
            <a:srgbClr val="10291F"/>
          </a:solidFill>
          <a:ln w="7620">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4636008"/>
            <a:ext cx="228600" cy="228600"/>
          </a:xfrm>
          <a:prstGeom prst="rect">
            <a:avLst/>
          </a:prstGeom>
          <a:noFill/>
        </p:spPr>
        <p:txBody>
          <a:bodyPr wrap="square" lIns="0" rIns="0" tIns="0" bIns="0" anchor="ctr">
            <a:spAutoFit/>
          </a:bodyPr>
          <a:lstStyle/>
          <a:p>
            <a:pPr algn="ctr">
              <a:lnSpc>
                <a:spcPct val="100000"/>
              </a:lnSpc>
              <a:defRPr sz="650" b="1">
                <a:solidFill>
                  <a:srgbClr val="34D399"/>
                </a:solidFill>
                <a:latin typeface="Inter"/>
              </a:defRPr>
            </a:pPr>
            <a:r>
              <a:t>✓</a:t>
            </a:r>
          </a:p>
        </p:txBody>
      </p:sp>
      <p:sp>
        <p:nvSpPr>
          <p:cNvPr id="36" name="TextBox 35"/>
          <p:cNvSpPr txBox="1"/>
          <p:nvPr/>
        </p:nvSpPr>
        <p:spPr>
          <a:xfrm>
            <a:off x="1143000" y="4654296"/>
            <a:ext cx="2514600" cy="237744"/>
          </a:xfrm>
          <a:prstGeom prst="rect">
            <a:avLst/>
          </a:prstGeom>
          <a:noFill/>
        </p:spPr>
        <p:txBody>
          <a:bodyPr wrap="square" lIns="0" rIns="0" tIns="0" bIns="0" anchor="t">
            <a:spAutoFit/>
          </a:bodyPr>
          <a:lstStyle/>
          <a:p>
            <a:pPr algn="l">
              <a:lnSpc>
                <a:spcPct val="100000"/>
              </a:lnSpc>
              <a:defRPr sz="819" b="0">
                <a:solidFill>
                  <a:srgbClr val="E4E4E7"/>
                </a:solidFill>
                <a:latin typeface="Inter"/>
              </a:defRPr>
            </a:pPr>
            <a:r>
              <a:t>Source-linked analysis findings</a:t>
            </a:r>
          </a:p>
        </p:txBody>
      </p:sp>
      <p:sp>
        <p:nvSpPr>
          <p:cNvPr id="37" name="Rounded Rectangle 36"/>
          <p:cNvSpPr/>
          <p:nvPr/>
        </p:nvSpPr>
        <p:spPr>
          <a:xfrm>
            <a:off x="786384" y="5047488"/>
            <a:ext cx="228600" cy="228600"/>
          </a:xfrm>
          <a:prstGeom prst="roundRect">
            <a:avLst>
              <a:gd name="adj" fmla="val 8000"/>
            </a:avLst>
          </a:prstGeom>
          <a:solidFill>
            <a:srgbClr val="10291F"/>
          </a:solidFill>
          <a:ln w="7620">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86384" y="5047488"/>
            <a:ext cx="228600" cy="228600"/>
          </a:xfrm>
          <a:prstGeom prst="rect">
            <a:avLst/>
          </a:prstGeom>
          <a:noFill/>
        </p:spPr>
        <p:txBody>
          <a:bodyPr wrap="square" lIns="0" rIns="0" tIns="0" bIns="0" anchor="ctr">
            <a:spAutoFit/>
          </a:bodyPr>
          <a:lstStyle/>
          <a:p>
            <a:pPr algn="ctr">
              <a:lnSpc>
                <a:spcPct val="100000"/>
              </a:lnSpc>
              <a:defRPr sz="650" b="1">
                <a:solidFill>
                  <a:srgbClr val="34D399"/>
                </a:solidFill>
                <a:latin typeface="Inter"/>
              </a:defRPr>
            </a:pPr>
            <a:r>
              <a:t>✓</a:t>
            </a:r>
          </a:p>
        </p:txBody>
      </p:sp>
      <p:sp>
        <p:nvSpPr>
          <p:cNvPr id="39" name="TextBox 38"/>
          <p:cNvSpPr txBox="1"/>
          <p:nvPr/>
        </p:nvSpPr>
        <p:spPr>
          <a:xfrm>
            <a:off x="1143000" y="5065775"/>
            <a:ext cx="2514600" cy="237744"/>
          </a:xfrm>
          <a:prstGeom prst="rect">
            <a:avLst/>
          </a:prstGeom>
          <a:noFill/>
        </p:spPr>
        <p:txBody>
          <a:bodyPr wrap="square" lIns="0" rIns="0" tIns="0" bIns="0" anchor="t">
            <a:spAutoFit/>
          </a:bodyPr>
          <a:lstStyle/>
          <a:p>
            <a:pPr algn="l">
              <a:lnSpc>
                <a:spcPct val="100000"/>
              </a:lnSpc>
              <a:defRPr sz="819" b="0">
                <a:solidFill>
                  <a:srgbClr val="E4E4E7"/>
                </a:solidFill>
                <a:latin typeface="Inter"/>
              </a:defRPr>
            </a:pPr>
            <a:r>
              <a:t>Audit events for key actions</a:t>
            </a:r>
          </a:p>
        </p:txBody>
      </p:sp>
      <p:sp>
        <p:nvSpPr>
          <p:cNvPr id="40" name="Rounded Rectangle 39"/>
          <p:cNvSpPr/>
          <p:nvPr/>
        </p:nvSpPr>
        <p:spPr>
          <a:xfrm>
            <a:off x="786384" y="5458968"/>
            <a:ext cx="228600" cy="228600"/>
          </a:xfrm>
          <a:prstGeom prst="roundRect">
            <a:avLst>
              <a:gd name="adj" fmla="val 8000"/>
            </a:avLst>
          </a:prstGeom>
          <a:solidFill>
            <a:srgbClr val="10291F"/>
          </a:solidFill>
          <a:ln w="7620">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458968"/>
            <a:ext cx="228600" cy="228600"/>
          </a:xfrm>
          <a:prstGeom prst="rect">
            <a:avLst/>
          </a:prstGeom>
          <a:noFill/>
        </p:spPr>
        <p:txBody>
          <a:bodyPr wrap="square" lIns="0" rIns="0" tIns="0" bIns="0" anchor="ctr">
            <a:spAutoFit/>
          </a:bodyPr>
          <a:lstStyle/>
          <a:p>
            <a:pPr algn="ctr">
              <a:lnSpc>
                <a:spcPct val="100000"/>
              </a:lnSpc>
              <a:defRPr sz="650" b="1">
                <a:solidFill>
                  <a:srgbClr val="34D399"/>
                </a:solidFill>
                <a:latin typeface="Inter"/>
              </a:defRPr>
            </a:pPr>
            <a:r>
              <a:t>✓</a:t>
            </a:r>
          </a:p>
        </p:txBody>
      </p:sp>
      <p:sp>
        <p:nvSpPr>
          <p:cNvPr id="42" name="TextBox 41"/>
          <p:cNvSpPr txBox="1"/>
          <p:nvPr/>
        </p:nvSpPr>
        <p:spPr>
          <a:xfrm>
            <a:off x="1143000" y="5477255"/>
            <a:ext cx="2514600" cy="237744"/>
          </a:xfrm>
          <a:prstGeom prst="rect">
            <a:avLst/>
          </a:prstGeom>
          <a:noFill/>
        </p:spPr>
        <p:txBody>
          <a:bodyPr wrap="square" lIns="0" rIns="0" tIns="0" bIns="0" anchor="t">
            <a:spAutoFit/>
          </a:bodyPr>
          <a:lstStyle/>
          <a:p>
            <a:pPr algn="l">
              <a:lnSpc>
                <a:spcPct val="100000"/>
              </a:lnSpc>
              <a:defRPr sz="819" b="0">
                <a:solidFill>
                  <a:srgbClr val="E4E4E7"/>
                </a:solidFill>
                <a:latin typeface="Inter"/>
              </a:defRPr>
            </a:pPr>
            <a:r>
              <a:t>Human approval before changes</a:t>
            </a:r>
          </a:p>
        </p:txBody>
      </p:sp>
      <p:sp>
        <p:nvSpPr>
          <p:cNvPr id="43" name="Rounded Rectangle 42"/>
          <p:cNvSpPr/>
          <p:nvPr/>
        </p:nvSpPr>
        <p:spPr>
          <a:xfrm>
            <a:off x="4297680" y="1947672"/>
            <a:ext cx="7333488" cy="4224528"/>
          </a:xfrm>
          <a:prstGeom prst="roundRect">
            <a:avLst>
              <a:gd name="adj" fmla="val 8000"/>
            </a:avLst>
          </a:prstGeom>
          <a:solidFill>
            <a:srgbClr val="18181B"/>
          </a:solidFill>
          <a:ln w="9525">
            <a:solidFill>
              <a:srgbClr val="2B2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553712" y="2185416"/>
            <a:ext cx="2743200" cy="201168"/>
          </a:xfrm>
          <a:prstGeom prst="rect">
            <a:avLst/>
          </a:prstGeom>
          <a:noFill/>
        </p:spPr>
        <p:txBody>
          <a:bodyPr wrap="square" lIns="0" rIns="0" tIns="0" bIns="0" anchor="t">
            <a:spAutoFit/>
          </a:bodyPr>
          <a:lstStyle/>
          <a:p>
            <a:pPr algn="l">
              <a:lnSpc>
                <a:spcPct val="100000"/>
              </a:lnSpc>
              <a:defRPr sz="730" b="1">
                <a:solidFill>
                  <a:srgbClr val="A78BFA"/>
                </a:solidFill>
                <a:latin typeface="Inter"/>
              </a:defRPr>
            </a:pPr>
            <a:r>
              <a:t>HACKATHON DEMO SEQUENCE</a:t>
            </a:r>
          </a:p>
        </p:txBody>
      </p:sp>
      <p:sp>
        <p:nvSpPr>
          <p:cNvPr id="45" name="Rounded Rectangle 44"/>
          <p:cNvSpPr/>
          <p:nvPr/>
        </p:nvSpPr>
        <p:spPr>
          <a:xfrm>
            <a:off x="4553712" y="2551176"/>
            <a:ext cx="246888" cy="246888"/>
          </a:xfrm>
          <a:prstGeom prst="roundRect">
            <a:avLst>
              <a:gd name="adj" fmla="val 8000"/>
            </a:avLst>
          </a:prstGeom>
          <a:solidFill>
            <a:srgbClr val="211B35"/>
          </a:solidFill>
          <a:ln w="7620">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553712" y="2551176"/>
            <a:ext cx="246888" cy="246888"/>
          </a:xfrm>
          <a:prstGeom prst="rect">
            <a:avLst/>
          </a:prstGeom>
          <a:noFill/>
        </p:spPr>
        <p:txBody>
          <a:bodyPr wrap="square" lIns="0" rIns="0" tIns="0" bIns="0" anchor="ctr">
            <a:spAutoFit/>
          </a:bodyPr>
          <a:lstStyle/>
          <a:p>
            <a:pPr algn="ctr">
              <a:lnSpc>
                <a:spcPct val="100000"/>
              </a:lnSpc>
              <a:defRPr sz="620" b="1">
                <a:solidFill>
                  <a:srgbClr val="A78BFA"/>
                </a:solidFill>
                <a:latin typeface="Inter"/>
              </a:defRPr>
            </a:pPr>
            <a:r>
              <a:t>1</a:t>
            </a:r>
          </a:p>
        </p:txBody>
      </p:sp>
      <p:sp>
        <p:nvSpPr>
          <p:cNvPr id="47" name="TextBox 46"/>
          <p:cNvSpPr txBox="1"/>
          <p:nvPr/>
        </p:nvSpPr>
        <p:spPr>
          <a:xfrm>
            <a:off x="4928616" y="2569464"/>
            <a:ext cx="4937760" cy="210312"/>
          </a:xfrm>
          <a:prstGeom prst="rect">
            <a:avLst/>
          </a:prstGeom>
          <a:noFill/>
        </p:spPr>
        <p:txBody>
          <a:bodyPr wrap="square" lIns="0" rIns="0" tIns="0" bIns="0" anchor="t">
            <a:spAutoFit/>
          </a:bodyPr>
          <a:lstStyle/>
          <a:p>
            <a:pPr algn="l">
              <a:lnSpc>
                <a:spcPct val="100000"/>
              </a:lnSpc>
              <a:defRPr sz="830" b="0">
                <a:solidFill>
                  <a:srgbClr val="E4E4E7"/>
                </a:solidFill>
                <a:latin typeface="Inter"/>
              </a:defRPr>
            </a:pPr>
            <a:r>
              <a:t>Import sample order-management monolith</a:t>
            </a:r>
          </a:p>
        </p:txBody>
      </p:sp>
      <p:sp>
        <p:nvSpPr>
          <p:cNvPr id="48" name="Rounded Rectangle 47"/>
          <p:cNvSpPr/>
          <p:nvPr/>
        </p:nvSpPr>
        <p:spPr>
          <a:xfrm>
            <a:off x="10378440" y="2560320"/>
            <a:ext cx="822960" cy="201168"/>
          </a:xfrm>
          <a:prstGeom prst="roundRect">
            <a:avLst>
              <a:gd name="adj" fmla="val 8000"/>
            </a:avLst>
          </a:prstGeom>
          <a:solidFill>
            <a:srgbClr val="202024"/>
          </a:solidFill>
          <a:ln w="7620">
            <a:solidFill>
              <a:srgbClr val="3838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415015" y="2569463"/>
            <a:ext cx="749808" cy="182880"/>
          </a:xfrm>
          <a:prstGeom prst="rect">
            <a:avLst/>
          </a:prstGeom>
          <a:noFill/>
        </p:spPr>
        <p:txBody>
          <a:bodyPr wrap="square" lIns="0" rIns="0" tIns="0" bIns="0" anchor="ctr">
            <a:spAutoFit/>
          </a:bodyPr>
          <a:lstStyle/>
          <a:p>
            <a:pPr algn="ctr">
              <a:lnSpc>
                <a:spcPct val="100000"/>
              </a:lnSpc>
              <a:defRPr sz="570" b="1">
                <a:solidFill>
                  <a:srgbClr val="A1A1AA"/>
                </a:solidFill>
                <a:latin typeface="Inter"/>
              </a:defRPr>
            </a:pPr>
            <a:r>
              <a:t>UI</a:t>
            </a:r>
          </a:p>
        </p:txBody>
      </p:sp>
      <p:sp>
        <p:nvSpPr>
          <p:cNvPr id="50" name="Rounded Rectangle 49"/>
          <p:cNvSpPr/>
          <p:nvPr/>
        </p:nvSpPr>
        <p:spPr>
          <a:xfrm>
            <a:off x="4553712" y="2953512"/>
            <a:ext cx="246888" cy="246888"/>
          </a:xfrm>
          <a:prstGeom prst="roundRect">
            <a:avLst>
              <a:gd name="adj" fmla="val 8000"/>
            </a:avLst>
          </a:prstGeom>
          <a:solidFill>
            <a:srgbClr val="211B35"/>
          </a:solidFill>
          <a:ln w="7620">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553712" y="2953512"/>
            <a:ext cx="246888" cy="246888"/>
          </a:xfrm>
          <a:prstGeom prst="rect">
            <a:avLst/>
          </a:prstGeom>
          <a:noFill/>
        </p:spPr>
        <p:txBody>
          <a:bodyPr wrap="square" lIns="0" rIns="0" tIns="0" bIns="0" anchor="ctr">
            <a:spAutoFit/>
          </a:bodyPr>
          <a:lstStyle/>
          <a:p>
            <a:pPr algn="ctr">
              <a:lnSpc>
                <a:spcPct val="100000"/>
              </a:lnSpc>
              <a:defRPr sz="620" b="1">
                <a:solidFill>
                  <a:srgbClr val="A78BFA"/>
                </a:solidFill>
                <a:latin typeface="Inter"/>
              </a:defRPr>
            </a:pPr>
            <a:r>
              <a:t>2</a:t>
            </a:r>
          </a:p>
        </p:txBody>
      </p:sp>
      <p:sp>
        <p:nvSpPr>
          <p:cNvPr id="52" name="TextBox 51"/>
          <p:cNvSpPr txBox="1"/>
          <p:nvPr/>
        </p:nvSpPr>
        <p:spPr>
          <a:xfrm>
            <a:off x="4928616" y="2971800"/>
            <a:ext cx="4937760" cy="210312"/>
          </a:xfrm>
          <a:prstGeom prst="rect">
            <a:avLst/>
          </a:prstGeom>
          <a:noFill/>
        </p:spPr>
        <p:txBody>
          <a:bodyPr wrap="square" lIns="0" rIns="0" tIns="0" bIns="0" anchor="t">
            <a:spAutoFit/>
          </a:bodyPr>
          <a:lstStyle/>
          <a:p>
            <a:pPr algn="l">
              <a:lnSpc>
                <a:spcPct val="100000"/>
              </a:lnSpc>
              <a:defRPr sz="830" b="0">
                <a:solidFill>
                  <a:srgbClr val="E4E4E7"/>
                </a:solidFill>
                <a:latin typeface="Inter"/>
              </a:defRPr>
            </a:pPr>
            <a:r>
              <a:t>Discover modules + dependency graph</a:t>
            </a:r>
          </a:p>
        </p:txBody>
      </p:sp>
      <p:sp>
        <p:nvSpPr>
          <p:cNvPr id="53" name="Rounded Rectangle 52"/>
          <p:cNvSpPr/>
          <p:nvPr/>
        </p:nvSpPr>
        <p:spPr>
          <a:xfrm>
            <a:off x="10378440" y="2962656"/>
            <a:ext cx="822960" cy="201168"/>
          </a:xfrm>
          <a:prstGeom prst="roundRect">
            <a:avLst>
              <a:gd name="adj" fmla="val 8000"/>
            </a:avLst>
          </a:prstGeom>
          <a:solidFill>
            <a:srgbClr val="202024"/>
          </a:solidFill>
          <a:ln w="7620">
            <a:solidFill>
              <a:srgbClr val="3838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415015" y="2971799"/>
            <a:ext cx="749808" cy="182880"/>
          </a:xfrm>
          <a:prstGeom prst="rect">
            <a:avLst/>
          </a:prstGeom>
          <a:noFill/>
        </p:spPr>
        <p:txBody>
          <a:bodyPr wrap="square" lIns="0" rIns="0" tIns="0" bIns="0" anchor="ctr">
            <a:spAutoFit/>
          </a:bodyPr>
          <a:lstStyle/>
          <a:p>
            <a:pPr algn="ctr">
              <a:lnSpc>
                <a:spcPct val="100000"/>
              </a:lnSpc>
              <a:defRPr sz="570" b="1">
                <a:solidFill>
                  <a:srgbClr val="A1A1AA"/>
                </a:solidFill>
                <a:latin typeface="Inter"/>
              </a:defRPr>
            </a:pPr>
            <a:r>
              <a:t>SIM</a:t>
            </a:r>
          </a:p>
        </p:txBody>
      </p:sp>
      <p:sp>
        <p:nvSpPr>
          <p:cNvPr id="55" name="Rounded Rectangle 54"/>
          <p:cNvSpPr/>
          <p:nvPr/>
        </p:nvSpPr>
        <p:spPr>
          <a:xfrm>
            <a:off x="4553712" y="3355848"/>
            <a:ext cx="246888" cy="246888"/>
          </a:xfrm>
          <a:prstGeom prst="roundRect">
            <a:avLst>
              <a:gd name="adj" fmla="val 8000"/>
            </a:avLst>
          </a:prstGeom>
          <a:solidFill>
            <a:srgbClr val="211B35"/>
          </a:solidFill>
          <a:ln w="7620">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553712" y="3355848"/>
            <a:ext cx="246888" cy="246888"/>
          </a:xfrm>
          <a:prstGeom prst="rect">
            <a:avLst/>
          </a:prstGeom>
          <a:noFill/>
        </p:spPr>
        <p:txBody>
          <a:bodyPr wrap="square" lIns="0" rIns="0" tIns="0" bIns="0" anchor="ctr">
            <a:spAutoFit/>
          </a:bodyPr>
          <a:lstStyle/>
          <a:p>
            <a:pPr algn="ctr">
              <a:lnSpc>
                <a:spcPct val="100000"/>
              </a:lnSpc>
              <a:defRPr sz="620" b="1">
                <a:solidFill>
                  <a:srgbClr val="A78BFA"/>
                </a:solidFill>
                <a:latin typeface="Inter"/>
              </a:defRPr>
            </a:pPr>
            <a:r>
              <a:t>3</a:t>
            </a:r>
          </a:p>
        </p:txBody>
      </p:sp>
      <p:sp>
        <p:nvSpPr>
          <p:cNvPr id="57" name="TextBox 56"/>
          <p:cNvSpPr txBox="1"/>
          <p:nvPr/>
        </p:nvSpPr>
        <p:spPr>
          <a:xfrm>
            <a:off x="4928616" y="3374136"/>
            <a:ext cx="4937760" cy="210312"/>
          </a:xfrm>
          <a:prstGeom prst="rect">
            <a:avLst/>
          </a:prstGeom>
          <a:noFill/>
        </p:spPr>
        <p:txBody>
          <a:bodyPr wrap="square" lIns="0" rIns="0" tIns="0" bIns="0" anchor="t">
            <a:spAutoFit/>
          </a:bodyPr>
          <a:lstStyle/>
          <a:p>
            <a:pPr algn="l">
              <a:lnSpc>
                <a:spcPct val="100000"/>
              </a:lnSpc>
              <a:defRPr sz="830" b="0">
                <a:solidFill>
                  <a:srgbClr val="E4E4E7"/>
                </a:solidFill>
                <a:latin typeface="Inter"/>
              </a:defRPr>
            </a:pPr>
            <a:r>
              <a:t>Review proposed service boundaries</a:t>
            </a:r>
          </a:p>
        </p:txBody>
      </p:sp>
      <p:sp>
        <p:nvSpPr>
          <p:cNvPr id="58" name="Rounded Rectangle 57"/>
          <p:cNvSpPr/>
          <p:nvPr/>
        </p:nvSpPr>
        <p:spPr>
          <a:xfrm>
            <a:off x="10378440" y="3364991"/>
            <a:ext cx="822960" cy="201168"/>
          </a:xfrm>
          <a:prstGeom prst="roundRect">
            <a:avLst>
              <a:gd name="adj" fmla="val 8000"/>
            </a:avLst>
          </a:prstGeom>
          <a:solidFill>
            <a:srgbClr val="202024"/>
          </a:solidFill>
          <a:ln w="7620">
            <a:solidFill>
              <a:srgbClr val="3838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0415015" y="3374135"/>
            <a:ext cx="749808" cy="182880"/>
          </a:xfrm>
          <a:prstGeom prst="rect">
            <a:avLst/>
          </a:prstGeom>
          <a:noFill/>
        </p:spPr>
        <p:txBody>
          <a:bodyPr wrap="square" lIns="0" rIns="0" tIns="0" bIns="0" anchor="ctr">
            <a:spAutoFit/>
          </a:bodyPr>
          <a:lstStyle/>
          <a:p>
            <a:pPr algn="ctr">
              <a:lnSpc>
                <a:spcPct val="100000"/>
              </a:lnSpc>
              <a:defRPr sz="570" b="1">
                <a:solidFill>
                  <a:srgbClr val="A1A1AA"/>
                </a:solidFill>
                <a:latin typeface="Inter"/>
              </a:defRPr>
            </a:pPr>
            <a:r>
              <a:t>SIM</a:t>
            </a:r>
          </a:p>
        </p:txBody>
      </p:sp>
      <p:sp>
        <p:nvSpPr>
          <p:cNvPr id="60" name="Rounded Rectangle 59"/>
          <p:cNvSpPr/>
          <p:nvPr/>
        </p:nvSpPr>
        <p:spPr>
          <a:xfrm>
            <a:off x="4553712" y="3758184"/>
            <a:ext cx="246888" cy="246888"/>
          </a:xfrm>
          <a:prstGeom prst="roundRect">
            <a:avLst>
              <a:gd name="adj" fmla="val 8000"/>
            </a:avLst>
          </a:prstGeom>
          <a:solidFill>
            <a:srgbClr val="211B35"/>
          </a:solidFill>
          <a:ln w="7620">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553712" y="3758184"/>
            <a:ext cx="246888" cy="246888"/>
          </a:xfrm>
          <a:prstGeom prst="rect">
            <a:avLst/>
          </a:prstGeom>
          <a:noFill/>
        </p:spPr>
        <p:txBody>
          <a:bodyPr wrap="square" lIns="0" rIns="0" tIns="0" bIns="0" anchor="ctr">
            <a:spAutoFit/>
          </a:bodyPr>
          <a:lstStyle/>
          <a:p>
            <a:pPr algn="ctr">
              <a:lnSpc>
                <a:spcPct val="100000"/>
              </a:lnSpc>
              <a:defRPr sz="620" b="1">
                <a:solidFill>
                  <a:srgbClr val="A78BFA"/>
                </a:solidFill>
                <a:latin typeface="Inter"/>
              </a:defRPr>
            </a:pPr>
            <a:r>
              <a:t>4</a:t>
            </a:r>
          </a:p>
        </p:txBody>
      </p:sp>
      <p:sp>
        <p:nvSpPr>
          <p:cNvPr id="62" name="TextBox 61"/>
          <p:cNvSpPr txBox="1"/>
          <p:nvPr/>
        </p:nvSpPr>
        <p:spPr>
          <a:xfrm>
            <a:off x="4928616" y="3776472"/>
            <a:ext cx="4937760" cy="210312"/>
          </a:xfrm>
          <a:prstGeom prst="rect">
            <a:avLst/>
          </a:prstGeom>
          <a:noFill/>
        </p:spPr>
        <p:txBody>
          <a:bodyPr wrap="square" lIns="0" rIns="0" tIns="0" bIns="0" anchor="t">
            <a:spAutoFit/>
          </a:bodyPr>
          <a:lstStyle/>
          <a:p>
            <a:pPr algn="l">
              <a:lnSpc>
                <a:spcPct val="100000"/>
              </a:lnSpc>
              <a:defRPr sz="830" b="0">
                <a:solidFill>
                  <a:srgbClr val="E4E4E7"/>
                </a:solidFill>
                <a:latin typeface="Inter"/>
              </a:defRPr>
            </a:pPr>
            <a:r>
              <a:t>Generate proposed migration scaffold</a:t>
            </a:r>
          </a:p>
        </p:txBody>
      </p:sp>
      <p:sp>
        <p:nvSpPr>
          <p:cNvPr id="63" name="Rounded Rectangle 62"/>
          <p:cNvSpPr/>
          <p:nvPr/>
        </p:nvSpPr>
        <p:spPr>
          <a:xfrm>
            <a:off x="10378440" y="3767328"/>
            <a:ext cx="822960" cy="201168"/>
          </a:xfrm>
          <a:prstGeom prst="roundRect">
            <a:avLst>
              <a:gd name="adj" fmla="val 8000"/>
            </a:avLst>
          </a:prstGeom>
          <a:solidFill>
            <a:srgbClr val="202024"/>
          </a:solidFill>
          <a:ln w="7620">
            <a:solidFill>
              <a:srgbClr val="3838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0415015" y="3776472"/>
            <a:ext cx="749808" cy="182880"/>
          </a:xfrm>
          <a:prstGeom prst="rect">
            <a:avLst/>
          </a:prstGeom>
          <a:noFill/>
        </p:spPr>
        <p:txBody>
          <a:bodyPr wrap="square" lIns="0" rIns="0" tIns="0" bIns="0" anchor="ctr">
            <a:spAutoFit/>
          </a:bodyPr>
          <a:lstStyle/>
          <a:p>
            <a:pPr algn="ctr">
              <a:lnSpc>
                <a:spcPct val="100000"/>
              </a:lnSpc>
              <a:defRPr sz="570" b="1">
                <a:solidFill>
                  <a:srgbClr val="A1A1AA"/>
                </a:solidFill>
                <a:latin typeface="Inter"/>
              </a:defRPr>
            </a:pPr>
            <a:r>
              <a:t>SIM</a:t>
            </a:r>
          </a:p>
        </p:txBody>
      </p:sp>
      <p:sp>
        <p:nvSpPr>
          <p:cNvPr id="65" name="Rounded Rectangle 64"/>
          <p:cNvSpPr/>
          <p:nvPr/>
        </p:nvSpPr>
        <p:spPr>
          <a:xfrm>
            <a:off x="4553712" y="4160520"/>
            <a:ext cx="246888" cy="246888"/>
          </a:xfrm>
          <a:prstGeom prst="roundRect">
            <a:avLst>
              <a:gd name="adj" fmla="val 8000"/>
            </a:avLst>
          </a:prstGeom>
          <a:solidFill>
            <a:srgbClr val="211B35"/>
          </a:solidFill>
          <a:ln w="7620">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4553712" y="4160520"/>
            <a:ext cx="246888" cy="246888"/>
          </a:xfrm>
          <a:prstGeom prst="rect">
            <a:avLst/>
          </a:prstGeom>
          <a:noFill/>
        </p:spPr>
        <p:txBody>
          <a:bodyPr wrap="square" lIns="0" rIns="0" tIns="0" bIns="0" anchor="ctr">
            <a:spAutoFit/>
          </a:bodyPr>
          <a:lstStyle/>
          <a:p>
            <a:pPr algn="ctr">
              <a:lnSpc>
                <a:spcPct val="100000"/>
              </a:lnSpc>
              <a:defRPr sz="620" b="1">
                <a:solidFill>
                  <a:srgbClr val="A78BFA"/>
                </a:solidFill>
                <a:latin typeface="Inter"/>
              </a:defRPr>
            </a:pPr>
            <a:r>
              <a:t>5</a:t>
            </a:r>
          </a:p>
        </p:txBody>
      </p:sp>
      <p:sp>
        <p:nvSpPr>
          <p:cNvPr id="67" name="TextBox 66"/>
          <p:cNvSpPr txBox="1"/>
          <p:nvPr/>
        </p:nvSpPr>
        <p:spPr>
          <a:xfrm>
            <a:off x="4928616" y="4178807"/>
            <a:ext cx="4937760" cy="210312"/>
          </a:xfrm>
          <a:prstGeom prst="rect">
            <a:avLst/>
          </a:prstGeom>
          <a:noFill/>
        </p:spPr>
        <p:txBody>
          <a:bodyPr wrap="square" lIns="0" rIns="0" tIns="0" bIns="0" anchor="t">
            <a:spAutoFit/>
          </a:bodyPr>
          <a:lstStyle/>
          <a:p>
            <a:pPr algn="l">
              <a:lnSpc>
                <a:spcPct val="100000"/>
              </a:lnSpc>
              <a:defRPr sz="830" b="0">
                <a:solidFill>
                  <a:srgbClr val="E4E4E7"/>
                </a:solidFill>
                <a:latin typeface="Inter"/>
              </a:defRPr>
            </a:pPr>
            <a:r>
              <a:t>Introduce deliberate business-rule change</a:t>
            </a:r>
          </a:p>
        </p:txBody>
      </p:sp>
      <p:sp>
        <p:nvSpPr>
          <p:cNvPr id="68" name="Rounded Rectangle 67"/>
          <p:cNvSpPr/>
          <p:nvPr/>
        </p:nvSpPr>
        <p:spPr>
          <a:xfrm>
            <a:off x="10378440" y="4169663"/>
            <a:ext cx="822960" cy="201168"/>
          </a:xfrm>
          <a:prstGeom prst="roundRect">
            <a:avLst>
              <a:gd name="adj" fmla="val 8000"/>
            </a:avLst>
          </a:prstGeom>
          <a:solidFill>
            <a:srgbClr val="202024"/>
          </a:solidFill>
          <a:ln w="7620">
            <a:solidFill>
              <a:srgbClr val="3838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0415015" y="4178807"/>
            <a:ext cx="749808" cy="182880"/>
          </a:xfrm>
          <a:prstGeom prst="rect">
            <a:avLst/>
          </a:prstGeom>
          <a:noFill/>
        </p:spPr>
        <p:txBody>
          <a:bodyPr wrap="square" lIns="0" rIns="0" tIns="0" bIns="0" anchor="ctr">
            <a:spAutoFit/>
          </a:bodyPr>
          <a:lstStyle/>
          <a:p>
            <a:pPr algn="ctr">
              <a:lnSpc>
                <a:spcPct val="100000"/>
              </a:lnSpc>
              <a:defRPr sz="570" b="1">
                <a:solidFill>
                  <a:srgbClr val="A1A1AA"/>
                </a:solidFill>
                <a:latin typeface="Inter"/>
              </a:defRPr>
            </a:pPr>
            <a:r>
              <a:t>SIM</a:t>
            </a:r>
          </a:p>
        </p:txBody>
      </p:sp>
      <p:sp>
        <p:nvSpPr>
          <p:cNvPr id="70" name="Rounded Rectangle 69"/>
          <p:cNvSpPr/>
          <p:nvPr/>
        </p:nvSpPr>
        <p:spPr>
          <a:xfrm>
            <a:off x="4553712" y="4562856"/>
            <a:ext cx="246888" cy="246888"/>
          </a:xfrm>
          <a:prstGeom prst="roundRect">
            <a:avLst>
              <a:gd name="adj" fmla="val 8000"/>
            </a:avLst>
          </a:prstGeom>
          <a:solidFill>
            <a:srgbClr val="211B35"/>
          </a:solidFill>
          <a:ln w="7620">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553712" y="4562856"/>
            <a:ext cx="246888" cy="246888"/>
          </a:xfrm>
          <a:prstGeom prst="rect">
            <a:avLst/>
          </a:prstGeom>
          <a:noFill/>
        </p:spPr>
        <p:txBody>
          <a:bodyPr wrap="square" lIns="0" rIns="0" tIns="0" bIns="0" anchor="ctr">
            <a:spAutoFit/>
          </a:bodyPr>
          <a:lstStyle/>
          <a:p>
            <a:pPr algn="ctr">
              <a:lnSpc>
                <a:spcPct val="100000"/>
              </a:lnSpc>
              <a:defRPr sz="620" b="1">
                <a:solidFill>
                  <a:srgbClr val="A78BFA"/>
                </a:solidFill>
                <a:latin typeface="Inter"/>
              </a:defRPr>
            </a:pPr>
            <a:r>
              <a:t>6</a:t>
            </a:r>
          </a:p>
        </p:txBody>
      </p:sp>
      <p:sp>
        <p:nvSpPr>
          <p:cNvPr id="72" name="TextBox 71"/>
          <p:cNvSpPr txBox="1"/>
          <p:nvPr/>
        </p:nvSpPr>
        <p:spPr>
          <a:xfrm>
            <a:off x="4928616" y="4581144"/>
            <a:ext cx="4937760" cy="210312"/>
          </a:xfrm>
          <a:prstGeom prst="rect">
            <a:avLst/>
          </a:prstGeom>
          <a:noFill/>
        </p:spPr>
        <p:txBody>
          <a:bodyPr wrap="square" lIns="0" rIns="0" tIns="0" bIns="0" anchor="t">
            <a:spAutoFit/>
          </a:bodyPr>
          <a:lstStyle/>
          <a:p>
            <a:pPr algn="l">
              <a:lnSpc>
                <a:spcPct val="100000"/>
              </a:lnSpc>
              <a:defRPr sz="830" b="0">
                <a:solidFill>
                  <a:srgbClr val="E4E4E7"/>
                </a:solidFill>
                <a:latin typeface="Inter"/>
              </a:defRPr>
            </a:pPr>
            <a:r>
              <a:t>Run regression test + show actual result</a:t>
            </a:r>
          </a:p>
        </p:txBody>
      </p:sp>
      <p:sp>
        <p:nvSpPr>
          <p:cNvPr id="73" name="Rounded Rectangle 72"/>
          <p:cNvSpPr/>
          <p:nvPr/>
        </p:nvSpPr>
        <p:spPr>
          <a:xfrm>
            <a:off x="10378440" y="4572000"/>
            <a:ext cx="822960" cy="201168"/>
          </a:xfrm>
          <a:prstGeom prst="roundRect">
            <a:avLst>
              <a:gd name="adj" fmla="val 8000"/>
            </a:avLst>
          </a:prstGeom>
          <a:solidFill>
            <a:srgbClr val="202024"/>
          </a:solidFill>
          <a:ln w="7620">
            <a:solidFill>
              <a:srgbClr val="3838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10415015" y="4581144"/>
            <a:ext cx="749808" cy="182880"/>
          </a:xfrm>
          <a:prstGeom prst="rect">
            <a:avLst/>
          </a:prstGeom>
          <a:noFill/>
        </p:spPr>
        <p:txBody>
          <a:bodyPr wrap="square" lIns="0" rIns="0" tIns="0" bIns="0" anchor="ctr">
            <a:spAutoFit/>
          </a:bodyPr>
          <a:lstStyle/>
          <a:p>
            <a:pPr algn="ctr">
              <a:lnSpc>
                <a:spcPct val="100000"/>
              </a:lnSpc>
              <a:defRPr sz="570" b="1">
                <a:solidFill>
                  <a:srgbClr val="FBBF24"/>
                </a:solidFill>
                <a:latin typeface="Inter"/>
              </a:defRPr>
            </a:pPr>
            <a:r>
              <a:t>PLAN</a:t>
            </a:r>
          </a:p>
        </p:txBody>
      </p:sp>
      <p:sp>
        <p:nvSpPr>
          <p:cNvPr id="75" name="Rounded Rectangle 74"/>
          <p:cNvSpPr/>
          <p:nvPr/>
        </p:nvSpPr>
        <p:spPr>
          <a:xfrm>
            <a:off x="4553712" y="4965192"/>
            <a:ext cx="246888" cy="246888"/>
          </a:xfrm>
          <a:prstGeom prst="roundRect">
            <a:avLst>
              <a:gd name="adj" fmla="val 8000"/>
            </a:avLst>
          </a:prstGeom>
          <a:solidFill>
            <a:srgbClr val="211B35"/>
          </a:solidFill>
          <a:ln w="7620">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4553712" y="4965192"/>
            <a:ext cx="246888" cy="246888"/>
          </a:xfrm>
          <a:prstGeom prst="rect">
            <a:avLst/>
          </a:prstGeom>
          <a:noFill/>
        </p:spPr>
        <p:txBody>
          <a:bodyPr wrap="square" lIns="0" rIns="0" tIns="0" bIns="0" anchor="ctr">
            <a:spAutoFit/>
          </a:bodyPr>
          <a:lstStyle/>
          <a:p>
            <a:pPr algn="ctr">
              <a:lnSpc>
                <a:spcPct val="100000"/>
              </a:lnSpc>
              <a:defRPr sz="620" b="1">
                <a:solidFill>
                  <a:srgbClr val="A78BFA"/>
                </a:solidFill>
                <a:latin typeface="Inter"/>
              </a:defRPr>
            </a:pPr>
            <a:r>
              <a:t>7</a:t>
            </a:r>
          </a:p>
        </p:txBody>
      </p:sp>
      <p:sp>
        <p:nvSpPr>
          <p:cNvPr id="77" name="TextBox 76"/>
          <p:cNvSpPr txBox="1"/>
          <p:nvPr/>
        </p:nvSpPr>
        <p:spPr>
          <a:xfrm>
            <a:off x="4928616" y="4983479"/>
            <a:ext cx="4937760" cy="210312"/>
          </a:xfrm>
          <a:prstGeom prst="rect">
            <a:avLst/>
          </a:prstGeom>
          <a:noFill/>
        </p:spPr>
        <p:txBody>
          <a:bodyPr wrap="square" lIns="0" rIns="0" tIns="0" bIns="0" anchor="t">
            <a:spAutoFit/>
          </a:bodyPr>
          <a:lstStyle/>
          <a:p>
            <a:pPr algn="l">
              <a:lnSpc>
                <a:spcPct val="100000"/>
              </a:lnSpc>
              <a:defRPr sz="830" b="0">
                <a:solidFill>
                  <a:srgbClr val="E4E4E7"/>
                </a:solidFill>
                <a:latin typeface="Inter"/>
              </a:defRPr>
            </a:pPr>
            <a:r>
              <a:t>Review TinyFish cited guidance when configured</a:t>
            </a:r>
          </a:p>
        </p:txBody>
      </p:sp>
      <p:sp>
        <p:nvSpPr>
          <p:cNvPr id="78" name="Rounded Rectangle 77"/>
          <p:cNvSpPr/>
          <p:nvPr/>
        </p:nvSpPr>
        <p:spPr>
          <a:xfrm>
            <a:off x="10378440" y="4974336"/>
            <a:ext cx="914400" cy="201168"/>
          </a:xfrm>
          <a:prstGeom prst="roundRect">
            <a:avLst>
              <a:gd name="adj" fmla="val 8000"/>
            </a:avLst>
          </a:prstGeom>
          <a:solidFill>
            <a:srgbClr val="202024"/>
          </a:solidFill>
          <a:ln w="7620">
            <a:solidFill>
              <a:srgbClr val="3838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10415015" y="4983479"/>
            <a:ext cx="841248" cy="182880"/>
          </a:xfrm>
          <a:prstGeom prst="rect">
            <a:avLst/>
          </a:prstGeom>
          <a:noFill/>
        </p:spPr>
        <p:txBody>
          <a:bodyPr wrap="square" lIns="0" rIns="0" tIns="0" bIns="0" anchor="ctr">
            <a:spAutoFit/>
          </a:bodyPr>
          <a:lstStyle/>
          <a:p>
            <a:pPr algn="ctr">
              <a:lnSpc>
                <a:spcPct val="100000"/>
              </a:lnSpc>
              <a:defRPr sz="570" b="1">
                <a:solidFill>
                  <a:srgbClr val="FBBF24"/>
                </a:solidFill>
                <a:latin typeface="Inter"/>
              </a:defRPr>
            </a:pPr>
            <a:r>
              <a:t>CONFIG</a:t>
            </a:r>
          </a:p>
        </p:txBody>
      </p:sp>
      <p:sp>
        <p:nvSpPr>
          <p:cNvPr id="80" name="Rounded Rectangle 79"/>
          <p:cNvSpPr/>
          <p:nvPr/>
        </p:nvSpPr>
        <p:spPr>
          <a:xfrm>
            <a:off x="4553712" y="5367528"/>
            <a:ext cx="246888" cy="246888"/>
          </a:xfrm>
          <a:prstGeom prst="roundRect">
            <a:avLst>
              <a:gd name="adj" fmla="val 8000"/>
            </a:avLst>
          </a:prstGeom>
          <a:solidFill>
            <a:srgbClr val="211B35"/>
          </a:solidFill>
          <a:ln w="7620">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4553712" y="5367528"/>
            <a:ext cx="246888" cy="246888"/>
          </a:xfrm>
          <a:prstGeom prst="rect">
            <a:avLst/>
          </a:prstGeom>
          <a:noFill/>
        </p:spPr>
        <p:txBody>
          <a:bodyPr wrap="square" lIns="0" rIns="0" tIns="0" bIns="0" anchor="ctr">
            <a:spAutoFit/>
          </a:bodyPr>
          <a:lstStyle/>
          <a:p>
            <a:pPr algn="ctr">
              <a:lnSpc>
                <a:spcPct val="100000"/>
              </a:lnSpc>
              <a:defRPr sz="620" b="1">
                <a:solidFill>
                  <a:srgbClr val="A78BFA"/>
                </a:solidFill>
                <a:latin typeface="Inter"/>
              </a:defRPr>
            </a:pPr>
            <a:r>
              <a:t>8</a:t>
            </a:r>
          </a:p>
        </p:txBody>
      </p:sp>
      <p:sp>
        <p:nvSpPr>
          <p:cNvPr id="82" name="TextBox 81"/>
          <p:cNvSpPr txBox="1"/>
          <p:nvPr/>
        </p:nvSpPr>
        <p:spPr>
          <a:xfrm>
            <a:off x="4928616" y="5385816"/>
            <a:ext cx="4937760" cy="210312"/>
          </a:xfrm>
          <a:prstGeom prst="rect">
            <a:avLst/>
          </a:prstGeom>
          <a:noFill/>
        </p:spPr>
        <p:txBody>
          <a:bodyPr wrap="square" lIns="0" rIns="0" tIns="0" bIns="0" anchor="t">
            <a:spAutoFit/>
          </a:bodyPr>
          <a:lstStyle/>
          <a:p>
            <a:pPr algn="l">
              <a:lnSpc>
                <a:spcPct val="100000"/>
              </a:lnSpc>
              <a:defRPr sz="830" b="0">
                <a:solidFill>
                  <a:srgbClr val="E4E4E7"/>
                </a:solidFill>
                <a:latin typeface="Inter"/>
              </a:defRPr>
            </a:pPr>
            <a:r>
              <a:t>Export validation report</a:t>
            </a:r>
          </a:p>
        </p:txBody>
      </p:sp>
      <p:sp>
        <p:nvSpPr>
          <p:cNvPr id="83" name="Rounded Rectangle 82"/>
          <p:cNvSpPr/>
          <p:nvPr/>
        </p:nvSpPr>
        <p:spPr>
          <a:xfrm>
            <a:off x="10378440" y="5376672"/>
            <a:ext cx="822960" cy="201168"/>
          </a:xfrm>
          <a:prstGeom prst="roundRect">
            <a:avLst>
              <a:gd name="adj" fmla="val 8000"/>
            </a:avLst>
          </a:prstGeom>
          <a:solidFill>
            <a:srgbClr val="202024"/>
          </a:solidFill>
          <a:ln w="7620">
            <a:solidFill>
              <a:srgbClr val="3838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10415015" y="5385816"/>
            <a:ext cx="749808" cy="182880"/>
          </a:xfrm>
          <a:prstGeom prst="rect">
            <a:avLst/>
          </a:prstGeom>
          <a:noFill/>
        </p:spPr>
        <p:txBody>
          <a:bodyPr wrap="square" lIns="0" rIns="0" tIns="0" bIns="0" anchor="ctr">
            <a:spAutoFit/>
          </a:bodyPr>
          <a:lstStyle/>
          <a:p>
            <a:pPr algn="ctr">
              <a:lnSpc>
                <a:spcPct val="100000"/>
              </a:lnSpc>
              <a:defRPr sz="570" b="1">
                <a:solidFill>
                  <a:srgbClr val="A1A1AA"/>
                </a:solidFill>
                <a:latin typeface="Inter"/>
              </a:defRPr>
            </a:pPr>
            <a:r>
              <a:t>SIM</a:t>
            </a:r>
          </a:p>
        </p:txBody>
      </p:sp>
      <p:cxnSp>
        <p:nvCxnSpPr>
          <p:cNvPr id="85" name="Connector 84"/>
          <p:cNvCxnSpPr/>
          <p:nvPr/>
        </p:nvCxnSpPr>
        <p:spPr>
          <a:xfrm>
            <a:off x="4553712" y="5815584"/>
            <a:ext cx="6803136" cy="0"/>
          </a:xfrm>
          <a:prstGeom prst="line">
            <a:avLst/>
          </a:prstGeom>
          <a:ln w="6985">
            <a:solidFill>
              <a:srgbClr val="2B2B33"/>
            </a:solidFill>
          </a:ln>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4553712" y="5934456"/>
            <a:ext cx="6583680" cy="164592"/>
          </a:xfrm>
          <a:prstGeom prst="rect">
            <a:avLst/>
          </a:prstGeom>
          <a:noFill/>
        </p:spPr>
        <p:txBody>
          <a:bodyPr wrap="square" lIns="0" rIns="0" tIns="0" bIns="0" anchor="t">
            <a:spAutoFit/>
          </a:bodyPr>
          <a:lstStyle/>
          <a:p>
            <a:pPr algn="l">
              <a:lnSpc>
                <a:spcPct val="100000"/>
              </a:lnSpc>
              <a:defRPr sz="650" b="0">
                <a:solidFill>
                  <a:srgbClr val="71717A"/>
                </a:solidFill>
                <a:latin typeface="Inter"/>
              </a:defRPr>
            </a:pPr>
            <a:r>
              <a:t>UI = current interface  •  SIM = simulated prototype state  •  PLAN = planned live execution  •  CONFIG = integration required</a:t>
            </a:r>
          </a:p>
        </p:txBody>
      </p:sp>
      <p:sp>
        <p:nvSpPr>
          <p:cNvPr id="87" name="Rounded Rectangle 86"/>
          <p:cNvSpPr/>
          <p:nvPr/>
        </p:nvSpPr>
        <p:spPr>
          <a:xfrm>
            <a:off x="548640" y="6254496"/>
            <a:ext cx="11082528" cy="164592"/>
          </a:xfrm>
          <a:prstGeom prst="roundRect">
            <a:avLst>
              <a:gd name="adj" fmla="val 8000"/>
            </a:avLst>
          </a:prstGeom>
          <a:solidFill>
            <a:srgbClr val="1111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640080" y="6254496"/>
            <a:ext cx="10881360" cy="164592"/>
          </a:xfrm>
          <a:prstGeom prst="rect">
            <a:avLst/>
          </a:prstGeom>
          <a:noFill/>
        </p:spPr>
        <p:txBody>
          <a:bodyPr wrap="square" lIns="0" rIns="0" tIns="0" bIns="0" anchor="ctr">
            <a:spAutoFit/>
          </a:bodyPr>
          <a:lstStyle/>
          <a:p>
            <a:pPr algn="ctr">
              <a:lnSpc>
                <a:spcPct val="100000"/>
              </a:lnSpc>
              <a:defRPr sz="590" b="0">
                <a:solidFill>
                  <a:srgbClr val="A1A1AA"/>
                </a:solidFill>
                <a:latin typeface="Inter"/>
              </a:defRPr>
            </a:pPr>
            <a:r>
              <a:t>VERIFIED HERE: Vite/React UI + Clerk-ready auth  |  SIMULATED: analysis, graph, plan, drift, research, export  |  NOT IMPLEMENTED: real parsers, scaffolds, isolated execution, external integrations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9090B"/>
        </a:solidFill>
        <a:effectLst/>
      </p:bgPr>
    </p:bg>
    <p:spTree>
      <p:nvGrpSpPr>
        <p:cNvPr id="1" name=""/>
        <p:cNvGrpSpPr/>
        <p:nvPr/>
      </p:nvGrpSpPr>
      <p:grpSpPr/>
      <p:cxnSp>
        <p:nvCxnSpPr>
          <p:cNvPr id="2" name="Connector 1"/>
          <p:cNvCxnSpPr/>
          <p:nvPr/>
        </p:nvCxnSpPr>
        <p:spPr>
          <a:xfrm>
            <a:off x="3044952" y="0"/>
            <a:ext cx="0" cy="6858000"/>
          </a:xfrm>
          <a:prstGeom prst="line">
            <a:avLst/>
          </a:prstGeom>
          <a:ln w="4445">
            <a:solidFill>
              <a:srgbClr val="111114"/>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6089904" y="0"/>
            <a:ext cx="0" cy="6858000"/>
          </a:xfrm>
          <a:prstGeom prst="line">
            <a:avLst/>
          </a:prstGeom>
          <a:ln w="4445">
            <a:solidFill>
              <a:srgbClr val="111114"/>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9134856" y="0"/>
            <a:ext cx="0" cy="6858000"/>
          </a:xfrm>
          <a:prstGeom prst="line">
            <a:avLst/>
          </a:prstGeom>
          <a:ln w="4445">
            <a:solidFill>
              <a:srgbClr val="111114"/>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02920" y="612648"/>
            <a:ext cx="11183112" cy="0"/>
          </a:xfrm>
          <a:prstGeom prst="line">
            <a:avLst/>
          </a:prstGeom>
          <a:ln w="6985">
            <a:solidFill>
              <a:srgbClr val="202024"/>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246888"/>
            <a:ext cx="228600" cy="228600"/>
          </a:xfrm>
          <a:prstGeom prst="roundRect">
            <a:avLst>
              <a:gd name="adj" fmla="val 8000"/>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46888"/>
            <a:ext cx="228600" cy="228600"/>
          </a:xfrm>
          <a:prstGeom prst="rect">
            <a:avLst/>
          </a:prstGeom>
          <a:noFill/>
        </p:spPr>
        <p:txBody>
          <a:bodyPr wrap="square" lIns="0" rIns="0" tIns="0" bIns="0" anchor="ctr">
            <a:spAutoFit/>
          </a:bodyPr>
          <a:lstStyle/>
          <a:p>
            <a:pPr algn="ctr">
              <a:lnSpc>
                <a:spcPct val="100000"/>
              </a:lnSpc>
              <a:defRPr sz="650" b="1">
                <a:solidFill>
                  <a:srgbClr val="09090B"/>
                </a:solidFill>
                <a:latin typeface="Inter"/>
              </a:defRPr>
            </a:pPr>
            <a:r>
              <a:t>LB</a:t>
            </a:r>
          </a:p>
        </p:txBody>
      </p:sp>
      <p:sp>
        <p:nvSpPr>
          <p:cNvPr id="8" name="TextBox 7"/>
          <p:cNvSpPr txBox="1"/>
          <p:nvPr/>
        </p:nvSpPr>
        <p:spPr>
          <a:xfrm>
            <a:off x="804672" y="269748"/>
            <a:ext cx="2011680" cy="201168"/>
          </a:xfrm>
          <a:prstGeom prst="rect">
            <a:avLst/>
          </a:prstGeom>
          <a:noFill/>
        </p:spPr>
        <p:txBody>
          <a:bodyPr wrap="square" lIns="0" rIns="0" tIns="0" bIns="0" anchor="t">
            <a:spAutoFit/>
          </a:bodyPr>
          <a:lstStyle/>
          <a:p>
            <a:pPr algn="l">
              <a:lnSpc>
                <a:spcPct val="100000"/>
              </a:lnSpc>
              <a:defRPr sz="850" b="1">
                <a:solidFill>
                  <a:srgbClr val="E4E4E7"/>
                </a:solidFill>
                <a:latin typeface="Inter"/>
              </a:defRPr>
            </a:pPr>
            <a:r>
              <a:t>LEGACYBRIDGE</a:t>
            </a:r>
          </a:p>
        </p:txBody>
      </p:sp>
      <p:sp>
        <p:nvSpPr>
          <p:cNvPr id="9" name="Rounded Rectangle 8"/>
          <p:cNvSpPr/>
          <p:nvPr/>
        </p:nvSpPr>
        <p:spPr>
          <a:xfrm>
            <a:off x="11045952" y="237744"/>
            <a:ext cx="640080" cy="256032"/>
          </a:xfrm>
          <a:prstGeom prst="roundRect">
            <a:avLst>
              <a:gd name="adj" fmla="val 8000"/>
            </a:avLst>
          </a:prstGeom>
          <a:solidFill>
            <a:srgbClr val="111114"/>
          </a:solidFill>
          <a:ln w="7620">
            <a:solidFill>
              <a:srgbClr val="2B2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082528" y="246888"/>
            <a:ext cx="566928" cy="237744"/>
          </a:xfrm>
          <a:prstGeom prst="rect">
            <a:avLst/>
          </a:prstGeom>
          <a:noFill/>
        </p:spPr>
        <p:txBody>
          <a:bodyPr wrap="square" lIns="0" rIns="0" tIns="0" bIns="0" anchor="ctr">
            <a:spAutoFit/>
          </a:bodyPr>
          <a:lstStyle/>
          <a:p>
            <a:pPr algn="ctr">
              <a:lnSpc>
                <a:spcPct val="100000"/>
              </a:lnSpc>
              <a:defRPr sz="700" b="1">
                <a:solidFill>
                  <a:srgbClr val="A1A1AA"/>
                </a:solidFill>
                <a:latin typeface="Inter"/>
              </a:defRPr>
            </a:pPr>
            <a:r>
              <a:t>10 / 10</a:t>
            </a:r>
          </a:p>
        </p:txBody>
      </p:sp>
      <p:sp>
        <p:nvSpPr>
          <p:cNvPr id="11" name="TextBox 10"/>
          <p:cNvSpPr txBox="1"/>
          <p:nvPr/>
        </p:nvSpPr>
        <p:spPr>
          <a:xfrm>
            <a:off x="548640" y="768096"/>
            <a:ext cx="6858000" cy="219456"/>
          </a:xfrm>
          <a:prstGeom prst="rect">
            <a:avLst/>
          </a:prstGeom>
          <a:noFill/>
        </p:spPr>
        <p:txBody>
          <a:bodyPr wrap="square" lIns="0" rIns="0" tIns="0" bIns="0" anchor="t">
            <a:spAutoFit/>
          </a:bodyPr>
          <a:lstStyle/>
          <a:p>
            <a:pPr algn="l">
              <a:lnSpc>
                <a:spcPct val="100000"/>
              </a:lnSpc>
              <a:defRPr sz="800" b="1">
                <a:solidFill>
                  <a:srgbClr val="A78BFA"/>
                </a:solidFill>
                <a:latin typeface="Inter"/>
              </a:defRPr>
            </a:pPr>
            <a:r>
              <a:t>IMPACT, ROADMAP AND CLOSING</a:t>
            </a:r>
          </a:p>
        </p:txBody>
      </p:sp>
      <p:sp>
        <p:nvSpPr>
          <p:cNvPr id="12" name="TextBox 11"/>
          <p:cNvSpPr txBox="1"/>
          <p:nvPr/>
        </p:nvSpPr>
        <p:spPr>
          <a:xfrm>
            <a:off x="548640" y="996696"/>
            <a:ext cx="11064240" cy="585216"/>
          </a:xfrm>
          <a:prstGeom prst="rect">
            <a:avLst/>
          </a:prstGeom>
          <a:noFill/>
        </p:spPr>
        <p:txBody>
          <a:bodyPr wrap="square" lIns="0" rIns="0" tIns="0" bIns="0" anchor="t">
            <a:spAutoFit/>
          </a:bodyPr>
          <a:lstStyle/>
          <a:p>
            <a:pPr algn="l">
              <a:lnSpc>
                <a:spcPct val="95000"/>
              </a:lnSpc>
              <a:defRPr sz="2300" b="1">
                <a:solidFill>
                  <a:srgbClr val="FAFAFA"/>
                </a:solidFill>
                <a:latin typeface="Inter"/>
              </a:defRPr>
            </a:pPr>
            <a:r>
              <a:t>Make Legacy Modernization More Understandable, Testable, and Controlled.</a:t>
            </a:r>
          </a:p>
        </p:txBody>
      </p:sp>
      <p:sp>
        <p:nvSpPr>
          <p:cNvPr id="13" name="TextBox 12"/>
          <p:cNvSpPr txBox="1"/>
          <p:nvPr/>
        </p:nvSpPr>
        <p:spPr>
          <a:xfrm>
            <a:off x="548640" y="1545336"/>
            <a:ext cx="10972800" cy="347472"/>
          </a:xfrm>
          <a:prstGeom prst="rect">
            <a:avLst/>
          </a:prstGeom>
          <a:noFill/>
        </p:spPr>
        <p:txBody>
          <a:bodyPr wrap="square" lIns="0" rIns="0" tIns="0" bIns="0" anchor="t">
            <a:spAutoFit/>
          </a:bodyPr>
          <a:lstStyle/>
          <a:p>
            <a:pPr algn="l">
              <a:lnSpc>
                <a:spcPct val="100000"/>
              </a:lnSpc>
              <a:defRPr sz="1050" b="0">
                <a:solidFill>
                  <a:srgbClr val="A1A1AA"/>
                </a:solidFill>
                <a:latin typeface="Inter"/>
              </a:defRPr>
            </a:pPr>
            <a:r>
              <a:t>Intended value for teams maintaining business-critical legacy applications.</a:t>
            </a:r>
          </a:p>
        </p:txBody>
      </p:sp>
      <p:cxnSp>
        <p:nvCxnSpPr>
          <p:cNvPr id="14" name="Connector 13"/>
          <p:cNvCxnSpPr/>
          <p:nvPr/>
        </p:nvCxnSpPr>
        <p:spPr>
          <a:xfrm>
            <a:off x="502920" y="6473952"/>
            <a:ext cx="11183112" cy="0"/>
          </a:xfrm>
          <a:prstGeom prst="line">
            <a:avLst/>
          </a:prstGeom>
          <a:ln w="6985">
            <a:solidFill>
              <a:srgbClr val="202024"/>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48640" y="6565392"/>
            <a:ext cx="7909560" cy="164592"/>
          </a:xfrm>
          <a:prstGeom prst="rect">
            <a:avLst/>
          </a:prstGeom>
          <a:noFill/>
        </p:spPr>
        <p:txBody>
          <a:bodyPr wrap="square" lIns="0" rIns="0" tIns="0" bIns="0" anchor="t">
            <a:spAutoFit/>
          </a:bodyPr>
          <a:lstStyle/>
          <a:p>
            <a:pPr algn="l">
              <a:lnSpc>
                <a:spcPct val="100000"/>
              </a:lnSpc>
              <a:defRPr sz="630" b="0">
                <a:solidFill>
                  <a:srgbClr val="71717A"/>
                </a:solidFill>
                <a:latin typeface="Inter"/>
              </a:defRPr>
            </a:pPr>
            <a:r>
              <a:t>No customer, accuracy, market-share, revenue, or traction claims</a:t>
            </a:r>
          </a:p>
        </p:txBody>
      </p:sp>
      <p:sp>
        <p:nvSpPr>
          <p:cNvPr id="16" name="TextBox 15"/>
          <p:cNvSpPr txBox="1"/>
          <p:nvPr/>
        </p:nvSpPr>
        <p:spPr>
          <a:xfrm>
            <a:off x="8732520" y="6565392"/>
            <a:ext cx="2926080" cy="164592"/>
          </a:xfrm>
          <a:prstGeom prst="rect">
            <a:avLst/>
          </a:prstGeom>
          <a:noFill/>
        </p:spPr>
        <p:txBody>
          <a:bodyPr wrap="square" lIns="0" rIns="0" tIns="0" bIns="0" anchor="t">
            <a:spAutoFit/>
          </a:bodyPr>
          <a:lstStyle/>
          <a:p>
            <a:pPr algn="r">
              <a:lnSpc>
                <a:spcPct val="100000"/>
              </a:lnSpc>
              <a:defRPr sz="610" b="0">
                <a:solidFill>
                  <a:srgbClr val="71717A"/>
                </a:solidFill>
                <a:latin typeface="Inter"/>
              </a:defRPr>
            </a:pPr>
            <a:r>
              <a:t>PROPOSED PRODUCT • HACKATHON PRESENTATION</a:t>
            </a:r>
          </a:p>
        </p:txBody>
      </p:sp>
      <p:sp>
        <p:nvSpPr>
          <p:cNvPr id="17" name="Rounded Rectangle 16"/>
          <p:cNvSpPr/>
          <p:nvPr/>
        </p:nvSpPr>
        <p:spPr>
          <a:xfrm>
            <a:off x="548640" y="1938528"/>
            <a:ext cx="2788920" cy="1664208"/>
          </a:xfrm>
          <a:prstGeom prst="roundRect">
            <a:avLst>
              <a:gd name="adj" fmla="val 8000"/>
            </a:avLst>
          </a:prstGeom>
          <a:solidFill>
            <a:srgbClr val="111114"/>
          </a:solidFill>
          <a:ln w="9525">
            <a:solidFill>
              <a:srgbClr val="2B2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2167128"/>
            <a:ext cx="1554480" cy="201168"/>
          </a:xfrm>
          <a:prstGeom prst="rect">
            <a:avLst/>
          </a:prstGeom>
          <a:noFill/>
        </p:spPr>
        <p:txBody>
          <a:bodyPr wrap="square" lIns="0" rIns="0" tIns="0" bIns="0" anchor="t">
            <a:spAutoFit/>
          </a:bodyPr>
          <a:lstStyle/>
          <a:p>
            <a:pPr algn="l">
              <a:lnSpc>
                <a:spcPct val="100000"/>
              </a:lnSpc>
              <a:defRPr sz="720" b="1">
                <a:solidFill>
                  <a:srgbClr val="A78BFA"/>
                </a:solidFill>
                <a:latin typeface="Inter"/>
              </a:defRPr>
            </a:pPr>
            <a:r>
              <a:t>TARGET USERS</a:t>
            </a:r>
          </a:p>
        </p:txBody>
      </p:sp>
      <p:sp>
        <p:nvSpPr>
          <p:cNvPr id="19" name="Rounded Rectangle 18"/>
          <p:cNvSpPr/>
          <p:nvPr/>
        </p:nvSpPr>
        <p:spPr>
          <a:xfrm>
            <a:off x="777240" y="2551176"/>
            <a:ext cx="1051560" cy="274320"/>
          </a:xfrm>
          <a:prstGeom prst="roundRect">
            <a:avLst>
              <a:gd name="adj" fmla="val 8000"/>
            </a:avLst>
          </a:prstGeom>
          <a:solidFill>
            <a:srgbClr val="202024"/>
          </a:solidFill>
          <a:ln w="7620">
            <a:solidFill>
              <a:srgbClr val="3838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3816" y="2560320"/>
            <a:ext cx="978407" cy="256031"/>
          </a:xfrm>
          <a:prstGeom prst="rect">
            <a:avLst/>
          </a:prstGeom>
          <a:noFill/>
        </p:spPr>
        <p:txBody>
          <a:bodyPr wrap="square" lIns="0" rIns="0" tIns="0" bIns="0" anchor="ctr">
            <a:spAutoFit/>
          </a:bodyPr>
          <a:lstStyle/>
          <a:p>
            <a:pPr algn="ctr">
              <a:lnSpc>
                <a:spcPct val="100000"/>
              </a:lnSpc>
              <a:defRPr sz="620" b="1">
                <a:solidFill>
                  <a:srgbClr val="A1A1AA"/>
                </a:solidFill>
                <a:latin typeface="Inter"/>
              </a:defRPr>
            </a:pPr>
            <a:r>
              <a:t>Modernization teams</a:t>
            </a:r>
          </a:p>
        </p:txBody>
      </p:sp>
      <p:sp>
        <p:nvSpPr>
          <p:cNvPr id="21" name="Rounded Rectangle 20"/>
          <p:cNvSpPr/>
          <p:nvPr/>
        </p:nvSpPr>
        <p:spPr>
          <a:xfrm>
            <a:off x="1947672" y="2551176"/>
            <a:ext cx="1051560" cy="274320"/>
          </a:xfrm>
          <a:prstGeom prst="roundRect">
            <a:avLst>
              <a:gd name="adj" fmla="val 8000"/>
            </a:avLst>
          </a:prstGeom>
          <a:solidFill>
            <a:srgbClr val="202024"/>
          </a:solidFill>
          <a:ln w="7620">
            <a:solidFill>
              <a:srgbClr val="3838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984248" y="2560320"/>
            <a:ext cx="978407" cy="256031"/>
          </a:xfrm>
          <a:prstGeom prst="rect">
            <a:avLst/>
          </a:prstGeom>
          <a:noFill/>
        </p:spPr>
        <p:txBody>
          <a:bodyPr wrap="square" lIns="0" rIns="0" tIns="0" bIns="0" anchor="ctr">
            <a:spAutoFit/>
          </a:bodyPr>
          <a:lstStyle/>
          <a:p>
            <a:pPr algn="ctr">
              <a:lnSpc>
                <a:spcPct val="100000"/>
              </a:lnSpc>
              <a:defRPr sz="620" b="1">
                <a:solidFill>
                  <a:srgbClr val="A1A1AA"/>
                </a:solidFill>
                <a:latin typeface="Inter"/>
              </a:defRPr>
            </a:pPr>
            <a:r>
              <a:t>Enterprise developers</a:t>
            </a:r>
          </a:p>
        </p:txBody>
      </p:sp>
      <p:sp>
        <p:nvSpPr>
          <p:cNvPr id="23" name="Rounded Rectangle 22"/>
          <p:cNvSpPr/>
          <p:nvPr/>
        </p:nvSpPr>
        <p:spPr>
          <a:xfrm>
            <a:off x="777240" y="2980944"/>
            <a:ext cx="1051560" cy="274320"/>
          </a:xfrm>
          <a:prstGeom prst="roundRect">
            <a:avLst>
              <a:gd name="adj" fmla="val 8000"/>
            </a:avLst>
          </a:prstGeom>
          <a:solidFill>
            <a:srgbClr val="202024"/>
          </a:solidFill>
          <a:ln w="7620">
            <a:solidFill>
              <a:srgbClr val="3838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3816" y="2990087"/>
            <a:ext cx="978407" cy="256031"/>
          </a:xfrm>
          <a:prstGeom prst="rect">
            <a:avLst/>
          </a:prstGeom>
          <a:noFill/>
        </p:spPr>
        <p:txBody>
          <a:bodyPr wrap="square" lIns="0" rIns="0" tIns="0" bIns="0" anchor="ctr">
            <a:spAutoFit/>
          </a:bodyPr>
          <a:lstStyle/>
          <a:p>
            <a:pPr algn="ctr">
              <a:lnSpc>
                <a:spcPct val="100000"/>
              </a:lnSpc>
              <a:defRPr sz="620" b="1">
                <a:solidFill>
                  <a:srgbClr val="A1A1AA"/>
                </a:solidFill>
                <a:latin typeface="Inter"/>
              </a:defRPr>
            </a:pPr>
            <a:r>
              <a:t>Engineering consultants</a:t>
            </a:r>
          </a:p>
        </p:txBody>
      </p:sp>
      <p:sp>
        <p:nvSpPr>
          <p:cNvPr id="25" name="Rounded Rectangle 24"/>
          <p:cNvSpPr/>
          <p:nvPr/>
        </p:nvSpPr>
        <p:spPr>
          <a:xfrm>
            <a:off x="1947672" y="2980944"/>
            <a:ext cx="1051560" cy="274320"/>
          </a:xfrm>
          <a:prstGeom prst="roundRect">
            <a:avLst>
              <a:gd name="adj" fmla="val 8000"/>
            </a:avLst>
          </a:prstGeom>
          <a:solidFill>
            <a:srgbClr val="202024"/>
          </a:solidFill>
          <a:ln w="7620">
            <a:solidFill>
              <a:srgbClr val="3838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984248" y="2990087"/>
            <a:ext cx="978407" cy="256031"/>
          </a:xfrm>
          <a:prstGeom prst="rect">
            <a:avLst/>
          </a:prstGeom>
          <a:noFill/>
        </p:spPr>
        <p:txBody>
          <a:bodyPr wrap="square" lIns="0" rIns="0" tIns="0" bIns="0" anchor="ctr">
            <a:spAutoFit/>
          </a:bodyPr>
          <a:lstStyle/>
          <a:p>
            <a:pPr algn="ctr">
              <a:lnSpc>
                <a:spcPct val="100000"/>
              </a:lnSpc>
              <a:defRPr sz="620" b="1">
                <a:solidFill>
                  <a:srgbClr val="A1A1AA"/>
                </a:solidFill>
                <a:latin typeface="Inter"/>
              </a:defRPr>
            </a:pPr>
            <a:r>
              <a:t>Legacy system owners</a:t>
            </a:r>
          </a:p>
        </p:txBody>
      </p:sp>
      <p:sp>
        <p:nvSpPr>
          <p:cNvPr id="27" name="Rounded Rectangle 26"/>
          <p:cNvSpPr/>
          <p:nvPr/>
        </p:nvSpPr>
        <p:spPr>
          <a:xfrm>
            <a:off x="3566160" y="1938528"/>
            <a:ext cx="3730752" cy="1664208"/>
          </a:xfrm>
          <a:prstGeom prst="roundRect">
            <a:avLst>
              <a:gd name="adj" fmla="val 8000"/>
            </a:avLst>
          </a:prstGeom>
          <a:solidFill>
            <a:srgbClr val="18181B"/>
          </a:solidFill>
          <a:ln w="9525">
            <a:solidFill>
              <a:srgbClr val="2B2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794760" y="2167128"/>
            <a:ext cx="1554480" cy="201168"/>
          </a:xfrm>
          <a:prstGeom prst="rect">
            <a:avLst/>
          </a:prstGeom>
          <a:noFill/>
        </p:spPr>
        <p:txBody>
          <a:bodyPr wrap="square" lIns="0" rIns="0" tIns="0" bIns="0" anchor="t">
            <a:spAutoFit/>
          </a:bodyPr>
          <a:lstStyle/>
          <a:p>
            <a:pPr algn="l">
              <a:lnSpc>
                <a:spcPct val="100000"/>
              </a:lnSpc>
              <a:defRPr sz="720" b="1">
                <a:solidFill>
                  <a:srgbClr val="A78BFA"/>
                </a:solidFill>
                <a:latin typeface="Inter"/>
              </a:defRPr>
            </a:pPr>
            <a:r>
              <a:t>INTENDED VALUE</a:t>
            </a:r>
          </a:p>
        </p:txBody>
      </p:sp>
      <p:sp>
        <p:nvSpPr>
          <p:cNvPr id="29" name="Oval 28"/>
          <p:cNvSpPr/>
          <p:nvPr/>
        </p:nvSpPr>
        <p:spPr>
          <a:xfrm>
            <a:off x="3803904" y="2587752"/>
            <a:ext cx="50292" cy="50292"/>
          </a:xfrm>
          <a:prstGeom prst="ellipse">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941063" y="2542032"/>
            <a:ext cx="3063240" cy="210312"/>
          </a:xfrm>
          <a:prstGeom prst="rect">
            <a:avLst/>
          </a:prstGeom>
          <a:noFill/>
        </p:spPr>
        <p:txBody>
          <a:bodyPr wrap="square" lIns="0" rIns="0" tIns="0" bIns="0" anchor="t">
            <a:spAutoFit/>
          </a:bodyPr>
          <a:lstStyle/>
          <a:p>
            <a:pPr algn="l">
              <a:lnSpc>
                <a:spcPct val="100000"/>
              </a:lnSpc>
              <a:defRPr sz="770" b="0">
                <a:solidFill>
                  <a:srgbClr val="A1A1AA"/>
                </a:solidFill>
                <a:latin typeface="Inter"/>
              </a:defRPr>
            </a:pPr>
            <a:r>
              <a:t>Less manual dependency investigation</a:t>
            </a:r>
          </a:p>
        </p:txBody>
      </p:sp>
      <p:sp>
        <p:nvSpPr>
          <p:cNvPr id="31" name="Oval 30"/>
          <p:cNvSpPr/>
          <p:nvPr/>
        </p:nvSpPr>
        <p:spPr>
          <a:xfrm>
            <a:off x="3803904" y="2825496"/>
            <a:ext cx="50292" cy="50292"/>
          </a:xfrm>
          <a:prstGeom prst="ellipse">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941063" y="2779776"/>
            <a:ext cx="3063240" cy="210312"/>
          </a:xfrm>
          <a:prstGeom prst="rect">
            <a:avLst/>
          </a:prstGeom>
          <a:noFill/>
        </p:spPr>
        <p:txBody>
          <a:bodyPr wrap="square" lIns="0" rIns="0" tIns="0" bIns="0" anchor="t">
            <a:spAutoFit/>
          </a:bodyPr>
          <a:lstStyle/>
          <a:p>
            <a:pPr algn="l">
              <a:lnSpc>
                <a:spcPct val="100000"/>
              </a:lnSpc>
              <a:defRPr sz="770" b="0">
                <a:solidFill>
                  <a:srgbClr val="A1A1AA"/>
                </a:solidFill>
                <a:latin typeface="Inter"/>
              </a:defRPr>
            </a:pPr>
            <a:r>
              <a:t>Visibility into undocumented rules</a:t>
            </a:r>
          </a:p>
        </p:txBody>
      </p:sp>
      <p:sp>
        <p:nvSpPr>
          <p:cNvPr id="33" name="Oval 32"/>
          <p:cNvSpPr/>
          <p:nvPr/>
        </p:nvSpPr>
        <p:spPr>
          <a:xfrm>
            <a:off x="3803904" y="3063240"/>
            <a:ext cx="50292" cy="50292"/>
          </a:xfrm>
          <a:prstGeom prst="ellipse">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941063" y="3017520"/>
            <a:ext cx="3063240" cy="210312"/>
          </a:xfrm>
          <a:prstGeom prst="rect">
            <a:avLst/>
          </a:prstGeom>
          <a:noFill/>
        </p:spPr>
        <p:txBody>
          <a:bodyPr wrap="square" lIns="0" rIns="0" tIns="0" bIns="0" anchor="t">
            <a:spAutoFit/>
          </a:bodyPr>
          <a:lstStyle/>
          <a:p>
            <a:pPr algn="l">
              <a:lnSpc>
                <a:spcPct val="100000"/>
              </a:lnSpc>
              <a:defRPr sz="770" b="0">
                <a:solidFill>
                  <a:srgbClr val="A1A1AA"/>
                </a:solidFill>
                <a:latin typeface="Inter"/>
              </a:defRPr>
            </a:pPr>
            <a:r>
              <a:t>Structured migration planning</a:t>
            </a:r>
          </a:p>
        </p:txBody>
      </p:sp>
      <p:sp>
        <p:nvSpPr>
          <p:cNvPr id="35" name="Oval 34"/>
          <p:cNvSpPr/>
          <p:nvPr/>
        </p:nvSpPr>
        <p:spPr>
          <a:xfrm>
            <a:off x="3803904" y="3300984"/>
            <a:ext cx="50292" cy="50292"/>
          </a:xfrm>
          <a:prstGeom prst="ellipse">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941063" y="3255263"/>
            <a:ext cx="3063240" cy="210312"/>
          </a:xfrm>
          <a:prstGeom prst="rect">
            <a:avLst/>
          </a:prstGeom>
          <a:noFill/>
        </p:spPr>
        <p:txBody>
          <a:bodyPr wrap="square" lIns="0" rIns="0" tIns="0" bIns="0" anchor="t">
            <a:spAutoFit/>
          </a:bodyPr>
          <a:lstStyle/>
          <a:p>
            <a:pPr algn="l">
              <a:lnSpc>
                <a:spcPct val="100000"/>
              </a:lnSpc>
              <a:defRPr sz="770" b="0">
                <a:solidFill>
                  <a:srgbClr val="A1A1AA"/>
                </a:solidFill>
                <a:latin typeface="Inter"/>
              </a:defRPr>
            </a:pPr>
            <a:r>
              <a:t>Earlier drift detection + traceable decisions</a:t>
            </a:r>
          </a:p>
        </p:txBody>
      </p:sp>
      <p:sp>
        <p:nvSpPr>
          <p:cNvPr id="37" name="Rounded Rectangle 36"/>
          <p:cNvSpPr/>
          <p:nvPr/>
        </p:nvSpPr>
        <p:spPr>
          <a:xfrm>
            <a:off x="7543800" y="1938528"/>
            <a:ext cx="4087368" cy="1664208"/>
          </a:xfrm>
          <a:prstGeom prst="roundRect">
            <a:avLst>
              <a:gd name="adj" fmla="val 8000"/>
            </a:avLst>
          </a:prstGeom>
          <a:solidFill>
            <a:srgbClr val="111114"/>
          </a:solidFill>
          <a:ln w="9525">
            <a:solidFill>
              <a:srgbClr val="2B2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8" name="Connector 37"/>
          <p:cNvCxnSpPr/>
          <p:nvPr/>
        </p:nvCxnSpPr>
        <p:spPr>
          <a:xfrm>
            <a:off x="7543800" y="2286000"/>
            <a:ext cx="4087367" cy="0"/>
          </a:xfrm>
          <a:prstGeom prst="line">
            <a:avLst/>
          </a:prstGeom>
          <a:ln w="7620">
            <a:solidFill>
              <a:srgbClr val="2B2B33"/>
            </a:solidFill>
          </a:ln>
        </p:spPr>
        <p:style>
          <a:lnRef idx="2">
            <a:schemeClr val="accent1"/>
          </a:lnRef>
          <a:fillRef idx="0">
            <a:schemeClr val="accent1"/>
          </a:fillRef>
          <a:effectRef idx="1">
            <a:schemeClr val="accent1"/>
          </a:effectRef>
          <a:fontRef idx="minor">
            <a:schemeClr val="tx1"/>
          </a:fontRef>
        </p:style>
      </p:cxnSp>
      <p:sp>
        <p:nvSpPr>
          <p:cNvPr id="39" name="Oval 38"/>
          <p:cNvSpPr/>
          <p:nvPr/>
        </p:nvSpPr>
        <p:spPr>
          <a:xfrm>
            <a:off x="7699248" y="2075688"/>
            <a:ext cx="64008" cy="64008"/>
          </a:xfrm>
          <a:prstGeom prst="ellipse">
            <a:avLst/>
          </a:prstGeom>
          <a:solidFill>
            <a:srgbClr val="FB71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7845552" y="2075688"/>
            <a:ext cx="64008" cy="64008"/>
          </a:xfrm>
          <a:prstGeom prst="ellipse">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7991856" y="2075688"/>
            <a:ext cx="64008" cy="64008"/>
          </a:xfrm>
          <a:prstGeom prst="ellipse">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165592" y="2039112"/>
            <a:ext cx="2258568" cy="164592"/>
          </a:xfrm>
          <a:prstGeom prst="rect">
            <a:avLst/>
          </a:prstGeom>
          <a:noFill/>
        </p:spPr>
        <p:txBody>
          <a:bodyPr wrap="square" lIns="0" rIns="0" tIns="0" bIns="0" anchor="t">
            <a:spAutoFit/>
          </a:bodyPr>
          <a:lstStyle/>
          <a:p>
            <a:pPr algn="l">
              <a:lnSpc>
                <a:spcPct val="100000"/>
              </a:lnSpc>
              <a:defRPr sz="720" b="0">
                <a:solidFill>
                  <a:srgbClr val="71717A"/>
                </a:solidFill>
                <a:latin typeface="Liberation Mono"/>
              </a:defRPr>
            </a:pPr>
            <a:r>
              <a:t>product / transformation</a:t>
            </a:r>
          </a:p>
        </p:txBody>
      </p:sp>
      <p:sp>
        <p:nvSpPr>
          <p:cNvPr id="43" name="Rounded Rectangle 42"/>
          <p:cNvSpPr/>
          <p:nvPr/>
        </p:nvSpPr>
        <p:spPr>
          <a:xfrm>
            <a:off x="10305288" y="2007108"/>
            <a:ext cx="1143000" cy="210312"/>
          </a:xfrm>
          <a:prstGeom prst="roundRect">
            <a:avLst>
              <a:gd name="adj" fmla="val 8000"/>
            </a:avLst>
          </a:prstGeom>
          <a:solidFill>
            <a:srgbClr val="211B35"/>
          </a:solidFill>
          <a:ln w="7620">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341863" y="2016252"/>
            <a:ext cx="1069848" cy="192024"/>
          </a:xfrm>
          <a:prstGeom prst="rect">
            <a:avLst/>
          </a:prstGeom>
          <a:noFill/>
        </p:spPr>
        <p:txBody>
          <a:bodyPr wrap="square" lIns="0" rIns="0" tIns="0" bIns="0" anchor="ctr">
            <a:spAutoFit/>
          </a:bodyPr>
          <a:lstStyle/>
          <a:p>
            <a:pPr algn="ctr">
              <a:lnSpc>
                <a:spcPct val="100000"/>
              </a:lnSpc>
              <a:defRPr sz="620" b="1">
                <a:solidFill>
                  <a:srgbClr val="A78BFA"/>
                </a:solidFill>
                <a:latin typeface="Inter"/>
              </a:defRPr>
            </a:pPr>
            <a:r>
              <a:t>VISION</a:t>
            </a:r>
          </a:p>
        </p:txBody>
      </p:sp>
      <p:sp>
        <p:nvSpPr>
          <p:cNvPr id="45" name="Rounded Rectangle 44"/>
          <p:cNvSpPr/>
          <p:nvPr/>
        </p:nvSpPr>
        <p:spPr>
          <a:xfrm>
            <a:off x="7818120" y="2578608"/>
            <a:ext cx="1005840" cy="438912"/>
          </a:xfrm>
          <a:prstGeom prst="roundRect">
            <a:avLst>
              <a:gd name="adj" fmla="val 8000"/>
            </a:avLst>
          </a:prstGeom>
          <a:solidFill>
            <a:srgbClr val="202024"/>
          </a:solidFill>
          <a:ln w="9525">
            <a:solidFill>
              <a:srgbClr val="3838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818120" y="2578608"/>
            <a:ext cx="1005840" cy="438912"/>
          </a:xfrm>
          <a:prstGeom prst="rect">
            <a:avLst/>
          </a:prstGeom>
          <a:noFill/>
        </p:spPr>
        <p:txBody>
          <a:bodyPr wrap="square" lIns="0" rIns="0" tIns="0" bIns="0" anchor="ctr">
            <a:spAutoFit/>
          </a:bodyPr>
          <a:lstStyle/>
          <a:p>
            <a:pPr algn="ctr">
              <a:lnSpc>
                <a:spcPct val="100000"/>
              </a:lnSpc>
              <a:defRPr sz="700" b="1">
                <a:solidFill>
                  <a:srgbClr val="A1A1AA"/>
                </a:solidFill>
                <a:latin typeface="Inter"/>
              </a:defRPr>
            </a:pPr>
            <a:r>
              <a:t>MONOLITH</a:t>
            </a:r>
          </a:p>
        </p:txBody>
      </p:sp>
      <p:cxnSp>
        <p:nvCxnSpPr>
          <p:cNvPr id="47" name="Connector 46"/>
          <p:cNvCxnSpPr/>
          <p:nvPr/>
        </p:nvCxnSpPr>
        <p:spPr>
          <a:xfrm>
            <a:off x="8942832" y="2798064"/>
            <a:ext cx="292608" cy="0"/>
          </a:xfrm>
          <a:prstGeom prst="line">
            <a:avLst/>
          </a:prstGeom>
          <a:ln w="15240">
            <a:solidFill>
              <a:srgbClr val="8B5CF6"/>
            </a:solidFill>
          </a:ln>
        </p:spPr>
        <p:style>
          <a:lnRef idx="2">
            <a:schemeClr val="accent1"/>
          </a:lnRef>
          <a:fillRef idx="0">
            <a:schemeClr val="accent1"/>
          </a:fillRef>
          <a:effectRef idx="1">
            <a:schemeClr val="accent1"/>
          </a:effectRef>
          <a:fontRef idx="minor">
            <a:schemeClr val="tx1"/>
          </a:fontRef>
        </p:style>
      </p:cxnSp>
      <p:sp>
        <p:nvSpPr>
          <p:cNvPr id="48" name="Chevron 47"/>
          <p:cNvSpPr/>
          <p:nvPr/>
        </p:nvSpPr>
        <p:spPr>
          <a:xfrm>
            <a:off x="9189720" y="2715768"/>
            <a:ext cx="164592" cy="164592"/>
          </a:xfrm>
          <a:prstGeom prst="chevron">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9473184" y="2596896"/>
            <a:ext cx="402336" cy="402336"/>
          </a:xfrm>
          <a:prstGeom prst="roundRect">
            <a:avLst>
              <a:gd name="adj" fmla="val 8000"/>
            </a:avLst>
          </a:prstGeom>
          <a:solidFill>
            <a:srgbClr val="211B35"/>
          </a:solidFill>
          <a:ln w="7620">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473184" y="2596896"/>
            <a:ext cx="402336" cy="402336"/>
          </a:xfrm>
          <a:prstGeom prst="rect">
            <a:avLst/>
          </a:prstGeom>
          <a:noFill/>
        </p:spPr>
        <p:txBody>
          <a:bodyPr wrap="square" lIns="0" rIns="0" tIns="0" bIns="0" anchor="ctr">
            <a:spAutoFit/>
          </a:bodyPr>
          <a:lstStyle/>
          <a:p>
            <a:pPr algn="ctr">
              <a:lnSpc>
                <a:spcPct val="100000"/>
              </a:lnSpc>
              <a:defRPr sz="1000" b="1">
                <a:solidFill>
                  <a:srgbClr val="A78BFA"/>
                </a:solidFill>
                <a:latin typeface="Inter"/>
              </a:defRPr>
            </a:pPr>
            <a:r>
              <a:t>✓</a:t>
            </a:r>
          </a:p>
        </p:txBody>
      </p:sp>
      <p:cxnSp>
        <p:nvCxnSpPr>
          <p:cNvPr id="51" name="Connector 50"/>
          <p:cNvCxnSpPr/>
          <p:nvPr/>
        </p:nvCxnSpPr>
        <p:spPr>
          <a:xfrm>
            <a:off x="9985248" y="2798064"/>
            <a:ext cx="274320" cy="0"/>
          </a:xfrm>
          <a:prstGeom prst="line">
            <a:avLst/>
          </a:prstGeom>
          <a:ln w="15240">
            <a:solidFill>
              <a:srgbClr val="8B5CF6"/>
            </a:solidFill>
          </a:ln>
        </p:spPr>
        <p:style>
          <a:lnRef idx="2">
            <a:schemeClr val="accent1"/>
          </a:lnRef>
          <a:fillRef idx="0">
            <a:schemeClr val="accent1"/>
          </a:fillRef>
          <a:effectRef idx="1">
            <a:schemeClr val="accent1"/>
          </a:effectRef>
          <a:fontRef idx="minor">
            <a:schemeClr val="tx1"/>
          </a:fontRef>
        </p:style>
      </p:cxnSp>
      <p:sp>
        <p:nvSpPr>
          <p:cNvPr id="52" name="Chevron 51"/>
          <p:cNvSpPr/>
          <p:nvPr/>
        </p:nvSpPr>
        <p:spPr>
          <a:xfrm>
            <a:off x="10213848" y="2715768"/>
            <a:ext cx="164592" cy="164592"/>
          </a:xfrm>
          <a:prstGeom prst="chevron">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10497312" y="2505456"/>
            <a:ext cx="621792" cy="530352"/>
          </a:xfrm>
          <a:prstGeom prst="roundRect">
            <a:avLst>
              <a:gd name="adj" fmla="val 8000"/>
            </a:avLst>
          </a:prstGeom>
          <a:solidFill>
            <a:srgbClr val="211B35"/>
          </a:solidFill>
          <a:ln w="9525">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10789920" y="2624328"/>
            <a:ext cx="621792" cy="530352"/>
          </a:xfrm>
          <a:prstGeom prst="roundRect">
            <a:avLst>
              <a:gd name="adj" fmla="val 8000"/>
            </a:avLst>
          </a:prstGeom>
          <a:solidFill>
            <a:srgbClr val="211B35"/>
          </a:solidFill>
          <a:ln w="9525">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11082528" y="2743200"/>
            <a:ext cx="621792" cy="530352"/>
          </a:xfrm>
          <a:prstGeom prst="roundRect">
            <a:avLst>
              <a:gd name="adj" fmla="val 8000"/>
            </a:avLst>
          </a:prstGeom>
          <a:solidFill>
            <a:srgbClr val="211B35"/>
          </a:solidFill>
          <a:ln w="9525">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561320" y="3136392"/>
            <a:ext cx="777240" cy="164592"/>
          </a:xfrm>
          <a:prstGeom prst="rect">
            <a:avLst/>
          </a:prstGeom>
          <a:noFill/>
        </p:spPr>
        <p:txBody>
          <a:bodyPr wrap="square" lIns="0" rIns="0" tIns="0" bIns="0" anchor="t">
            <a:spAutoFit/>
          </a:bodyPr>
          <a:lstStyle/>
          <a:p>
            <a:pPr algn="l">
              <a:lnSpc>
                <a:spcPct val="100000"/>
              </a:lnSpc>
              <a:defRPr sz="650" b="1">
                <a:solidFill>
                  <a:srgbClr val="A78BFA"/>
                </a:solidFill>
                <a:latin typeface="Inter"/>
              </a:defRPr>
            </a:pPr>
            <a:r>
              <a:t>SERVICES</a:t>
            </a:r>
          </a:p>
        </p:txBody>
      </p:sp>
      <p:sp>
        <p:nvSpPr>
          <p:cNvPr id="57" name="TextBox 56"/>
          <p:cNvSpPr txBox="1"/>
          <p:nvPr/>
        </p:nvSpPr>
        <p:spPr>
          <a:xfrm>
            <a:off x="594360" y="3867912"/>
            <a:ext cx="5303520" cy="201168"/>
          </a:xfrm>
          <a:prstGeom prst="rect">
            <a:avLst/>
          </a:prstGeom>
          <a:noFill/>
        </p:spPr>
        <p:txBody>
          <a:bodyPr wrap="square" lIns="0" rIns="0" tIns="0" bIns="0" anchor="t">
            <a:spAutoFit/>
          </a:bodyPr>
          <a:lstStyle/>
          <a:p>
            <a:pPr algn="l">
              <a:lnSpc>
                <a:spcPct val="100000"/>
              </a:lnSpc>
              <a:defRPr sz="700" b="1">
                <a:solidFill>
                  <a:srgbClr val="71717A"/>
                </a:solidFill>
                <a:latin typeface="Inter"/>
              </a:defRPr>
            </a:pPr>
            <a:r>
              <a:t>REALISTIC PHASED ROADMAP • CURRENT REPOSITORY IS A UI PROTOTYPE</a:t>
            </a:r>
          </a:p>
        </p:txBody>
      </p:sp>
      <p:sp>
        <p:nvSpPr>
          <p:cNvPr id="58" name="Rounded Rectangle 57"/>
          <p:cNvSpPr/>
          <p:nvPr/>
        </p:nvSpPr>
        <p:spPr>
          <a:xfrm>
            <a:off x="548640" y="4187952"/>
            <a:ext cx="2578608" cy="1325880"/>
          </a:xfrm>
          <a:prstGeom prst="roundRect">
            <a:avLst>
              <a:gd name="adj" fmla="val 8000"/>
            </a:avLst>
          </a:prstGeom>
          <a:solidFill>
            <a:srgbClr val="18181B"/>
          </a:solidFill>
          <a:ln w="9525">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13232" y="4370832"/>
            <a:ext cx="777240" cy="201168"/>
          </a:xfrm>
          <a:prstGeom prst="rect">
            <a:avLst/>
          </a:prstGeom>
          <a:noFill/>
        </p:spPr>
        <p:txBody>
          <a:bodyPr wrap="square" lIns="0" rIns="0" tIns="0" bIns="0" anchor="t">
            <a:spAutoFit/>
          </a:bodyPr>
          <a:lstStyle/>
          <a:p>
            <a:pPr algn="l">
              <a:lnSpc>
                <a:spcPct val="100000"/>
              </a:lnSpc>
              <a:defRPr sz="650" b="1">
                <a:solidFill>
                  <a:srgbClr val="A78BFA"/>
                </a:solidFill>
                <a:latin typeface="Inter"/>
              </a:defRPr>
            </a:pPr>
            <a:r>
              <a:t>PHASE 1</a:t>
            </a:r>
          </a:p>
        </p:txBody>
      </p:sp>
      <p:sp>
        <p:nvSpPr>
          <p:cNvPr id="60" name="Rounded Rectangle 59"/>
          <p:cNvSpPr/>
          <p:nvPr/>
        </p:nvSpPr>
        <p:spPr>
          <a:xfrm>
            <a:off x="1938528" y="4315968"/>
            <a:ext cx="987552" cy="219456"/>
          </a:xfrm>
          <a:prstGeom prst="roundRect">
            <a:avLst>
              <a:gd name="adj" fmla="val 8000"/>
            </a:avLst>
          </a:prstGeom>
          <a:solidFill>
            <a:srgbClr val="211B35"/>
          </a:solidFill>
          <a:ln w="7620">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975104" y="4325112"/>
            <a:ext cx="914400" cy="201168"/>
          </a:xfrm>
          <a:prstGeom prst="rect">
            <a:avLst/>
          </a:prstGeom>
          <a:noFill/>
        </p:spPr>
        <p:txBody>
          <a:bodyPr wrap="square" lIns="0" rIns="0" tIns="0" bIns="0" anchor="ctr">
            <a:spAutoFit/>
          </a:bodyPr>
          <a:lstStyle/>
          <a:p>
            <a:pPr algn="ctr">
              <a:lnSpc>
                <a:spcPct val="100000"/>
              </a:lnSpc>
              <a:defRPr sz="560" b="1">
                <a:solidFill>
                  <a:srgbClr val="A78BFA"/>
                </a:solidFill>
                <a:latin typeface="Inter"/>
              </a:defRPr>
            </a:pPr>
            <a:r>
              <a:t>CURRENT FOCUS</a:t>
            </a:r>
          </a:p>
        </p:txBody>
      </p:sp>
      <p:sp>
        <p:nvSpPr>
          <p:cNvPr id="62" name="TextBox 61"/>
          <p:cNvSpPr txBox="1"/>
          <p:nvPr/>
        </p:nvSpPr>
        <p:spPr>
          <a:xfrm>
            <a:off x="713232" y="4709160"/>
            <a:ext cx="2194560" cy="210312"/>
          </a:xfrm>
          <a:prstGeom prst="rect">
            <a:avLst/>
          </a:prstGeom>
          <a:noFill/>
        </p:spPr>
        <p:txBody>
          <a:bodyPr wrap="square" lIns="0" rIns="0" tIns="0" bIns="0" anchor="t">
            <a:spAutoFit/>
          </a:bodyPr>
          <a:lstStyle/>
          <a:p>
            <a:pPr algn="l">
              <a:lnSpc>
                <a:spcPct val="100000"/>
              </a:lnSpc>
              <a:defRPr sz="930" b="1">
                <a:solidFill>
                  <a:srgbClr val="FAFAFA"/>
                </a:solidFill>
                <a:latin typeface="Inter"/>
              </a:defRPr>
            </a:pPr>
            <a:r>
              <a:t>WORKING MVP</a:t>
            </a:r>
          </a:p>
        </p:txBody>
      </p:sp>
      <p:sp>
        <p:nvSpPr>
          <p:cNvPr id="63" name="TextBox 62"/>
          <p:cNvSpPr txBox="1"/>
          <p:nvPr/>
        </p:nvSpPr>
        <p:spPr>
          <a:xfrm>
            <a:off x="713232" y="5001768"/>
            <a:ext cx="2176272" cy="393192"/>
          </a:xfrm>
          <a:prstGeom prst="rect">
            <a:avLst/>
          </a:prstGeom>
          <a:noFill/>
        </p:spPr>
        <p:txBody>
          <a:bodyPr wrap="square" lIns="0" rIns="0" tIns="0" bIns="0" anchor="t">
            <a:spAutoFit/>
          </a:bodyPr>
          <a:lstStyle/>
          <a:p>
            <a:pPr algn="l">
              <a:lnSpc>
                <a:spcPct val="100000"/>
              </a:lnSpc>
              <a:defRPr sz="760" b="0">
                <a:solidFill>
                  <a:srgbClr val="A1A1AA"/>
                </a:solidFill>
                <a:latin typeface="Inter"/>
              </a:defRPr>
            </a:pPr>
            <a:r>
              <a:t>Code ingestion, source analysis, dependency visualization, and evidence-backed explanations.</a:t>
            </a:r>
          </a:p>
        </p:txBody>
      </p:sp>
      <p:sp>
        <p:nvSpPr>
          <p:cNvPr id="64" name="Rounded Rectangle 63"/>
          <p:cNvSpPr/>
          <p:nvPr/>
        </p:nvSpPr>
        <p:spPr>
          <a:xfrm>
            <a:off x="3355848" y="4187952"/>
            <a:ext cx="2578608" cy="1325880"/>
          </a:xfrm>
          <a:prstGeom prst="roundRect">
            <a:avLst>
              <a:gd name="adj" fmla="val 8000"/>
            </a:avLst>
          </a:prstGeom>
          <a:solidFill>
            <a:srgbClr val="18181B"/>
          </a:solidFill>
          <a:ln w="9525">
            <a:solidFill>
              <a:srgbClr val="2B2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520440" y="4370832"/>
            <a:ext cx="777240" cy="201168"/>
          </a:xfrm>
          <a:prstGeom prst="rect">
            <a:avLst/>
          </a:prstGeom>
          <a:noFill/>
        </p:spPr>
        <p:txBody>
          <a:bodyPr wrap="square" lIns="0" rIns="0" tIns="0" bIns="0" anchor="t">
            <a:spAutoFit/>
          </a:bodyPr>
          <a:lstStyle/>
          <a:p>
            <a:pPr algn="l">
              <a:lnSpc>
                <a:spcPct val="100000"/>
              </a:lnSpc>
              <a:defRPr sz="650" b="1">
                <a:solidFill>
                  <a:srgbClr val="A78BFA"/>
                </a:solidFill>
                <a:latin typeface="Inter"/>
              </a:defRPr>
            </a:pPr>
            <a:r>
              <a:t>PHASE 2</a:t>
            </a:r>
          </a:p>
        </p:txBody>
      </p:sp>
      <p:sp>
        <p:nvSpPr>
          <p:cNvPr id="66" name="Rounded Rectangle 65"/>
          <p:cNvSpPr/>
          <p:nvPr/>
        </p:nvSpPr>
        <p:spPr>
          <a:xfrm>
            <a:off x="4745736" y="4315968"/>
            <a:ext cx="987552" cy="219456"/>
          </a:xfrm>
          <a:prstGeom prst="roundRect">
            <a:avLst>
              <a:gd name="adj" fmla="val 8000"/>
            </a:avLst>
          </a:prstGeom>
          <a:solidFill>
            <a:srgbClr val="202024"/>
          </a:solidFill>
          <a:ln w="7620">
            <a:solidFill>
              <a:srgbClr val="3838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782312" y="4325112"/>
            <a:ext cx="914400" cy="201168"/>
          </a:xfrm>
          <a:prstGeom prst="rect">
            <a:avLst/>
          </a:prstGeom>
          <a:noFill/>
        </p:spPr>
        <p:txBody>
          <a:bodyPr wrap="square" lIns="0" rIns="0" tIns="0" bIns="0" anchor="ctr">
            <a:spAutoFit/>
          </a:bodyPr>
          <a:lstStyle/>
          <a:p>
            <a:pPr algn="ctr">
              <a:lnSpc>
                <a:spcPct val="100000"/>
              </a:lnSpc>
              <a:defRPr sz="560" b="1">
                <a:solidFill>
                  <a:srgbClr val="A1A1AA"/>
                </a:solidFill>
                <a:latin typeface="Inter"/>
              </a:defRPr>
            </a:pPr>
            <a:r>
              <a:t>NEXT</a:t>
            </a:r>
          </a:p>
        </p:txBody>
      </p:sp>
      <p:sp>
        <p:nvSpPr>
          <p:cNvPr id="68" name="TextBox 67"/>
          <p:cNvSpPr txBox="1"/>
          <p:nvPr/>
        </p:nvSpPr>
        <p:spPr>
          <a:xfrm>
            <a:off x="3520440" y="4709160"/>
            <a:ext cx="2194560" cy="210312"/>
          </a:xfrm>
          <a:prstGeom prst="rect">
            <a:avLst/>
          </a:prstGeom>
          <a:noFill/>
        </p:spPr>
        <p:txBody>
          <a:bodyPr wrap="square" lIns="0" rIns="0" tIns="0" bIns="0" anchor="t">
            <a:spAutoFit/>
          </a:bodyPr>
          <a:lstStyle/>
          <a:p>
            <a:pPr algn="l">
              <a:lnSpc>
                <a:spcPct val="100000"/>
              </a:lnSpc>
              <a:defRPr sz="930" b="1">
                <a:solidFill>
                  <a:srgbClr val="FAFAFA"/>
                </a:solidFill>
                <a:latin typeface="Inter"/>
              </a:defRPr>
            </a:pPr>
            <a:r>
              <a:t>INTELLIGENT MIGRATION</a:t>
            </a:r>
          </a:p>
        </p:txBody>
      </p:sp>
      <p:sp>
        <p:nvSpPr>
          <p:cNvPr id="69" name="TextBox 68"/>
          <p:cNvSpPr txBox="1"/>
          <p:nvPr/>
        </p:nvSpPr>
        <p:spPr>
          <a:xfrm>
            <a:off x="3520440" y="5001768"/>
            <a:ext cx="2176272" cy="393192"/>
          </a:xfrm>
          <a:prstGeom prst="rect">
            <a:avLst/>
          </a:prstGeom>
          <a:noFill/>
        </p:spPr>
        <p:txBody>
          <a:bodyPr wrap="square" lIns="0" rIns="0" tIns="0" bIns="0" anchor="t">
            <a:spAutoFit/>
          </a:bodyPr>
          <a:lstStyle/>
          <a:p>
            <a:pPr algn="l">
              <a:lnSpc>
                <a:spcPct val="100000"/>
              </a:lnSpc>
              <a:defRPr sz="760" b="0">
                <a:solidFill>
                  <a:srgbClr val="A1A1AA"/>
                </a:solidFill>
                <a:latin typeface="Inter"/>
              </a:defRPr>
            </a:pPr>
            <a:r>
              <a:t>Editable boundaries, migration plans, and service scaffold generation.</a:t>
            </a:r>
          </a:p>
        </p:txBody>
      </p:sp>
      <p:sp>
        <p:nvSpPr>
          <p:cNvPr id="70" name="Rounded Rectangle 69"/>
          <p:cNvSpPr/>
          <p:nvPr/>
        </p:nvSpPr>
        <p:spPr>
          <a:xfrm>
            <a:off x="6163055" y="4187952"/>
            <a:ext cx="2578608" cy="1325880"/>
          </a:xfrm>
          <a:prstGeom prst="roundRect">
            <a:avLst>
              <a:gd name="adj" fmla="val 8000"/>
            </a:avLst>
          </a:prstGeom>
          <a:solidFill>
            <a:srgbClr val="18181B"/>
          </a:solidFill>
          <a:ln w="9525">
            <a:solidFill>
              <a:srgbClr val="2B2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327647" y="4370832"/>
            <a:ext cx="777240" cy="201168"/>
          </a:xfrm>
          <a:prstGeom prst="rect">
            <a:avLst/>
          </a:prstGeom>
          <a:noFill/>
        </p:spPr>
        <p:txBody>
          <a:bodyPr wrap="square" lIns="0" rIns="0" tIns="0" bIns="0" anchor="t">
            <a:spAutoFit/>
          </a:bodyPr>
          <a:lstStyle/>
          <a:p>
            <a:pPr algn="l">
              <a:lnSpc>
                <a:spcPct val="100000"/>
              </a:lnSpc>
              <a:defRPr sz="650" b="1">
                <a:solidFill>
                  <a:srgbClr val="A78BFA"/>
                </a:solidFill>
                <a:latin typeface="Inter"/>
              </a:defRPr>
            </a:pPr>
            <a:r>
              <a:t>PHASE 3</a:t>
            </a:r>
          </a:p>
        </p:txBody>
      </p:sp>
      <p:sp>
        <p:nvSpPr>
          <p:cNvPr id="72" name="Rounded Rectangle 71"/>
          <p:cNvSpPr/>
          <p:nvPr/>
        </p:nvSpPr>
        <p:spPr>
          <a:xfrm>
            <a:off x="7552944" y="4315968"/>
            <a:ext cx="987552" cy="219456"/>
          </a:xfrm>
          <a:prstGeom prst="roundRect">
            <a:avLst>
              <a:gd name="adj" fmla="val 8000"/>
            </a:avLst>
          </a:prstGeom>
          <a:solidFill>
            <a:srgbClr val="202024"/>
          </a:solidFill>
          <a:ln w="7620">
            <a:solidFill>
              <a:srgbClr val="3838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589519" y="4325112"/>
            <a:ext cx="914400" cy="201168"/>
          </a:xfrm>
          <a:prstGeom prst="rect">
            <a:avLst/>
          </a:prstGeom>
          <a:noFill/>
        </p:spPr>
        <p:txBody>
          <a:bodyPr wrap="square" lIns="0" rIns="0" tIns="0" bIns="0" anchor="ctr">
            <a:spAutoFit/>
          </a:bodyPr>
          <a:lstStyle/>
          <a:p>
            <a:pPr algn="ctr">
              <a:lnSpc>
                <a:spcPct val="100000"/>
              </a:lnSpc>
              <a:defRPr sz="560" b="1">
                <a:solidFill>
                  <a:srgbClr val="A1A1AA"/>
                </a:solidFill>
                <a:latin typeface="Inter"/>
              </a:defRPr>
            </a:pPr>
            <a:r>
              <a:t>PLANNED</a:t>
            </a:r>
          </a:p>
        </p:txBody>
      </p:sp>
      <p:sp>
        <p:nvSpPr>
          <p:cNvPr id="74" name="TextBox 73"/>
          <p:cNvSpPr txBox="1"/>
          <p:nvPr/>
        </p:nvSpPr>
        <p:spPr>
          <a:xfrm>
            <a:off x="6327647" y="4709160"/>
            <a:ext cx="2194560" cy="210312"/>
          </a:xfrm>
          <a:prstGeom prst="rect">
            <a:avLst/>
          </a:prstGeom>
          <a:noFill/>
        </p:spPr>
        <p:txBody>
          <a:bodyPr wrap="square" lIns="0" rIns="0" tIns="0" bIns="0" anchor="t">
            <a:spAutoFit/>
          </a:bodyPr>
          <a:lstStyle/>
          <a:p>
            <a:pPr algn="l">
              <a:lnSpc>
                <a:spcPct val="100000"/>
              </a:lnSpc>
              <a:defRPr sz="930" b="1">
                <a:solidFill>
                  <a:srgbClr val="FAFAFA"/>
                </a:solidFill>
                <a:latin typeface="Inter"/>
              </a:defRPr>
            </a:pPr>
            <a:r>
              <a:t>VALIDATION</a:t>
            </a:r>
          </a:p>
        </p:txBody>
      </p:sp>
      <p:sp>
        <p:nvSpPr>
          <p:cNvPr id="75" name="TextBox 74"/>
          <p:cNvSpPr txBox="1"/>
          <p:nvPr/>
        </p:nvSpPr>
        <p:spPr>
          <a:xfrm>
            <a:off x="6327647" y="5001768"/>
            <a:ext cx="2176272" cy="393192"/>
          </a:xfrm>
          <a:prstGeom prst="rect">
            <a:avLst/>
          </a:prstGeom>
          <a:noFill/>
        </p:spPr>
        <p:txBody>
          <a:bodyPr wrap="square" lIns="0" rIns="0" tIns="0" bIns="0" anchor="t">
            <a:spAutoFit/>
          </a:bodyPr>
          <a:lstStyle/>
          <a:p>
            <a:pPr algn="l">
              <a:lnSpc>
                <a:spcPct val="100000"/>
              </a:lnSpc>
              <a:defRPr sz="760" b="0">
                <a:solidFill>
                  <a:srgbClr val="A1A1AA"/>
                </a:solidFill>
                <a:latin typeface="Inter"/>
              </a:defRPr>
            </a:pPr>
            <a:r>
              <a:t>Drift detection, regression testing, and migration evidence reports.</a:t>
            </a:r>
          </a:p>
        </p:txBody>
      </p:sp>
      <p:sp>
        <p:nvSpPr>
          <p:cNvPr id="76" name="Rounded Rectangle 75"/>
          <p:cNvSpPr/>
          <p:nvPr/>
        </p:nvSpPr>
        <p:spPr>
          <a:xfrm>
            <a:off x="8970263" y="4187952"/>
            <a:ext cx="2578608" cy="1325880"/>
          </a:xfrm>
          <a:prstGeom prst="roundRect">
            <a:avLst>
              <a:gd name="adj" fmla="val 8000"/>
            </a:avLst>
          </a:prstGeom>
          <a:solidFill>
            <a:srgbClr val="18181B"/>
          </a:solidFill>
          <a:ln w="9525">
            <a:solidFill>
              <a:srgbClr val="2B2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9134855" y="4370832"/>
            <a:ext cx="777240" cy="201168"/>
          </a:xfrm>
          <a:prstGeom prst="rect">
            <a:avLst/>
          </a:prstGeom>
          <a:noFill/>
        </p:spPr>
        <p:txBody>
          <a:bodyPr wrap="square" lIns="0" rIns="0" tIns="0" bIns="0" anchor="t">
            <a:spAutoFit/>
          </a:bodyPr>
          <a:lstStyle/>
          <a:p>
            <a:pPr algn="l">
              <a:lnSpc>
                <a:spcPct val="100000"/>
              </a:lnSpc>
              <a:defRPr sz="650" b="1">
                <a:solidFill>
                  <a:srgbClr val="A78BFA"/>
                </a:solidFill>
                <a:latin typeface="Inter"/>
              </a:defRPr>
            </a:pPr>
            <a:r>
              <a:t>PHASE 4</a:t>
            </a:r>
          </a:p>
        </p:txBody>
      </p:sp>
      <p:sp>
        <p:nvSpPr>
          <p:cNvPr id="78" name="Rounded Rectangle 77"/>
          <p:cNvSpPr/>
          <p:nvPr/>
        </p:nvSpPr>
        <p:spPr>
          <a:xfrm>
            <a:off x="10360151" y="4315968"/>
            <a:ext cx="987552" cy="219456"/>
          </a:xfrm>
          <a:prstGeom prst="roundRect">
            <a:avLst>
              <a:gd name="adj" fmla="val 8000"/>
            </a:avLst>
          </a:prstGeom>
          <a:solidFill>
            <a:srgbClr val="202024"/>
          </a:solidFill>
          <a:ln w="7620">
            <a:solidFill>
              <a:srgbClr val="3838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10396727" y="4325112"/>
            <a:ext cx="914400" cy="201168"/>
          </a:xfrm>
          <a:prstGeom prst="rect">
            <a:avLst/>
          </a:prstGeom>
          <a:noFill/>
        </p:spPr>
        <p:txBody>
          <a:bodyPr wrap="square" lIns="0" rIns="0" tIns="0" bIns="0" anchor="ctr">
            <a:spAutoFit/>
          </a:bodyPr>
          <a:lstStyle/>
          <a:p>
            <a:pPr algn="ctr">
              <a:lnSpc>
                <a:spcPct val="100000"/>
              </a:lnSpc>
              <a:defRPr sz="560" b="1">
                <a:solidFill>
                  <a:srgbClr val="A1A1AA"/>
                </a:solidFill>
                <a:latin typeface="Inter"/>
              </a:defRPr>
            </a:pPr>
            <a:r>
              <a:t>PLANNED</a:t>
            </a:r>
          </a:p>
        </p:txBody>
      </p:sp>
      <p:sp>
        <p:nvSpPr>
          <p:cNvPr id="80" name="TextBox 79"/>
          <p:cNvSpPr txBox="1"/>
          <p:nvPr/>
        </p:nvSpPr>
        <p:spPr>
          <a:xfrm>
            <a:off x="9134855" y="4709160"/>
            <a:ext cx="2194560" cy="210312"/>
          </a:xfrm>
          <a:prstGeom prst="rect">
            <a:avLst/>
          </a:prstGeom>
          <a:noFill/>
        </p:spPr>
        <p:txBody>
          <a:bodyPr wrap="square" lIns="0" rIns="0" tIns="0" bIns="0" anchor="t">
            <a:spAutoFit/>
          </a:bodyPr>
          <a:lstStyle/>
          <a:p>
            <a:pPr algn="l">
              <a:lnSpc>
                <a:spcPct val="100000"/>
              </a:lnSpc>
              <a:defRPr sz="930" b="1">
                <a:solidFill>
                  <a:srgbClr val="FAFAFA"/>
                </a:solidFill>
                <a:latin typeface="Inter"/>
              </a:defRPr>
            </a:pPr>
            <a:r>
              <a:t>EXPANSION</a:t>
            </a:r>
          </a:p>
        </p:txBody>
      </p:sp>
      <p:sp>
        <p:nvSpPr>
          <p:cNvPr id="81" name="TextBox 80"/>
          <p:cNvSpPr txBox="1"/>
          <p:nvPr/>
        </p:nvSpPr>
        <p:spPr>
          <a:xfrm>
            <a:off x="9134855" y="5001768"/>
            <a:ext cx="2176272" cy="393192"/>
          </a:xfrm>
          <a:prstGeom prst="rect">
            <a:avLst/>
          </a:prstGeom>
          <a:noFill/>
        </p:spPr>
        <p:txBody>
          <a:bodyPr wrap="square" lIns="0" rIns="0" tIns="0" bIns="0" anchor="t">
            <a:spAutoFit/>
          </a:bodyPr>
          <a:lstStyle/>
          <a:p>
            <a:pPr algn="l">
              <a:lnSpc>
                <a:spcPct val="100000"/>
              </a:lnSpc>
              <a:defRPr sz="760" b="0">
                <a:solidFill>
                  <a:srgbClr val="A1A1AA"/>
                </a:solidFill>
                <a:latin typeface="Inter"/>
              </a:defRPr>
            </a:pPr>
            <a:r>
              <a:t>Broader languages, enterprise governance, and optional semantic retrieval.</a:t>
            </a:r>
          </a:p>
        </p:txBody>
      </p:sp>
      <p:sp>
        <p:nvSpPr>
          <p:cNvPr id="82" name="Rounded Rectangle 81"/>
          <p:cNvSpPr/>
          <p:nvPr/>
        </p:nvSpPr>
        <p:spPr>
          <a:xfrm>
            <a:off x="548640" y="5742432"/>
            <a:ext cx="11082528" cy="566928"/>
          </a:xfrm>
          <a:prstGeom prst="roundRect">
            <a:avLst>
              <a:gd name="adj" fmla="val 8000"/>
            </a:avLst>
          </a:prstGeom>
          <a:solidFill>
            <a:srgbClr val="211B35"/>
          </a:solidFill>
          <a:ln w="9525">
            <a:solidFill>
              <a:srgbClr val="31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777240" y="5870448"/>
            <a:ext cx="6629400" cy="292608"/>
          </a:xfrm>
          <a:prstGeom prst="rect">
            <a:avLst/>
          </a:prstGeom>
          <a:noFill/>
        </p:spPr>
        <p:txBody>
          <a:bodyPr wrap="square" lIns="0" rIns="0" tIns="0" bIns="0" anchor="t">
            <a:spAutoFit/>
          </a:bodyPr>
          <a:lstStyle/>
          <a:p>
            <a:pPr algn="l">
              <a:lnSpc>
                <a:spcPct val="100000"/>
              </a:lnSpc>
              <a:defRPr sz="1500" b="1">
                <a:solidFill>
                  <a:srgbClr val="FAFAFA"/>
                </a:solidFill>
                <a:latin typeface="Inter"/>
              </a:defRPr>
            </a:pPr>
            <a:r>
              <a:t>LegacyBridge — Understand Legacy. Build What's Next.</a:t>
            </a:r>
          </a:p>
        </p:txBody>
      </p:sp>
      <p:sp>
        <p:nvSpPr>
          <p:cNvPr id="84" name="TextBox 83"/>
          <p:cNvSpPr txBox="1"/>
          <p:nvPr/>
        </p:nvSpPr>
        <p:spPr>
          <a:xfrm>
            <a:off x="7406640" y="5952744"/>
            <a:ext cx="3886200" cy="164592"/>
          </a:xfrm>
          <a:prstGeom prst="rect">
            <a:avLst/>
          </a:prstGeom>
          <a:noFill/>
        </p:spPr>
        <p:txBody>
          <a:bodyPr wrap="square" lIns="0" rIns="0" tIns="0" bIns="0" anchor="t">
            <a:spAutoFit/>
          </a:bodyPr>
          <a:lstStyle/>
          <a:p>
            <a:pPr algn="r">
              <a:lnSpc>
                <a:spcPct val="100000"/>
              </a:lnSpc>
              <a:defRPr sz="620" b="0">
                <a:solidFill>
                  <a:srgbClr val="A1A1AA"/>
                </a:solidFill>
                <a:latin typeface="Inter"/>
              </a:defRPr>
            </a:pPr>
            <a:r>
              <a:t>TEAM [Team name]  •  HACKATHON [Event]  •  MEMBERS [Names]  •  INSTITUTION [Institution]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LegacyBridge — AI-Powered Legacy Software Modernization</dc:title>
  <dc:subject>10-slide hackathon pitch deck with proposed architecture and illustrative demonstration plan</dc:subject>
  <dc:creator>LegacyBridge — [Team name]</dc:creator>
  <cp:keywords>legacy modernization, microservices, business logic drift, TinyFish, hackathon</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